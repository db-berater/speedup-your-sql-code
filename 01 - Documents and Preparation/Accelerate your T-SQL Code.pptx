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1" r:id="rId2"/>
  </p:sldMasterIdLst>
  <p:notesMasterIdLst>
    <p:notesMasterId r:id="rId43"/>
  </p:notesMasterIdLst>
  <p:sldIdLst>
    <p:sldId id="334" r:id="rId3"/>
    <p:sldId id="260" r:id="rId4"/>
    <p:sldId id="421" r:id="rId5"/>
    <p:sldId id="422" r:id="rId6"/>
    <p:sldId id="423" r:id="rId7"/>
    <p:sldId id="297" r:id="rId8"/>
    <p:sldId id="349" r:id="rId9"/>
    <p:sldId id="256" r:id="rId10"/>
    <p:sldId id="336" r:id="rId11"/>
    <p:sldId id="337" r:id="rId12"/>
    <p:sldId id="431" r:id="rId13"/>
    <p:sldId id="338" r:id="rId14"/>
    <p:sldId id="342" r:id="rId15"/>
    <p:sldId id="339" r:id="rId16"/>
    <p:sldId id="340" r:id="rId17"/>
    <p:sldId id="341" r:id="rId18"/>
    <p:sldId id="343" r:id="rId19"/>
    <p:sldId id="344" r:id="rId20"/>
    <p:sldId id="350" r:id="rId21"/>
    <p:sldId id="345" r:id="rId22"/>
    <p:sldId id="346" r:id="rId23"/>
    <p:sldId id="347" r:id="rId24"/>
    <p:sldId id="390" r:id="rId25"/>
    <p:sldId id="351" r:id="rId26"/>
    <p:sldId id="352" r:id="rId27"/>
    <p:sldId id="353" r:id="rId28"/>
    <p:sldId id="355" r:id="rId29"/>
    <p:sldId id="354" r:id="rId30"/>
    <p:sldId id="356" r:id="rId31"/>
    <p:sldId id="357" r:id="rId32"/>
    <p:sldId id="358" r:id="rId33"/>
    <p:sldId id="392" r:id="rId34"/>
    <p:sldId id="359" r:id="rId35"/>
    <p:sldId id="388" r:id="rId36"/>
    <p:sldId id="389" r:id="rId37"/>
    <p:sldId id="387" r:id="rId38"/>
    <p:sldId id="391" r:id="rId39"/>
    <p:sldId id="393" r:id="rId40"/>
    <p:sldId id="430" r:id="rId41"/>
    <p:sldId id="261" r:id="rId42"/>
  </p:sldIdLst>
  <p:sldSz cx="12192000" cy="6858000"/>
  <p:notesSz cx="6858000" cy="9144000"/>
  <p:defaultText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A5CE1A-760E-4FE6-9DA0-4AA372CE281A}" v="3" dt="2026-09-21T12:11:28.64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7" autoAdjust="0"/>
    <p:restoredTop sz="94643" autoAdjust="0"/>
  </p:normalViewPr>
  <p:slideViewPr>
    <p:cSldViewPr snapToGrid="0">
      <p:cViewPr varScale="1">
        <p:scale>
          <a:sx n="82" d="100"/>
          <a:sy n="82" d="100"/>
        </p:scale>
        <p:origin x="384" y="55"/>
      </p:cViewPr>
      <p:guideLst/>
    </p:cSldViewPr>
  </p:slideViewPr>
  <p:outlineViewPr>
    <p:cViewPr>
      <p:scale>
        <a:sx n="33" d="100"/>
        <a:sy n="33" d="100"/>
      </p:scale>
      <p:origin x="0" y="-4371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we Ricken" userId="f02567aecbed924b" providerId="LiveId" clId="{E77B627B-1F43-41A9-9F24-D4BB31BF6050}"/>
    <pc:docChg chg="undo custSel addSld delSld modSld">
      <pc:chgData name="Uwe Ricken" userId="f02567aecbed924b" providerId="LiveId" clId="{E77B627B-1F43-41A9-9F24-D4BB31BF6050}" dt="2026-09-21T15:20:02.014" v="1201" actId="20577"/>
      <pc:docMkLst>
        <pc:docMk/>
      </pc:docMkLst>
      <pc:sldChg chg="modSp mod">
        <pc:chgData name="Uwe Ricken" userId="f02567aecbed924b" providerId="LiveId" clId="{E77B627B-1F43-41A9-9F24-D4BB31BF6050}" dt="2026-09-21T07:57:24.855" v="983" actId="20577"/>
        <pc:sldMkLst>
          <pc:docMk/>
          <pc:sldMk cId="1275382174" sldId="346"/>
        </pc:sldMkLst>
        <pc:spChg chg="mod">
          <ac:chgData name="Uwe Ricken" userId="f02567aecbed924b" providerId="LiveId" clId="{E77B627B-1F43-41A9-9F24-D4BB31BF6050}" dt="2026-09-21T07:57:24.855" v="983" actId="20577"/>
          <ac:spMkLst>
            <pc:docMk/>
            <pc:sldMk cId="1275382174" sldId="346"/>
            <ac:spMk id="3" creationId="{3A8154F0-962D-21DD-4A9F-7CFF4A489FD1}"/>
          </ac:spMkLst>
        </pc:spChg>
      </pc:sldChg>
      <pc:sldChg chg="modSp mod">
        <pc:chgData name="Uwe Ricken" userId="f02567aecbed924b" providerId="LiveId" clId="{E77B627B-1F43-41A9-9F24-D4BB31BF6050}" dt="2026-09-21T08:48:24.240" v="987" actId="20577"/>
        <pc:sldMkLst>
          <pc:docMk/>
          <pc:sldMk cId="4257262995" sldId="353"/>
        </pc:sldMkLst>
        <pc:spChg chg="mod">
          <ac:chgData name="Uwe Ricken" userId="f02567aecbed924b" providerId="LiveId" clId="{E77B627B-1F43-41A9-9F24-D4BB31BF6050}" dt="2026-09-21T08:48:24.240" v="987" actId="20577"/>
          <ac:spMkLst>
            <pc:docMk/>
            <pc:sldMk cId="4257262995" sldId="353"/>
            <ac:spMk id="3" creationId="{11457BA8-2A88-3CC3-2BE1-F8EB62F45485}"/>
          </ac:spMkLst>
        </pc:spChg>
      </pc:sldChg>
      <pc:sldChg chg="modSp mod">
        <pc:chgData name="Uwe Ricken" userId="f02567aecbed924b" providerId="LiveId" clId="{E77B627B-1F43-41A9-9F24-D4BB31BF6050}" dt="2026-09-21T11:01:06.229" v="1017" actId="20577"/>
        <pc:sldMkLst>
          <pc:docMk/>
          <pc:sldMk cId="1962351292" sldId="354"/>
        </pc:sldMkLst>
        <pc:spChg chg="mod">
          <ac:chgData name="Uwe Ricken" userId="f02567aecbed924b" providerId="LiveId" clId="{E77B627B-1F43-41A9-9F24-D4BB31BF6050}" dt="2026-09-21T11:01:06.229" v="1017" actId="20577"/>
          <ac:spMkLst>
            <pc:docMk/>
            <pc:sldMk cId="1962351292" sldId="354"/>
            <ac:spMk id="3" creationId="{5C8F06CD-AD14-C7A2-6EF4-9CFDE74DFCE9}"/>
          </ac:spMkLst>
        </pc:spChg>
      </pc:sldChg>
      <pc:sldChg chg="modSp mod">
        <pc:chgData name="Uwe Ricken" userId="f02567aecbed924b" providerId="LiveId" clId="{E77B627B-1F43-41A9-9F24-D4BB31BF6050}" dt="2026-09-21T12:10:44.881" v="1047" actId="20577"/>
        <pc:sldMkLst>
          <pc:docMk/>
          <pc:sldMk cId="3871746749" sldId="357"/>
        </pc:sldMkLst>
        <pc:spChg chg="mod">
          <ac:chgData name="Uwe Ricken" userId="f02567aecbed924b" providerId="LiveId" clId="{E77B627B-1F43-41A9-9F24-D4BB31BF6050}" dt="2026-09-21T12:10:44.881" v="1047" actId="20577"/>
          <ac:spMkLst>
            <pc:docMk/>
            <pc:sldMk cId="3871746749" sldId="357"/>
            <ac:spMk id="5" creationId="{689B48F3-0D30-D9A3-9590-0A7145158651}"/>
          </ac:spMkLst>
        </pc:spChg>
      </pc:sldChg>
      <pc:sldChg chg="modSp mod">
        <pc:chgData name="Uwe Ricken" userId="f02567aecbed924b" providerId="LiveId" clId="{E77B627B-1F43-41A9-9F24-D4BB31BF6050}" dt="2026-09-21T15:19:10.574" v="1089" actId="20577"/>
        <pc:sldMkLst>
          <pc:docMk/>
          <pc:sldMk cId="3891852174" sldId="388"/>
        </pc:sldMkLst>
        <pc:spChg chg="mod">
          <ac:chgData name="Uwe Ricken" userId="f02567aecbed924b" providerId="LiveId" clId="{E77B627B-1F43-41A9-9F24-D4BB31BF6050}" dt="2026-09-21T15:19:10.574" v="1089" actId="20577"/>
          <ac:spMkLst>
            <pc:docMk/>
            <pc:sldMk cId="3891852174" sldId="388"/>
            <ac:spMk id="5" creationId="{BFA39534-FBA4-0E59-40BD-47079A6B5866}"/>
          </ac:spMkLst>
        </pc:spChg>
      </pc:sldChg>
      <pc:sldChg chg="modSp mod">
        <pc:chgData name="Uwe Ricken" userId="f02567aecbed924b" providerId="LiveId" clId="{E77B627B-1F43-41A9-9F24-D4BB31BF6050}" dt="2026-09-21T12:11:55.816" v="1080" actId="20577"/>
        <pc:sldMkLst>
          <pc:docMk/>
          <pc:sldMk cId="2669480126" sldId="392"/>
        </pc:sldMkLst>
        <pc:spChg chg="mod">
          <ac:chgData name="Uwe Ricken" userId="f02567aecbed924b" providerId="LiveId" clId="{E77B627B-1F43-41A9-9F24-D4BB31BF6050}" dt="2026-09-21T12:11:55.816" v="1080" actId="20577"/>
          <ac:spMkLst>
            <pc:docMk/>
            <pc:sldMk cId="2669480126" sldId="392"/>
            <ac:spMk id="3" creationId="{ED40C9EC-951A-8100-AD1B-EB8F8E41094F}"/>
          </ac:spMkLst>
        </pc:spChg>
      </pc:sldChg>
      <pc:sldChg chg="modSp mod">
        <pc:chgData name="Uwe Ricken" userId="f02567aecbed924b" providerId="LiveId" clId="{E77B627B-1F43-41A9-9F24-D4BB31BF6050}" dt="2026-09-21T15:20:02.014" v="1201" actId="20577"/>
        <pc:sldMkLst>
          <pc:docMk/>
          <pc:sldMk cId="71853060" sldId="393"/>
        </pc:sldMkLst>
        <pc:spChg chg="mod">
          <ac:chgData name="Uwe Ricken" userId="f02567aecbed924b" providerId="LiveId" clId="{E77B627B-1F43-41A9-9F24-D4BB31BF6050}" dt="2026-09-21T15:20:02.014" v="1201" actId="20577"/>
          <ac:spMkLst>
            <pc:docMk/>
            <pc:sldMk cId="71853060" sldId="393"/>
            <ac:spMk id="4" creationId="{29E9247A-0494-7C3B-171F-710B40AFE029}"/>
          </ac:spMkLst>
        </pc:spChg>
      </pc:sldChg>
      <pc:sldChg chg="addSp delSp modSp new mod modClrScheme chgLayout">
        <pc:chgData name="Uwe Ricken" userId="f02567aecbed924b" providerId="LiveId" clId="{E77B627B-1F43-41A9-9F24-D4BB31BF6050}" dt="2026-09-21T07:00:57.275" v="752" actId="20577"/>
        <pc:sldMkLst>
          <pc:docMk/>
          <pc:sldMk cId="542850919" sldId="431"/>
        </pc:sldMkLst>
        <pc:spChg chg="del mod ord">
          <ac:chgData name="Uwe Ricken" userId="f02567aecbed924b" providerId="LiveId" clId="{E77B627B-1F43-41A9-9F24-D4BB31BF6050}" dt="2026-09-21T06:59:22.667" v="726" actId="700"/>
          <ac:spMkLst>
            <pc:docMk/>
            <pc:sldMk cId="542850919" sldId="431"/>
            <ac:spMk id="2" creationId="{67E19BAA-3FB4-064E-C1A1-C1EBAD9A8C41}"/>
          </ac:spMkLst>
        </pc:spChg>
        <pc:spChg chg="del mod ord">
          <ac:chgData name="Uwe Ricken" userId="f02567aecbed924b" providerId="LiveId" clId="{E77B627B-1F43-41A9-9F24-D4BB31BF6050}" dt="2026-09-21T06:59:22.667" v="726" actId="700"/>
          <ac:spMkLst>
            <pc:docMk/>
            <pc:sldMk cId="542850919" sldId="431"/>
            <ac:spMk id="3" creationId="{534DC174-79A5-9666-021D-622EB97074E2}"/>
          </ac:spMkLst>
        </pc:spChg>
        <pc:spChg chg="add mod ord">
          <ac:chgData name="Uwe Ricken" userId="f02567aecbed924b" providerId="LiveId" clId="{E77B627B-1F43-41A9-9F24-D4BB31BF6050}" dt="2026-09-21T06:59:28.416" v="750" actId="20577"/>
          <ac:spMkLst>
            <pc:docMk/>
            <pc:sldMk cId="542850919" sldId="431"/>
            <ac:spMk id="4" creationId="{A5EF6EA5-108D-9347-5C58-BB99DC3C7928}"/>
          </ac:spMkLst>
        </pc:spChg>
        <pc:spChg chg="add mod ord">
          <ac:chgData name="Uwe Ricken" userId="f02567aecbed924b" providerId="LiveId" clId="{E77B627B-1F43-41A9-9F24-D4BB31BF6050}" dt="2026-09-21T07:00:57.275" v="752" actId="20577"/>
          <ac:spMkLst>
            <pc:docMk/>
            <pc:sldMk cId="542850919" sldId="431"/>
            <ac:spMk id="5" creationId="{DD464124-FF31-3B4B-1D83-054518A9DD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B63C78-F46A-42B2-BCDE-B4D920D39058}" type="datetimeFigureOut">
              <a:rPr lang="de-DE" smtClean="0"/>
              <a:t>24.09.2026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D5F965-EADC-41B6-9D17-C184A12BE1F0}" type="slidenum">
              <a:rPr lang="de-DE" smtClean="0"/>
              <a:t>‹Nr.›</a:t>
            </a:fld>
            <a:endParaRPr lang="de-DE"/>
          </a:p>
        </p:txBody>
      </p:sp>
    </p:spTree>
    <p:extLst>
      <p:ext uri="{BB962C8B-B14F-4D97-AF65-F5344CB8AC3E}">
        <p14:creationId xmlns:p14="http://schemas.microsoft.com/office/powerpoint/2010/main" val="3440449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4F3F98B-DCFC-47FF-B222-63D8297F3274}" type="slidenum">
              <a:rPr lang="de-DE" smtClean="0"/>
              <a:t>1</a:t>
            </a:fld>
            <a:endParaRPr lang="de-DE"/>
          </a:p>
        </p:txBody>
      </p:sp>
    </p:spTree>
    <p:extLst>
      <p:ext uri="{BB962C8B-B14F-4D97-AF65-F5344CB8AC3E}">
        <p14:creationId xmlns:p14="http://schemas.microsoft.com/office/powerpoint/2010/main" val="353416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344245" y="1665289"/>
            <a:ext cx="11510683" cy="1763712"/>
          </a:xfrm>
        </p:spPr>
        <p:txBody>
          <a:bodyPr anchor="b">
            <a:normAutofit/>
          </a:bodyPr>
          <a:lstStyle>
            <a:lvl1pPr algn="ctr">
              <a:defRPr sz="4000" b="0">
                <a:solidFill>
                  <a:schemeClr val="accent1"/>
                </a:solidFill>
                <a:latin typeface="+mj-lt"/>
              </a:defRPr>
            </a:lvl1pPr>
          </a:lstStyle>
          <a:p>
            <a:r>
              <a:rPr lang="de-DE" noProof="0"/>
              <a:t>Mastertitelformat bearbeiten</a:t>
            </a:r>
            <a:endParaRPr lang="en-US" noProof="0" dirty="0"/>
          </a:p>
        </p:txBody>
      </p:sp>
      <p:sp>
        <p:nvSpPr>
          <p:cNvPr id="3" name="Untertitel 2"/>
          <p:cNvSpPr>
            <a:spLocks noGrp="1"/>
          </p:cNvSpPr>
          <p:nvPr>
            <p:ph type="subTitle" idx="1"/>
          </p:nvPr>
        </p:nvSpPr>
        <p:spPr>
          <a:xfrm>
            <a:off x="344245" y="3602042"/>
            <a:ext cx="11510683" cy="2011953"/>
          </a:xfrm>
        </p:spPr>
        <p:txBody>
          <a:bodyPr/>
          <a:lstStyle>
            <a:lvl1pPr marL="0" indent="0" algn="ctr">
              <a:buNone/>
              <a:defRPr sz="2400"/>
            </a:lvl1pPr>
            <a:lvl2pPr marL="457155" indent="0" algn="ctr">
              <a:buNone/>
              <a:defRPr sz="2000"/>
            </a:lvl2pPr>
            <a:lvl3pPr marL="914309" indent="0" algn="ctr">
              <a:buNone/>
              <a:defRPr sz="1867"/>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de-DE" noProof="0"/>
              <a:t>Master-Untertitelformat bearbeiten</a:t>
            </a:r>
            <a:endParaRPr lang="en-US" noProof="0" dirty="0"/>
          </a:p>
        </p:txBody>
      </p:sp>
    </p:spTree>
    <p:extLst>
      <p:ext uri="{BB962C8B-B14F-4D97-AF65-F5344CB8AC3E}">
        <p14:creationId xmlns:p14="http://schemas.microsoft.com/office/powerpoint/2010/main" val="406865243"/>
      </p:ext>
    </p:extLst>
  </p:cSld>
  <p:clrMapOvr>
    <a:masterClrMapping/>
  </p:clrMapOvr>
  <p:extLst>
    <p:ext uri="{DCECCB84-F9BA-43D5-87BE-67443E8EF086}">
      <p15:sldGuideLst xmlns:p15="http://schemas.microsoft.com/office/powerpoint/2012/main">
        <p15:guide id="1" orient="horz" pos="232">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34964" y="441325"/>
            <a:ext cx="9037636" cy="1116014"/>
          </a:xfrm>
        </p:spPr>
        <p:txBody>
          <a:bodyPr>
            <a:normAutofit/>
          </a:bodyPr>
          <a:lstStyle>
            <a:lvl1pPr>
              <a:defRPr sz="3200">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idx="1"/>
          </p:nvPr>
        </p:nvSpPr>
        <p:spPr>
          <a:xfrm>
            <a:off x="334964" y="1665288"/>
            <a:ext cx="11522075" cy="457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2028462527"/>
      </p:ext>
    </p:extLst>
  </p:cSld>
  <p:clrMapOvr>
    <a:masterClrMapping/>
  </p:clrMapOvr>
  <p:extLst>
    <p:ext uri="{DCECCB84-F9BA-43D5-87BE-67443E8EF086}">
      <p15:sldGuideLst xmlns:p15="http://schemas.microsoft.com/office/powerpoint/2012/main">
        <p15:guide id="1" pos="21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334965" y="441325"/>
            <a:ext cx="9037635" cy="1116014"/>
          </a:xfrm>
        </p:spPr>
        <p:txBody>
          <a:bodyPr/>
          <a:lstStyle>
            <a:lvl1pPr>
              <a:defRPr>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sz="half" idx="1"/>
          </p:nvPr>
        </p:nvSpPr>
        <p:spPr>
          <a:xfrm>
            <a:off x="334964" y="1665288"/>
            <a:ext cx="5581743" cy="457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
        <p:nvSpPr>
          <p:cNvPr id="4" name="Inhaltsplatzhalter 3"/>
          <p:cNvSpPr>
            <a:spLocks noGrp="1"/>
          </p:cNvSpPr>
          <p:nvPr>
            <p:ph sz="half" idx="2"/>
          </p:nvPr>
        </p:nvSpPr>
        <p:spPr>
          <a:xfrm>
            <a:off x="6271708" y="1665290"/>
            <a:ext cx="5585331" cy="457199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29243305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334965" y="441325"/>
            <a:ext cx="8640761" cy="1116013"/>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2875614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b Berater - Coding Examples">
    <p:spTree>
      <p:nvGrpSpPr>
        <p:cNvPr id="1" name=""/>
        <p:cNvGrpSpPr/>
        <p:nvPr/>
      </p:nvGrpSpPr>
      <p:grpSpPr>
        <a:xfrm>
          <a:off x="0" y="0"/>
          <a:ext cx="0" cy="0"/>
          <a:chOff x="0" y="0"/>
          <a:chExt cx="0" cy="0"/>
        </a:xfrm>
      </p:grpSpPr>
      <p:sp>
        <p:nvSpPr>
          <p:cNvPr id="3" name="Inhaltsplatzhalter 2"/>
          <p:cNvSpPr>
            <a:spLocks noGrp="1"/>
          </p:cNvSpPr>
          <p:nvPr>
            <p:ph idx="1"/>
          </p:nvPr>
        </p:nvSpPr>
        <p:spPr>
          <a:xfrm>
            <a:off x="5368065" y="1678741"/>
            <a:ext cx="6488975" cy="4558548"/>
          </a:xfrm>
        </p:spPr>
        <p:txBody>
          <a:bodyPr>
            <a:normAutofit/>
          </a:bodyPr>
          <a:lstStyle>
            <a:lvl1pPr marL="0" indent="0">
              <a:buNone/>
              <a:defRPr sz="1600">
                <a:latin typeface="Lucida Console" panose="020B0609040504020204" pitchFamily="49" charset="0"/>
              </a:defRPr>
            </a:lvl1pPr>
            <a:lvl2pPr marL="457166" indent="0">
              <a:buNone/>
              <a:defRPr sz="1600">
                <a:latin typeface="Lucida Console" panose="020B0609040504020204" pitchFamily="49" charset="0"/>
              </a:defRPr>
            </a:lvl2pPr>
            <a:lvl3pPr marL="914330" indent="0">
              <a:buNone/>
              <a:defRPr sz="1600">
                <a:latin typeface="Lucida Console" panose="020B0609040504020204" pitchFamily="49" charset="0"/>
              </a:defRPr>
            </a:lvl3pPr>
            <a:lvl4pPr marL="1371496" indent="0">
              <a:buNone/>
              <a:defRPr sz="1600">
                <a:latin typeface="Lucida Console" panose="020B0609040504020204" pitchFamily="49" charset="0"/>
              </a:defRPr>
            </a:lvl4pPr>
            <a:lvl5pPr marL="1828664" indent="0">
              <a:buNone/>
              <a:defRPr sz="1600">
                <a:latin typeface="Lucida Console" panose="020B0609040504020204" pitchFamily="49" charset="0"/>
              </a:defRPr>
            </a:lvl5pPr>
            <a:lvl6pPr>
              <a:defRPr sz="2000"/>
            </a:lvl6pPr>
            <a:lvl7pPr>
              <a:defRPr sz="2000"/>
            </a:lvl7pPr>
            <a:lvl8pPr>
              <a:defRPr sz="2000"/>
            </a:lvl8pPr>
            <a:lvl9pPr>
              <a:defRPr sz="2000"/>
            </a:lvl9pPr>
          </a:lstStyle>
          <a:p>
            <a:pPr lvl="0"/>
            <a:r>
              <a:rPr lang="de-DE" noProof="0"/>
              <a:t>Mastertextformat bearbeiten</a:t>
            </a:r>
          </a:p>
        </p:txBody>
      </p:sp>
      <p:sp>
        <p:nvSpPr>
          <p:cNvPr id="4" name="Textplatzhalter 3"/>
          <p:cNvSpPr>
            <a:spLocks noGrp="1"/>
          </p:cNvSpPr>
          <p:nvPr>
            <p:ph type="body" sz="half" idx="2"/>
          </p:nvPr>
        </p:nvSpPr>
        <p:spPr>
          <a:xfrm>
            <a:off x="334964" y="1678741"/>
            <a:ext cx="5033101" cy="4558548"/>
          </a:xfrm>
        </p:spPr>
        <p:txBody>
          <a:bodyPr/>
          <a:lstStyle>
            <a:lvl1pPr marL="228594" indent="-228594">
              <a:buFont typeface="Arial" panose="020B0604020202020204" pitchFamily="34" charset="0"/>
              <a:buChar char="•"/>
              <a:defRPr sz="1600"/>
            </a:lvl1pPr>
            <a:lvl2pPr marL="457155" indent="0">
              <a:buNone/>
              <a:defRPr sz="1467"/>
            </a:lvl2pPr>
            <a:lvl3pPr marL="914309" indent="0">
              <a:buNone/>
              <a:defRPr sz="1200"/>
            </a:lvl3pPr>
            <a:lvl4pPr marL="1371464" indent="0">
              <a:buNone/>
              <a:defRPr sz="1067"/>
            </a:lvl4pPr>
            <a:lvl5pPr marL="1828618" indent="0">
              <a:buNone/>
              <a:defRPr sz="1067"/>
            </a:lvl5pPr>
            <a:lvl6pPr marL="2285774" indent="0">
              <a:buNone/>
              <a:defRPr sz="1067"/>
            </a:lvl6pPr>
            <a:lvl7pPr marL="2742926" indent="0">
              <a:buNone/>
              <a:defRPr sz="1067"/>
            </a:lvl7pPr>
            <a:lvl8pPr marL="3200080" indent="0">
              <a:buNone/>
              <a:defRPr sz="1067"/>
            </a:lvl8pPr>
            <a:lvl9pPr marL="3657235" indent="0">
              <a:buNone/>
              <a:defRPr sz="1067"/>
            </a:lvl9pPr>
          </a:lstStyle>
          <a:p>
            <a:pPr lvl="0"/>
            <a:r>
              <a:rPr lang="de-DE" noProof="0"/>
              <a:t>Mastertextformat bearbeiten</a:t>
            </a:r>
          </a:p>
        </p:txBody>
      </p:sp>
      <p:sp>
        <p:nvSpPr>
          <p:cNvPr id="5" name="Titel 1">
            <a:extLst>
              <a:ext uri="{FF2B5EF4-FFF2-40B4-BE49-F238E27FC236}">
                <a16:creationId xmlns:a16="http://schemas.microsoft.com/office/drawing/2014/main" id="{A12C8F18-4741-03DA-3F19-FC0858FBFA9A}"/>
              </a:ext>
            </a:extLst>
          </p:cNvPr>
          <p:cNvSpPr>
            <a:spLocks noGrp="1"/>
          </p:cNvSpPr>
          <p:nvPr>
            <p:ph type="title"/>
          </p:nvPr>
        </p:nvSpPr>
        <p:spPr>
          <a:xfrm>
            <a:off x="334962" y="441325"/>
            <a:ext cx="9037637" cy="1116014"/>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231501953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Zwei Spalten">
    <p:spTree>
      <p:nvGrpSpPr>
        <p:cNvPr id="1" name=""/>
        <p:cNvGrpSpPr/>
        <p:nvPr/>
      </p:nvGrpSpPr>
      <p:grpSpPr>
        <a:xfrm>
          <a:off x="0" y="0"/>
          <a:ext cx="0" cy="0"/>
          <a:chOff x="0" y="0"/>
          <a:chExt cx="0" cy="0"/>
        </a:xfrm>
      </p:grpSpPr>
      <p:sp>
        <p:nvSpPr>
          <p:cNvPr id="2" name="Titel 1"/>
          <p:cNvSpPr>
            <a:spLocks noGrp="1"/>
          </p:cNvSpPr>
          <p:nvPr>
            <p:ph type="title"/>
          </p:nvPr>
        </p:nvSpPr>
        <p:spPr>
          <a:xfrm>
            <a:off x="335361" y="449032"/>
            <a:ext cx="9037240" cy="1108306"/>
          </a:xfrm>
          <a:prstGeom prst="rect">
            <a:avLst/>
          </a:prstGeom>
        </p:spPr>
        <p:txBody>
          <a:bodyPr anchor="ctr"/>
          <a:lstStyle/>
          <a:p>
            <a:r>
              <a:rPr lang="de-DE"/>
              <a:t>Mastertitelformat bearbeiten</a:t>
            </a:r>
            <a:endParaRPr lang="de-DE" dirty="0"/>
          </a:p>
        </p:txBody>
      </p:sp>
      <p:sp>
        <p:nvSpPr>
          <p:cNvPr id="3" name="Inhaltsplatzhalter 2"/>
          <p:cNvSpPr>
            <a:spLocks noGrp="1"/>
          </p:cNvSpPr>
          <p:nvPr>
            <p:ph sz="half" idx="1"/>
          </p:nvPr>
        </p:nvSpPr>
        <p:spPr>
          <a:xfrm>
            <a:off x="335360" y="1665288"/>
            <a:ext cx="5664629" cy="464403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6192011" y="1665288"/>
            <a:ext cx="5664629" cy="464403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50762135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344245" y="1665289"/>
            <a:ext cx="11510683" cy="1763712"/>
          </a:xfrm>
        </p:spPr>
        <p:txBody>
          <a:bodyPr anchor="b">
            <a:normAutofit/>
          </a:bodyPr>
          <a:lstStyle>
            <a:lvl1pPr algn="ctr">
              <a:defRPr sz="4000" b="0">
                <a:solidFill>
                  <a:schemeClr val="accent1"/>
                </a:solidFill>
                <a:latin typeface="+mj-lt"/>
              </a:defRPr>
            </a:lvl1pPr>
          </a:lstStyle>
          <a:p>
            <a:r>
              <a:rPr lang="de-DE" noProof="0"/>
              <a:t>Mastertitelformat bearbeiten</a:t>
            </a:r>
            <a:endParaRPr lang="en-US" noProof="0" dirty="0"/>
          </a:p>
        </p:txBody>
      </p:sp>
      <p:sp>
        <p:nvSpPr>
          <p:cNvPr id="3" name="Untertitel 2"/>
          <p:cNvSpPr>
            <a:spLocks noGrp="1"/>
          </p:cNvSpPr>
          <p:nvPr>
            <p:ph type="subTitle" idx="1"/>
          </p:nvPr>
        </p:nvSpPr>
        <p:spPr>
          <a:xfrm>
            <a:off x="344245" y="3602044"/>
            <a:ext cx="11510683" cy="2011953"/>
          </a:xfrm>
        </p:spPr>
        <p:txBody>
          <a:bodyPr/>
          <a:lstStyle>
            <a:lvl1pPr marL="0" indent="0" algn="ctr">
              <a:buNone/>
              <a:defRPr sz="2400"/>
            </a:lvl1pPr>
            <a:lvl2pPr marL="457143" indent="0" algn="ctr">
              <a:buNone/>
              <a:defRPr sz="2000"/>
            </a:lvl2pPr>
            <a:lvl3pPr marL="914286" indent="0" algn="ctr">
              <a:buNone/>
              <a:defRPr sz="1867"/>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de-DE" noProof="0"/>
              <a:t>Master-Untertitelformat bearbeiten</a:t>
            </a:r>
            <a:endParaRPr lang="en-US" noProof="0" dirty="0"/>
          </a:p>
        </p:txBody>
      </p:sp>
    </p:spTree>
    <p:extLst>
      <p:ext uri="{BB962C8B-B14F-4D97-AF65-F5344CB8AC3E}">
        <p14:creationId xmlns:p14="http://schemas.microsoft.com/office/powerpoint/2010/main" val="1427940903"/>
      </p:ext>
    </p:extLst>
  </p:cSld>
  <p:clrMapOvr>
    <a:masterClrMapping/>
  </p:clrMapOvr>
  <p:extLst>
    <p:ext uri="{DCECCB84-F9BA-43D5-87BE-67443E8EF086}">
      <p15:sldGuideLst xmlns:p15="http://schemas.microsoft.com/office/powerpoint/2012/main">
        <p15:guide id="2" pos="2880">
          <p15:clr>
            <a:srgbClr val="FBAE40"/>
          </p15:clr>
        </p15:guide>
        <p15:guide id="5" orient="horz" pos="232">
          <p15:clr>
            <a:srgbClr val="FBAE40"/>
          </p15:clr>
        </p15:guide>
        <p15:guide id="6" orient="horz" pos="2160">
          <p15:clr>
            <a:srgbClr val="FBAE40"/>
          </p15:clr>
        </p15:guide>
        <p15:guide id="7"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34965" y="441326"/>
            <a:ext cx="9037636" cy="1116015"/>
          </a:xfrm>
        </p:spPr>
        <p:txBody>
          <a:bodyPr>
            <a:normAutofit/>
          </a:bodyPr>
          <a:lstStyle>
            <a:lvl1pPr>
              <a:defRPr sz="3200">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idx="1"/>
          </p:nvPr>
        </p:nvSpPr>
        <p:spPr>
          <a:xfrm>
            <a:off x="334965" y="1665288"/>
            <a:ext cx="11522075" cy="457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960077704"/>
      </p:ext>
    </p:extLst>
  </p:cSld>
  <p:clrMapOvr>
    <a:masterClrMapping/>
  </p:clrMapOvr>
  <p:extLst>
    <p:ext uri="{DCECCB84-F9BA-43D5-87BE-67443E8EF086}">
      <p15:sldGuideLst xmlns:p15="http://schemas.microsoft.com/office/powerpoint/2012/main">
        <p15:guide id="1"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334965" y="441326"/>
            <a:ext cx="9037635" cy="1116015"/>
          </a:xfrm>
        </p:spPr>
        <p:txBody>
          <a:bodyPr/>
          <a:lstStyle>
            <a:lvl1pPr>
              <a:defRPr>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sz="half" idx="1"/>
          </p:nvPr>
        </p:nvSpPr>
        <p:spPr>
          <a:xfrm>
            <a:off x="334966" y="1665288"/>
            <a:ext cx="5581743" cy="457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
        <p:nvSpPr>
          <p:cNvPr id="4" name="Inhaltsplatzhalter 3"/>
          <p:cNvSpPr>
            <a:spLocks noGrp="1"/>
          </p:cNvSpPr>
          <p:nvPr>
            <p:ph sz="half" idx="2"/>
          </p:nvPr>
        </p:nvSpPr>
        <p:spPr>
          <a:xfrm>
            <a:off x="6271709" y="1665291"/>
            <a:ext cx="5585331" cy="457199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21340067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334966" y="441326"/>
            <a:ext cx="8640761" cy="1116013"/>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36007787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b Berater - Coding Examples">
    <p:spTree>
      <p:nvGrpSpPr>
        <p:cNvPr id="1" name=""/>
        <p:cNvGrpSpPr/>
        <p:nvPr/>
      </p:nvGrpSpPr>
      <p:grpSpPr>
        <a:xfrm>
          <a:off x="0" y="0"/>
          <a:ext cx="0" cy="0"/>
          <a:chOff x="0" y="0"/>
          <a:chExt cx="0" cy="0"/>
        </a:xfrm>
      </p:grpSpPr>
      <p:sp>
        <p:nvSpPr>
          <p:cNvPr id="3" name="Inhaltsplatzhalter 2"/>
          <p:cNvSpPr>
            <a:spLocks noGrp="1"/>
          </p:cNvSpPr>
          <p:nvPr>
            <p:ph idx="1"/>
          </p:nvPr>
        </p:nvSpPr>
        <p:spPr>
          <a:xfrm>
            <a:off x="5368066" y="1678742"/>
            <a:ext cx="6488975" cy="4558548"/>
          </a:xfrm>
        </p:spPr>
        <p:txBody>
          <a:bodyPr>
            <a:normAutofit/>
          </a:bodyPr>
          <a:lstStyle>
            <a:lvl1pPr marL="0" indent="0">
              <a:buNone/>
              <a:defRPr sz="1600">
                <a:latin typeface="Lucida Console" panose="020B0609040504020204" pitchFamily="49" charset="0"/>
              </a:defRPr>
            </a:lvl1pPr>
            <a:lvl2pPr marL="457155" indent="0">
              <a:buNone/>
              <a:defRPr sz="1600">
                <a:latin typeface="Lucida Console" panose="020B0609040504020204" pitchFamily="49" charset="0"/>
              </a:defRPr>
            </a:lvl2pPr>
            <a:lvl3pPr marL="914308" indent="0">
              <a:buNone/>
              <a:defRPr sz="1600">
                <a:latin typeface="Lucida Console" panose="020B0609040504020204" pitchFamily="49" charset="0"/>
              </a:defRPr>
            </a:lvl3pPr>
            <a:lvl4pPr marL="1371462" indent="0">
              <a:buNone/>
              <a:defRPr sz="1600">
                <a:latin typeface="Lucida Console" panose="020B0609040504020204" pitchFamily="49" charset="0"/>
              </a:defRPr>
            </a:lvl4pPr>
            <a:lvl5pPr marL="1828618" indent="0">
              <a:buNone/>
              <a:defRPr sz="1600">
                <a:latin typeface="Lucida Console" panose="020B0609040504020204" pitchFamily="49" charset="0"/>
              </a:defRPr>
            </a:lvl5pPr>
            <a:lvl6pPr>
              <a:defRPr sz="2000"/>
            </a:lvl6pPr>
            <a:lvl7pPr>
              <a:defRPr sz="2000"/>
            </a:lvl7pPr>
            <a:lvl8pPr>
              <a:defRPr sz="2000"/>
            </a:lvl8pPr>
            <a:lvl9pPr>
              <a:defRPr sz="2000"/>
            </a:lvl9pPr>
          </a:lstStyle>
          <a:p>
            <a:pPr lvl="0"/>
            <a:r>
              <a:rPr lang="de-DE" noProof="0"/>
              <a:t>Mastertextformat bearbeiten</a:t>
            </a:r>
          </a:p>
        </p:txBody>
      </p:sp>
      <p:sp>
        <p:nvSpPr>
          <p:cNvPr id="4" name="Textplatzhalter 3"/>
          <p:cNvSpPr>
            <a:spLocks noGrp="1"/>
          </p:cNvSpPr>
          <p:nvPr>
            <p:ph type="body" sz="half" idx="2"/>
          </p:nvPr>
        </p:nvSpPr>
        <p:spPr>
          <a:xfrm>
            <a:off x="334964" y="1678742"/>
            <a:ext cx="5033101" cy="4558548"/>
          </a:xfrm>
        </p:spPr>
        <p:txBody>
          <a:bodyPr/>
          <a:lstStyle>
            <a:lvl1pPr marL="228589" indent="-228589">
              <a:buFont typeface="Arial" panose="020B0604020202020204" pitchFamily="34" charset="0"/>
              <a:buChar char="•"/>
              <a:defRPr sz="1600"/>
            </a:lvl1pPr>
            <a:lvl2pPr marL="457143" indent="0">
              <a:buNone/>
              <a:defRPr sz="1467"/>
            </a:lvl2pPr>
            <a:lvl3pPr marL="914286" indent="0">
              <a:buNone/>
              <a:defRPr sz="1200"/>
            </a:lvl3pPr>
            <a:lvl4pPr marL="1371430" indent="0">
              <a:buNone/>
              <a:defRPr sz="1067"/>
            </a:lvl4pPr>
            <a:lvl5pPr marL="1828573" indent="0">
              <a:buNone/>
              <a:defRPr sz="1067"/>
            </a:lvl5pPr>
            <a:lvl6pPr marL="2285718" indent="0">
              <a:buNone/>
              <a:defRPr sz="1067"/>
            </a:lvl6pPr>
            <a:lvl7pPr marL="2742858" indent="0">
              <a:buNone/>
              <a:defRPr sz="1067"/>
            </a:lvl7pPr>
            <a:lvl8pPr marL="3200000" indent="0">
              <a:buNone/>
              <a:defRPr sz="1067"/>
            </a:lvl8pPr>
            <a:lvl9pPr marL="3657143" indent="0">
              <a:buNone/>
              <a:defRPr sz="1067"/>
            </a:lvl9pPr>
          </a:lstStyle>
          <a:p>
            <a:pPr lvl="0"/>
            <a:r>
              <a:rPr lang="de-DE" noProof="0"/>
              <a:t>Mastertextformat bearbeiten</a:t>
            </a:r>
          </a:p>
        </p:txBody>
      </p:sp>
      <p:sp>
        <p:nvSpPr>
          <p:cNvPr id="5" name="Titel 1">
            <a:extLst>
              <a:ext uri="{FF2B5EF4-FFF2-40B4-BE49-F238E27FC236}">
                <a16:creationId xmlns:a16="http://schemas.microsoft.com/office/drawing/2014/main" id="{A12C8F18-4741-03DA-3F19-FC0858FBFA9A}"/>
              </a:ext>
            </a:extLst>
          </p:cNvPr>
          <p:cNvSpPr>
            <a:spLocks noGrp="1"/>
          </p:cNvSpPr>
          <p:nvPr>
            <p:ph type="title"/>
          </p:nvPr>
        </p:nvSpPr>
        <p:spPr>
          <a:xfrm>
            <a:off x="334963" y="441326"/>
            <a:ext cx="9037637" cy="1116015"/>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32493056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Zwei Spalten">
    <p:spTree>
      <p:nvGrpSpPr>
        <p:cNvPr id="1" name=""/>
        <p:cNvGrpSpPr/>
        <p:nvPr/>
      </p:nvGrpSpPr>
      <p:grpSpPr>
        <a:xfrm>
          <a:off x="0" y="0"/>
          <a:ext cx="0" cy="0"/>
          <a:chOff x="0" y="0"/>
          <a:chExt cx="0" cy="0"/>
        </a:xfrm>
      </p:grpSpPr>
      <p:sp>
        <p:nvSpPr>
          <p:cNvPr id="2" name="Titel 1"/>
          <p:cNvSpPr>
            <a:spLocks noGrp="1"/>
          </p:cNvSpPr>
          <p:nvPr>
            <p:ph type="title"/>
          </p:nvPr>
        </p:nvSpPr>
        <p:spPr>
          <a:xfrm>
            <a:off x="335361" y="449032"/>
            <a:ext cx="9037240" cy="1108307"/>
          </a:xfrm>
          <a:prstGeom prst="rect">
            <a:avLst/>
          </a:prstGeom>
        </p:spPr>
        <p:txBody>
          <a:bodyPr anchor="ctr"/>
          <a:lstStyle/>
          <a:p>
            <a:r>
              <a:rPr lang="de-DE"/>
              <a:t>Mastertitelformat bearbeiten</a:t>
            </a:r>
            <a:endParaRPr lang="de-DE" dirty="0"/>
          </a:p>
        </p:txBody>
      </p:sp>
      <p:sp>
        <p:nvSpPr>
          <p:cNvPr id="3" name="Inhaltsplatzhalter 2"/>
          <p:cNvSpPr>
            <a:spLocks noGrp="1"/>
          </p:cNvSpPr>
          <p:nvPr>
            <p:ph sz="half" idx="1"/>
          </p:nvPr>
        </p:nvSpPr>
        <p:spPr>
          <a:xfrm>
            <a:off x="335360" y="1665288"/>
            <a:ext cx="5664629" cy="464403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6192012" y="1665288"/>
            <a:ext cx="5664629" cy="464403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4401354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www.db-berater.de/"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db-berater.de/" TargetMode="External"/><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54107" y="450850"/>
            <a:ext cx="9018492" cy="1102353"/>
          </a:xfrm>
          <a:prstGeom prst="rect">
            <a:avLst/>
          </a:prstGeom>
        </p:spPr>
        <p:txBody>
          <a:bodyPr vert="horz" lIns="68579" tIns="34289" rIns="68579" bIns="34289" rtlCol="0" anchor="ctr">
            <a:normAutofit/>
          </a:body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3" name="Textplatzhalter 2"/>
          <p:cNvSpPr>
            <a:spLocks noGrp="1"/>
          </p:cNvSpPr>
          <p:nvPr>
            <p:ph type="body" idx="1"/>
          </p:nvPr>
        </p:nvSpPr>
        <p:spPr>
          <a:xfrm>
            <a:off x="354106" y="1665288"/>
            <a:ext cx="11490063" cy="4571999"/>
          </a:xfrm>
          <a:prstGeom prst="rect">
            <a:avLst/>
          </a:prstGeom>
        </p:spPr>
        <p:txBody>
          <a:bodyPr vert="horz" lIns="68579" tIns="34289" rIns="68579" bIns="34289" rtlCol="0">
            <a:normAutofit/>
          </a:bodyPr>
          <a:lstStyle/>
          <a:p>
            <a:pPr lvl="0"/>
            <a:r>
              <a:rPr lang="en-US" noProof="0" dirty="0" err="1"/>
              <a:t>Textmasterformat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4" name="Textfeld 3"/>
          <p:cNvSpPr txBox="1"/>
          <p:nvPr/>
        </p:nvSpPr>
        <p:spPr>
          <a:xfrm>
            <a:off x="9372600" y="450848"/>
            <a:ext cx="2471568" cy="1231106"/>
          </a:xfrm>
          <a:prstGeom prst="rect">
            <a:avLst/>
          </a:prstGeom>
          <a:noFill/>
        </p:spPr>
        <p:txBody>
          <a:bodyPr wrap="square" rtlCol="0">
            <a:spAutoFit/>
          </a:bodyPr>
          <a:lstStyle/>
          <a:p>
            <a:pPr algn="r"/>
            <a:r>
              <a:rPr lang="en-US" sz="2400" b="1" noProof="0" dirty="0">
                <a:solidFill>
                  <a:schemeClr val="accent1"/>
                </a:solidFill>
                <a:latin typeface="Calibri" panose="020F0502020204030204" pitchFamily="34" charset="0"/>
              </a:rPr>
              <a:t>db </a:t>
            </a:r>
            <a:r>
              <a:rPr lang="en-US" sz="2400" b="1" noProof="0" dirty="0">
                <a:latin typeface="Calibri" panose="020F0502020204030204" pitchFamily="34" charset="0"/>
              </a:rPr>
              <a:t>Berater GmbH</a:t>
            </a:r>
          </a:p>
          <a:p>
            <a:pPr algn="r"/>
            <a:r>
              <a:rPr lang="en-US" sz="1000" b="1" noProof="0" dirty="0" err="1"/>
              <a:t>Planung</a:t>
            </a:r>
            <a:r>
              <a:rPr lang="en-US" sz="1000" b="1" noProof="0" dirty="0"/>
              <a:t> – Installation</a:t>
            </a:r>
            <a:r>
              <a:rPr lang="en-US" sz="1000" b="1" baseline="0" noProof="0" dirty="0"/>
              <a:t> – </a:t>
            </a:r>
            <a:r>
              <a:rPr lang="en-US" sz="1000" b="1" baseline="0" noProof="0" dirty="0" err="1"/>
              <a:t>Optimierung</a:t>
            </a:r>
            <a:br>
              <a:rPr lang="en-US" sz="1000" b="1" baseline="0" noProof="0" dirty="0"/>
            </a:br>
            <a:br>
              <a:rPr lang="en-US" sz="1000" b="1" baseline="0" noProof="0" dirty="0"/>
            </a:br>
            <a:endParaRPr lang="en-US" sz="1000" b="1" noProof="0" dirty="0"/>
          </a:p>
          <a:p>
            <a:pPr algn="r"/>
            <a:r>
              <a:rPr lang="en-US" sz="1000" b="1" noProof="0" dirty="0">
                <a:hlinkClick r:id="rId8"/>
              </a:rPr>
              <a:t>http://www.db-berater.de</a:t>
            </a:r>
            <a:endParaRPr lang="en-US" sz="1000" b="1" noProof="0" dirty="0"/>
          </a:p>
          <a:p>
            <a:pPr algn="r"/>
            <a:r>
              <a:rPr lang="en-US" sz="1000" b="1" noProof="0" dirty="0"/>
              <a:t>info@db-berater.de</a:t>
            </a:r>
          </a:p>
        </p:txBody>
      </p:sp>
      <p:cxnSp>
        <p:nvCxnSpPr>
          <p:cNvPr id="6" name="Gerader Verbinder 5"/>
          <p:cNvCxnSpPr/>
          <p:nvPr/>
        </p:nvCxnSpPr>
        <p:spPr>
          <a:xfrm>
            <a:off x="354106" y="6303981"/>
            <a:ext cx="114900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feld 6"/>
          <p:cNvSpPr txBox="1"/>
          <p:nvPr/>
        </p:nvSpPr>
        <p:spPr>
          <a:xfrm>
            <a:off x="354106" y="6390043"/>
            <a:ext cx="2141669" cy="276999"/>
          </a:xfrm>
          <a:prstGeom prst="rect">
            <a:avLst/>
          </a:prstGeom>
          <a:noFill/>
        </p:spPr>
        <p:txBody>
          <a:bodyPr wrap="square" rtlCol="0">
            <a:spAutoFit/>
          </a:bodyPr>
          <a:lstStyle/>
          <a:p>
            <a:r>
              <a:rPr lang="en-US" sz="1200" b="1" noProof="0" dirty="0">
                <a:solidFill>
                  <a:schemeClr val="accent1"/>
                </a:solidFill>
              </a:rPr>
              <a:t>Author: </a:t>
            </a:r>
            <a:r>
              <a:rPr lang="en-US" sz="1200" b="1" noProof="0" dirty="0"/>
              <a:t>Uwe Ricken</a:t>
            </a:r>
          </a:p>
        </p:txBody>
      </p:sp>
      <p:sp>
        <p:nvSpPr>
          <p:cNvPr id="8" name="Textfeld 7"/>
          <p:cNvSpPr txBox="1"/>
          <p:nvPr/>
        </p:nvSpPr>
        <p:spPr>
          <a:xfrm>
            <a:off x="8971879" y="6390043"/>
            <a:ext cx="2872291" cy="276999"/>
          </a:xfrm>
          <a:prstGeom prst="rect">
            <a:avLst/>
          </a:prstGeom>
          <a:noFill/>
        </p:spPr>
        <p:txBody>
          <a:bodyPr wrap="square" rtlCol="0">
            <a:spAutoFit/>
          </a:bodyPr>
          <a:lstStyle/>
          <a:p>
            <a:pPr algn="r"/>
            <a:r>
              <a:rPr lang="en-US" sz="1200" b="1" noProof="0" dirty="0">
                <a:solidFill>
                  <a:schemeClr val="accent1"/>
                </a:solidFill>
              </a:rPr>
              <a:t>© </a:t>
            </a:r>
            <a:r>
              <a:rPr lang="en-US" sz="1200" b="1" noProof="0" dirty="0"/>
              <a:t>db</a:t>
            </a:r>
            <a:r>
              <a:rPr lang="en-US" sz="1200" b="1" baseline="0" noProof="0" dirty="0"/>
              <a:t> Berater GmbH (2025)</a:t>
            </a:r>
            <a:endParaRPr lang="en-US" sz="1200" b="1" noProof="0" dirty="0"/>
          </a:p>
        </p:txBody>
      </p:sp>
    </p:spTree>
    <p:extLst>
      <p:ext uri="{BB962C8B-B14F-4D97-AF65-F5344CB8AC3E}">
        <p14:creationId xmlns:p14="http://schemas.microsoft.com/office/powerpoint/2010/main" val="16278374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txStyles>
    <p:titleStyle>
      <a:lvl1pPr algn="l" defTabSz="914332" rtl="0" eaLnBrk="1" latinLnBrk="0" hangingPunct="1">
        <a:lnSpc>
          <a:spcPct val="90000"/>
        </a:lnSpc>
        <a:spcBef>
          <a:spcPct val="0"/>
        </a:spcBef>
        <a:buNone/>
        <a:defRPr sz="3200" b="1" kern="1200">
          <a:solidFill>
            <a:srgbClr val="5B9BD5"/>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de-DE"/>
      </a:defPPr>
      <a:lvl1pPr marL="0" algn="l" defTabSz="914332" rtl="0" eaLnBrk="1" latinLnBrk="0" hangingPunct="1">
        <a:defRPr sz="1867" kern="1200">
          <a:solidFill>
            <a:schemeClr val="tx1"/>
          </a:solidFill>
          <a:latin typeface="+mn-lt"/>
          <a:ea typeface="+mn-ea"/>
          <a:cs typeface="+mn-cs"/>
        </a:defRPr>
      </a:lvl1pPr>
      <a:lvl2pPr marL="457167" algn="l" defTabSz="914332" rtl="0" eaLnBrk="1" latinLnBrk="0" hangingPunct="1">
        <a:defRPr sz="1867" kern="1200">
          <a:solidFill>
            <a:schemeClr val="tx1"/>
          </a:solidFill>
          <a:latin typeface="+mn-lt"/>
          <a:ea typeface="+mn-ea"/>
          <a:cs typeface="+mn-cs"/>
        </a:defRPr>
      </a:lvl2pPr>
      <a:lvl3pPr marL="914332" algn="l" defTabSz="914332" rtl="0" eaLnBrk="1" latinLnBrk="0" hangingPunct="1">
        <a:defRPr sz="1867" kern="1200">
          <a:solidFill>
            <a:schemeClr val="tx1"/>
          </a:solidFill>
          <a:latin typeface="+mn-lt"/>
          <a:ea typeface="+mn-ea"/>
          <a:cs typeface="+mn-cs"/>
        </a:defRPr>
      </a:lvl3pPr>
      <a:lvl4pPr marL="1371498" algn="l" defTabSz="914332" rtl="0" eaLnBrk="1" latinLnBrk="0" hangingPunct="1">
        <a:defRPr sz="1867" kern="1200">
          <a:solidFill>
            <a:schemeClr val="tx1"/>
          </a:solidFill>
          <a:latin typeface="+mn-lt"/>
          <a:ea typeface="+mn-ea"/>
          <a:cs typeface="+mn-cs"/>
        </a:defRPr>
      </a:lvl4pPr>
      <a:lvl5pPr marL="1828664" algn="l" defTabSz="914332" rtl="0" eaLnBrk="1" latinLnBrk="0" hangingPunct="1">
        <a:defRPr sz="1867" kern="1200">
          <a:solidFill>
            <a:schemeClr val="tx1"/>
          </a:solidFill>
          <a:latin typeface="+mn-lt"/>
          <a:ea typeface="+mn-ea"/>
          <a:cs typeface="+mn-cs"/>
        </a:defRPr>
      </a:lvl5pPr>
      <a:lvl6pPr marL="2285830" algn="l" defTabSz="914332" rtl="0" eaLnBrk="1" latinLnBrk="0" hangingPunct="1">
        <a:defRPr sz="1867" kern="1200">
          <a:solidFill>
            <a:schemeClr val="tx1"/>
          </a:solidFill>
          <a:latin typeface="+mn-lt"/>
          <a:ea typeface="+mn-ea"/>
          <a:cs typeface="+mn-cs"/>
        </a:defRPr>
      </a:lvl6pPr>
      <a:lvl7pPr marL="2742994" algn="l" defTabSz="914332" rtl="0" eaLnBrk="1" latinLnBrk="0" hangingPunct="1">
        <a:defRPr sz="1867" kern="1200">
          <a:solidFill>
            <a:schemeClr val="tx1"/>
          </a:solidFill>
          <a:latin typeface="+mn-lt"/>
          <a:ea typeface="+mn-ea"/>
          <a:cs typeface="+mn-cs"/>
        </a:defRPr>
      </a:lvl7pPr>
      <a:lvl8pPr marL="3200160" algn="l" defTabSz="914332" rtl="0" eaLnBrk="1" latinLnBrk="0" hangingPunct="1">
        <a:defRPr sz="1867" kern="1200">
          <a:solidFill>
            <a:schemeClr val="tx1"/>
          </a:solidFill>
          <a:latin typeface="+mn-lt"/>
          <a:ea typeface="+mn-ea"/>
          <a:cs typeface="+mn-cs"/>
        </a:defRPr>
      </a:lvl8pPr>
      <a:lvl9pPr marL="3657327" algn="l" defTabSz="91433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78">
          <p15:clr>
            <a:srgbClr val="F26B43"/>
          </p15:clr>
        </p15:guide>
        <p15:guide id="2" pos="3840">
          <p15:clr>
            <a:srgbClr val="F26B43"/>
          </p15:clr>
        </p15:guide>
        <p15:guide id="4" orient="horz" pos="1049">
          <p15:clr>
            <a:srgbClr val="F26B43"/>
          </p15:clr>
        </p15:guide>
        <p15:guide id="5" orient="horz" pos="3929">
          <p15:clr>
            <a:srgbClr val="F26B43"/>
          </p15:clr>
        </p15:guide>
        <p15:guide id="7" pos="7469">
          <p15:clr>
            <a:srgbClr val="F26B43"/>
          </p15:clr>
        </p15:guide>
        <p15:guide id="8" pos="5904">
          <p15:clr>
            <a:srgbClr val="F26B43"/>
          </p15:clr>
        </p15:guide>
        <p15:guide id="9" orient="horz" pos="210" userDrawn="1">
          <p15:clr>
            <a:srgbClr val="F26B43"/>
          </p15:clr>
        </p15:guide>
        <p15:guide id="10" pos="211" userDrawn="1">
          <p15:clr>
            <a:srgbClr val="F26B43"/>
          </p15:clr>
        </p15:guide>
        <p15:guide id="11" pos="5654" userDrawn="1">
          <p15:clr>
            <a:srgbClr val="F26B43"/>
          </p15:clr>
        </p15:guide>
        <p15:guide id="12" orient="horz" pos="9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54107" y="450852"/>
            <a:ext cx="9018492" cy="1102353"/>
          </a:xfrm>
          <a:prstGeom prst="rect">
            <a:avLst/>
          </a:prstGeom>
        </p:spPr>
        <p:txBody>
          <a:bodyPr vert="horz" lIns="68579" tIns="34289" rIns="68579" bIns="34289" rtlCol="0" anchor="ctr">
            <a:normAutofit/>
          </a:body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3" name="Textplatzhalter 2"/>
          <p:cNvSpPr>
            <a:spLocks noGrp="1"/>
          </p:cNvSpPr>
          <p:nvPr>
            <p:ph type="body" idx="1"/>
          </p:nvPr>
        </p:nvSpPr>
        <p:spPr>
          <a:xfrm>
            <a:off x="354107" y="1665290"/>
            <a:ext cx="11490063" cy="4571999"/>
          </a:xfrm>
          <a:prstGeom prst="rect">
            <a:avLst/>
          </a:prstGeom>
        </p:spPr>
        <p:txBody>
          <a:bodyPr vert="horz" lIns="68579" tIns="34289" rIns="68579" bIns="34289" rtlCol="0">
            <a:normAutofit/>
          </a:bodyPr>
          <a:lstStyle/>
          <a:p>
            <a:pPr lvl="0"/>
            <a:r>
              <a:rPr lang="en-US" noProof="0" dirty="0" err="1"/>
              <a:t>Textmasterformat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4" name="Textfeld 3"/>
          <p:cNvSpPr txBox="1"/>
          <p:nvPr/>
        </p:nvSpPr>
        <p:spPr>
          <a:xfrm>
            <a:off x="9372600" y="450848"/>
            <a:ext cx="2471568" cy="1231106"/>
          </a:xfrm>
          <a:prstGeom prst="rect">
            <a:avLst/>
          </a:prstGeom>
          <a:noFill/>
        </p:spPr>
        <p:txBody>
          <a:bodyPr wrap="square" rtlCol="0">
            <a:spAutoFit/>
          </a:bodyPr>
          <a:lstStyle/>
          <a:p>
            <a:pPr algn="r"/>
            <a:r>
              <a:rPr lang="en-US" sz="2400" b="1" noProof="0" dirty="0">
                <a:solidFill>
                  <a:schemeClr val="accent1"/>
                </a:solidFill>
                <a:latin typeface="Calibri" panose="020F0502020204030204" pitchFamily="34" charset="0"/>
              </a:rPr>
              <a:t>db </a:t>
            </a:r>
            <a:r>
              <a:rPr lang="en-US" sz="2400" b="1" noProof="0" dirty="0">
                <a:latin typeface="Calibri" panose="020F0502020204030204" pitchFamily="34" charset="0"/>
              </a:rPr>
              <a:t>Berater GmbH</a:t>
            </a:r>
          </a:p>
          <a:p>
            <a:pPr algn="r"/>
            <a:r>
              <a:rPr lang="en-US" sz="1000" b="1" noProof="0" dirty="0" err="1"/>
              <a:t>Planung</a:t>
            </a:r>
            <a:r>
              <a:rPr lang="en-US" sz="1000" b="1" noProof="0" dirty="0"/>
              <a:t> – Installation</a:t>
            </a:r>
            <a:r>
              <a:rPr lang="en-US" sz="1000" b="1" baseline="0" noProof="0" dirty="0"/>
              <a:t> – </a:t>
            </a:r>
            <a:r>
              <a:rPr lang="en-US" sz="1000" b="1" baseline="0" noProof="0" dirty="0" err="1"/>
              <a:t>Optimierung</a:t>
            </a:r>
            <a:br>
              <a:rPr lang="en-US" sz="1000" b="1" baseline="0" noProof="0" dirty="0"/>
            </a:br>
            <a:br>
              <a:rPr lang="en-US" sz="1000" b="1" baseline="0" noProof="0" dirty="0"/>
            </a:br>
            <a:endParaRPr lang="en-US" sz="1000" b="1" noProof="0" dirty="0"/>
          </a:p>
          <a:p>
            <a:pPr algn="r"/>
            <a:r>
              <a:rPr lang="en-US" sz="1000" b="1" noProof="0" dirty="0">
                <a:hlinkClick r:id="rId8"/>
              </a:rPr>
              <a:t>http://www.db-berater.de</a:t>
            </a:r>
            <a:endParaRPr lang="en-US" sz="1000" b="1" noProof="0" dirty="0"/>
          </a:p>
          <a:p>
            <a:pPr algn="r"/>
            <a:r>
              <a:rPr lang="en-US" sz="1000" b="1" noProof="0" dirty="0"/>
              <a:t>info@db-berater.de</a:t>
            </a:r>
          </a:p>
        </p:txBody>
      </p:sp>
      <p:sp>
        <p:nvSpPr>
          <p:cNvPr id="5" name="Rechteck 4">
            <a:extLst>
              <a:ext uri="{FF2B5EF4-FFF2-40B4-BE49-F238E27FC236}">
                <a16:creationId xmlns:a16="http://schemas.microsoft.com/office/drawing/2014/main" id="{CE3090C9-CD56-60CA-9231-B8662A341995}"/>
              </a:ext>
            </a:extLst>
          </p:cNvPr>
          <p:cNvSpPr/>
          <p:nvPr/>
        </p:nvSpPr>
        <p:spPr>
          <a:xfrm>
            <a:off x="0" y="6309320"/>
            <a:ext cx="12192000" cy="54868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Textfeld 7"/>
          <p:cNvSpPr txBox="1"/>
          <p:nvPr/>
        </p:nvSpPr>
        <p:spPr>
          <a:xfrm>
            <a:off x="9648395" y="6429773"/>
            <a:ext cx="2296227" cy="276999"/>
          </a:xfrm>
          <a:prstGeom prst="rect">
            <a:avLst/>
          </a:prstGeom>
          <a:noFill/>
        </p:spPr>
        <p:txBody>
          <a:bodyPr wrap="square" rtlCol="0">
            <a:spAutoFit/>
          </a:bodyPr>
          <a:lstStyle/>
          <a:p>
            <a:pPr algn="r"/>
            <a:r>
              <a:rPr lang="en-US" sz="1200" b="1" noProof="0" dirty="0">
                <a:solidFill>
                  <a:schemeClr val="bg1"/>
                </a:solidFill>
              </a:rPr>
              <a:t>© db</a:t>
            </a:r>
            <a:r>
              <a:rPr lang="en-US" sz="1200" b="1" baseline="0" noProof="0" dirty="0">
                <a:solidFill>
                  <a:schemeClr val="bg1"/>
                </a:solidFill>
              </a:rPr>
              <a:t> Berater GmbH (</a:t>
            </a:r>
            <a:fld id="{918F7804-3F46-47BC-B8F6-F601438D5C89}" type="datetimeyyyy">
              <a:rPr lang="en-US" sz="1200" b="1" baseline="0" noProof="0" smtClean="0">
                <a:solidFill>
                  <a:schemeClr val="bg1"/>
                </a:solidFill>
              </a:rPr>
              <a:t>2026</a:t>
            </a:fld>
            <a:r>
              <a:rPr lang="en-US" sz="1200" b="1" baseline="0" noProof="0" dirty="0">
                <a:solidFill>
                  <a:schemeClr val="bg1"/>
                </a:solidFill>
              </a:rPr>
              <a:t>)</a:t>
            </a:r>
            <a:endParaRPr lang="en-US" sz="1200" b="1" noProof="0" dirty="0">
              <a:solidFill>
                <a:schemeClr val="bg1"/>
              </a:solidFill>
            </a:endParaRPr>
          </a:p>
        </p:txBody>
      </p:sp>
      <p:sp>
        <p:nvSpPr>
          <p:cNvPr id="7" name="Textfeld 6"/>
          <p:cNvSpPr txBox="1"/>
          <p:nvPr/>
        </p:nvSpPr>
        <p:spPr>
          <a:xfrm>
            <a:off x="290584" y="6429773"/>
            <a:ext cx="4845309" cy="276999"/>
          </a:xfrm>
          <a:prstGeom prst="rect">
            <a:avLst/>
          </a:prstGeom>
          <a:noFill/>
        </p:spPr>
        <p:txBody>
          <a:bodyPr wrap="square" rtlCol="0">
            <a:spAutoFit/>
          </a:bodyPr>
          <a:lstStyle/>
          <a:p>
            <a:r>
              <a:rPr lang="en-US" sz="1200" b="1" noProof="0" dirty="0">
                <a:solidFill>
                  <a:schemeClr val="bg2"/>
                </a:solidFill>
              </a:rPr>
              <a:t>Author</a:t>
            </a:r>
            <a:r>
              <a:rPr lang="en-US" sz="1200" b="1" noProof="0" dirty="0">
                <a:solidFill>
                  <a:schemeClr val="bg1"/>
                </a:solidFill>
              </a:rPr>
              <a:t>: Uwe Ricken (Data Platform MVP / MCM)</a:t>
            </a:r>
          </a:p>
        </p:txBody>
      </p:sp>
    </p:spTree>
    <p:extLst>
      <p:ext uri="{BB962C8B-B14F-4D97-AF65-F5344CB8AC3E}">
        <p14:creationId xmlns:p14="http://schemas.microsoft.com/office/powerpoint/2010/main" val="76619202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Lst>
  <p:txStyles>
    <p:titleStyle>
      <a:lvl1pPr algn="l" defTabSz="914309" rtl="0" eaLnBrk="1" latinLnBrk="0" hangingPunct="1">
        <a:lnSpc>
          <a:spcPct val="90000"/>
        </a:lnSpc>
        <a:spcBef>
          <a:spcPct val="0"/>
        </a:spcBef>
        <a:buNone/>
        <a:defRPr sz="3200" b="1" kern="1200">
          <a:solidFill>
            <a:srgbClr val="5B9BD5"/>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de-DE"/>
      </a:defPPr>
      <a:lvl1pPr marL="0" algn="l" defTabSz="914309" rtl="0" eaLnBrk="1" latinLnBrk="0" hangingPunct="1">
        <a:defRPr sz="1867" kern="1200">
          <a:solidFill>
            <a:schemeClr val="tx1"/>
          </a:solidFill>
          <a:latin typeface="+mn-lt"/>
          <a:ea typeface="+mn-ea"/>
          <a:cs typeface="+mn-cs"/>
        </a:defRPr>
      </a:lvl1pPr>
      <a:lvl2pPr marL="457155" algn="l" defTabSz="914309" rtl="0" eaLnBrk="1" latinLnBrk="0" hangingPunct="1">
        <a:defRPr sz="1867" kern="1200">
          <a:solidFill>
            <a:schemeClr val="tx1"/>
          </a:solidFill>
          <a:latin typeface="+mn-lt"/>
          <a:ea typeface="+mn-ea"/>
          <a:cs typeface="+mn-cs"/>
        </a:defRPr>
      </a:lvl2pPr>
      <a:lvl3pPr marL="914309" algn="l" defTabSz="914309" rtl="0" eaLnBrk="1" latinLnBrk="0" hangingPunct="1">
        <a:defRPr sz="1867" kern="1200">
          <a:solidFill>
            <a:schemeClr val="tx1"/>
          </a:solidFill>
          <a:latin typeface="+mn-lt"/>
          <a:ea typeface="+mn-ea"/>
          <a:cs typeface="+mn-cs"/>
        </a:defRPr>
      </a:lvl3pPr>
      <a:lvl4pPr marL="1371464" algn="l" defTabSz="914309" rtl="0" eaLnBrk="1" latinLnBrk="0" hangingPunct="1">
        <a:defRPr sz="1867" kern="1200">
          <a:solidFill>
            <a:schemeClr val="tx1"/>
          </a:solidFill>
          <a:latin typeface="+mn-lt"/>
          <a:ea typeface="+mn-ea"/>
          <a:cs typeface="+mn-cs"/>
        </a:defRPr>
      </a:lvl4pPr>
      <a:lvl5pPr marL="1828618" algn="l" defTabSz="914309" rtl="0" eaLnBrk="1" latinLnBrk="0" hangingPunct="1">
        <a:defRPr sz="1867" kern="1200">
          <a:solidFill>
            <a:schemeClr val="tx1"/>
          </a:solidFill>
          <a:latin typeface="+mn-lt"/>
          <a:ea typeface="+mn-ea"/>
          <a:cs typeface="+mn-cs"/>
        </a:defRPr>
      </a:lvl5pPr>
      <a:lvl6pPr marL="2285774" algn="l" defTabSz="914309" rtl="0" eaLnBrk="1" latinLnBrk="0" hangingPunct="1">
        <a:defRPr sz="1867" kern="1200">
          <a:solidFill>
            <a:schemeClr val="tx1"/>
          </a:solidFill>
          <a:latin typeface="+mn-lt"/>
          <a:ea typeface="+mn-ea"/>
          <a:cs typeface="+mn-cs"/>
        </a:defRPr>
      </a:lvl6pPr>
      <a:lvl7pPr marL="2742926" algn="l" defTabSz="914309" rtl="0" eaLnBrk="1" latinLnBrk="0" hangingPunct="1">
        <a:defRPr sz="1867" kern="1200">
          <a:solidFill>
            <a:schemeClr val="tx1"/>
          </a:solidFill>
          <a:latin typeface="+mn-lt"/>
          <a:ea typeface="+mn-ea"/>
          <a:cs typeface="+mn-cs"/>
        </a:defRPr>
      </a:lvl7pPr>
      <a:lvl8pPr marL="3200080" algn="l" defTabSz="914309" rtl="0" eaLnBrk="1" latinLnBrk="0" hangingPunct="1">
        <a:defRPr sz="1867" kern="1200">
          <a:solidFill>
            <a:schemeClr val="tx1"/>
          </a:solidFill>
          <a:latin typeface="+mn-lt"/>
          <a:ea typeface="+mn-ea"/>
          <a:cs typeface="+mn-cs"/>
        </a:defRPr>
      </a:lvl8pPr>
      <a:lvl9pPr marL="3657235" algn="l" defTabSz="914309"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orient="horz" pos="210" userDrawn="1">
          <p15:clr>
            <a:srgbClr val="F26B43"/>
          </p15:clr>
        </p15:guide>
        <p15:guide id="3" pos="211" userDrawn="1">
          <p15:clr>
            <a:srgbClr val="F26B43"/>
          </p15:clr>
        </p15:guide>
        <p15:guide id="4" pos="5654" userDrawn="1">
          <p15:clr>
            <a:srgbClr val="F26B43"/>
          </p15:clr>
        </p15:guide>
        <p15:guide id="5" orient="horz" pos="9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db-berater/speedup-your-sql-cod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mailto:uwe.ricken@db-berater.de" TargetMode="External"/><Relationship Id="rId7" Type="http://schemas.openxmlformats.org/officeDocument/2006/relationships/image" Target="../media/image8.jpg"/><Relationship Id="rId2" Type="http://schemas.openxmlformats.org/officeDocument/2006/relationships/hyperlink" Target="http://www.db-berater.de/" TargetMode="Externa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hyperlink" Target="https://bsky.app/profile/sqlbambi.bsky.social" TargetMode="External"/><Relationship Id="rId4" Type="http://schemas.openxmlformats.org/officeDocument/2006/relationships/hyperlink" Target="http://www.sqlmaster.de/" TargetMode="External"/><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hyperlink" Target="https://sqlchallenges.de/" TargetMode="External"/><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sqlchallenges" TargetMode="External"/><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db-berater/speedup-your-sql-code" TargetMode="External"/><Relationship Id="rId2" Type="http://schemas.openxmlformats.org/officeDocument/2006/relationships/hyperlink" Target="https://www.db-berater.de/downloads/ERP_DEMO.BAK" TargetMode="Externa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0.xml"/><Relationship Id="rId5" Type="http://schemas.openxmlformats.org/officeDocument/2006/relationships/image" Target="../media/image26.jpeg"/><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dirty="0"/>
              <a:t>Performance optimization</a:t>
            </a:r>
            <a:br>
              <a:rPr lang="en-US" dirty="0"/>
            </a:br>
            <a:r>
              <a:rPr lang="en-US" dirty="0"/>
              <a:t>of badly written SQL code</a:t>
            </a:r>
            <a:br>
              <a:rPr lang="en-US" dirty="0"/>
            </a:br>
            <a:r>
              <a:rPr lang="en-US" sz="2000" b="1" dirty="0">
                <a:solidFill>
                  <a:schemeClr val="accent6">
                    <a:lumMod val="75000"/>
                  </a:schemeClr>
                </a:solidFill>
              </a:rPr>
              <a:t>Enhancing Database Efficiency for Faster, More Scalable Applications</a:t>
            </a:r>
          </a:p>
        </p:txBody>
      </p:sp>
      <p:sp>
        <p:nvSpPr>
          <p:cNvPr id="3" name="Untertitel 2"/>
          <p:cNvSpPr>
            <a:spLocks noGrp="1"/>
          </p:cNvSpPr>
          <p:nvPr>
            <p:ph type="subTitle" idx="1"/>
          </p:nvPr>
        </p:nvSpPr>
        <p:spPr/>
        <p:txBody>
          <a:bodyPr/>
          <a:lstStyle/>
          <a:p>
            <a:r>
              <a:rPr lang="en-US" dirty="0"/>
              <a:t>Uwe Ricken</a:t>
            </a:r>
          </a:p>
        </p:txBody>
      </p:sp>
      <p:sp>
        <p:nvSpPr>
          <p:cNvPr id="4" name="Textfeld 3"/>
          <p:cNvSpPr txBox="1"/>
          <p:nvPr/>
        </p:nvSpPr>
        <p:spPr>
          <a:xfrm>
            <a:off x="337072" y="4389107"/>
            <a:ext cx="11325835" cy="369332"/>
          </a:xfrm>
          <a:prstGeom prst="rect">
            <a:avLst/>
          </a:prstGeom>
          <a:noFill/>
        </p:spPr>
        <p:txBody>
          <a:bodyPr wrap="square" rtlCol="0">
            <a:spAutoFit/>
          </a:bodyPr>
          <a:lstStyle/>
          <a:p>
            <a:pPr algn="ctr"/>
            <a:r>
              <a:rPr lang="en-US" b="1" dirty="0">
                <a:hlinkClick r:id="rId3"/>
              </a:rPr>
              <a:t>https://github.com/db-berater/speedup-your-sql-code</a:t>
            </a:r>
            <a:endParaRPr lang="de-DE" b="1" dirty="0"/>
          </a:p>
        </p:txBody>
      </p:sp>
    </p:spTree>
    <p:extLst>
      <p:ext uri="{BB962C8B-B14F-4D97-AF65-F5344CB8AC3E}">
        <p14:creationId xmlns:p14="http://schemas.microsoft.com/office/powerpoint/2010/main" val="4067710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FC87DFA0-2F98-EEF0-B21C-C94C44FEEF3B}"/>
              </a:ext>
            </a:extLst>
          </p:cNvPr>
          <p:cNvGrpSpPr/>
          <p:nvPr/>
        </p:nvGrpSpPr>
        <p:grpSpPr>
          <a:xfrm>
            <a:off x="685800" y="431800"/>
            <a:ext cx="10820400" cy="5765800"/>
            <a:chOff x="685800" y="431800"/>
            <a:chExt cx="10820400" cy="5765800"/>
          </a:xfrm>
        </p:grpSpPr>
        <p:sp>
          <p:nvSpPr>
            <p:cNvPr id="4" name="Section Divider Bottom">
              <a:extLst>
                <a:ext uri="{FF2B5EF4-FFF2-40B4-BE49-F238E27FC236}">
                  <a16:creationId xmlns:a16="http://schemas.microsoft.com/office/drawing/2014/main" id="{DCB3FAE7-7D92-4287-86AB-3689210E72FA}"/>
                </a:ext>
              </a:extLst>
            </p:cNvPr>
            <p:cNvSpPr/>
            <p:nvPr/>
          </p:nvSpPr>
          <p:spPr>
            <a:xfrm>
              <a:off x="685800" y="4800600"/>
              <a:ext cx="10820400" cy="12700"/>
            </a:xfrm>
            <a:prstGeom prst="rect">
              <a:avLst/>
            </a:prstGeom>
            <a:solidFill>
              <a:srgbClr val="D9E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sp>
          <p:nvSpPr>
            <p:cNvPr id="2" name="Section Divider Top">
              <a:extLst>
                <a:ext uri="{FF2B5EF4-FFF2-40B4-BE49-F238E27FC236}">
                  <a16:creationId xmlns:a16="http://schemas.microsoft.com/office/drawing/2014/main" id="{592FA4A1-93D3-412C-B122-CF831C6CF17B}"/>
                </a:ext>
              </a:extLst>
            </p:cNvPr>
            <p:cNvSpPr/>
            <p:nvPr/>
          </p:nvSpPr>
          <p:spPr>
            <a:xfrm>
              <a:off x="685800" y="2768600"/>
              <a:ext cx="10820400" cy="12700"/>
            </a:xfrm>
            <a:prstGeom prst="rect">
              <a:avLst/>
            </a:prstGeom>
            <a:solidFill>
              <a:srgbClr val="D9E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pic>
          <p:nvPicPr>
            <p:cNvPr id="3" name="Obraz 2">
              <a:extLst>
                <a:ext uri="{FF2B5EF4-FFF2-40B4-BE49-F238E27FC236}">
                  <a16:creationId xmlns:a16="http://schemas.microsoft.com/office/drawing/2014/main" id="{0F081450-2AE8-22BD-F26B-2D78BE9BD0EB}"/>
                </a:ext>
              </a:extLst>
            </p:cNvPr>
            <p:cNvPicPr>
              <a:picLocks noChangeAspect="1"/>
            </p:cNvPicPr>
            <p:nvPr/>
          </p:nvPicPr>
          <p:blipFill>
            <a:blip r:embed="rId2"/>
            <a:stretch>
              <a:fillRect/>
            </a:stretch>
          </p:blipFill>
          <p:spPr>
            <a:xfrm>
              <a:off x="1422400" y="3632200"/>
              <a:ext cx="2895600" cy="850900"/>
            </a:xfrm>
            <a:prstGeom prst="rect">
              <a:avLst/>
            </a:prstGeom>
          </p:spPr>
        </p:pic>
        <p:pic>
          <p:nvPicPr>
            <p:cNvPr id="6" name="Obraz 5">
              <a:extLst>
                <a:ext uri="{FF2B5EF4-FFF2-40B4-BE49-F238E27FC236}">
                  <a16:creationId xmlns:a16="http://schemas.microsoft.com/office/drawing/2014/main" id="{1679883A-2046-D5DA-A2FE-9403DD516C8A}"/>
                </a:ext>
              </a:extLst>
            </p:cNvPr>
            <p:cNvPicPr>
              <a:picLocks noChangeAspect="1"/>
            </p:cNvPicPr>
            <p:nvPr/>
          </p:nvPicPr>
          <p:blipFill>
            <a:blip r:embed="rId3"/>
            <a:stretch>
              <a:fillRect/>
            </a:stretch>
          </p:blipFill>
          <p:spPr>
            <a:xfrm>
              <a:off x="6223000" y="3733800"/>
              <a:ext cx="4445000" cy="622300"/>
            </a:xfrm>
            <a:prstGeom prst="rect">
              <a:avLst/>
            </a:prstGeom>
          </p:spPr>
        </p:pic>
        <p:pic>
          <p:nvPicPr>
            <p:cNvPr id="7" name="Obraz 6">
              <a:extLst>
                <a:ext uri="{FF2B5EF4-FFF2-40B4-BE49-F238E27FC236}">
                  <a16:creationId xmlns:a16="http://schemas.microsoft.com/office/drawing/2014/main" id="{98783738-BCDB-AF7F-3643-782099ED1534}"/>
                </a:ext>
              </a:extLst>
            </p:cNvPr>
            <p:cNvPicPr>
              <a:picLocks noChangeAspect="1"/>
            </p:cNvPicPr>
            <p:nvPr/>
          </p:nvPicPr>
          <p:blipFill>
            <a:blip r:embed="rId4"/>
            <a:stretch>
              <a:fillRect/>
            </a:stretch>
          </p:blipFill>
          <p:spPr>
            <a:xfrm>
              <a:off x="3556000" y="5562600"/>
              <a:ext cx="2489200" cy="546100"/>
            </a:xfrm>
            <a:prstGeom prst="rect">
              <a:avLst/>
            </a:prstGeom>
          </p:spPr>
        </p:pic>
        <p:pic>
          <p:nvPicPr>
            <p:cNvPr id="8" name="Obraz 7">
              <a:extLst>
                <a:ext uri="{FF2B5EF4-FFF2-40B4-BE49-F238E27FC236}">
                  <a16:creationId xmlns:a16="http://schemas.microsoft.com/office/drawing/2014/main" id="{0336A083-A46B-5F16-AFA6-B584103A91B1}"/>
                </a:ext>
              </a:extLst>
            </p:cNvPr>
            <p:cNvPicPr>
              <a:picLocks noChangeAspect="1"/>
            </p:cNvPicPr>
            <p:nvPr/>
          </p:nvPicPr>
          <p:blipFill>
            <a:blip r:embed="rId5"/>
            <a:stretch>
              <a:fillRect/>
            </a:stretch>
          </p:blipFill>
          <p:spPr>
            <a:xfrm>
              <a:off x="7772400" y="5511800"/>
              <a:ext cx="1676400" cy="685800"/>
            </a:xfrm>
            <a:prstGeom prst="rect">
              <a:avLst/>
            </a:prstGeom>
          </p:spPr>
        </p:pic>
        <p:pic>
          <p:nvPicPr>
            <p:cNvPr id="10" name="Grafika 9">
              <a:extLst>
                <a:ext uri="{FF2B5EF4-FFF2-40B4-BE49-F238E27FC236}">
                  <a16:creationId xmlns:a16="http://schemas.microsoft.com/office/drawing/2014/main" id="{0A15739E-A208-5641-6A8C-B43E3944DB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8400" y="1562100"/>
              <a:ext cx="4267200" cy="889000"/>
            </a:xfrm>
            <a:prstGeom prst="rect">
              <a:avLst/>
            </a:prstGeom>
          </p:spPr>
        </p:pic>
        <p:pic>
          <p:nvPicPr>
            <p:cNvPr id="18" name="Grafika 17">
              <a:extLst>
                <a:ext uri="{FF2B5EF4-FFF2-40B4-BE49-F238E27FC236}">
                  <a16:creationId xmlns:a16="http://schemas.microsoft.com/office/drawing/2014/main" id="{9033AEB1-6B3E-B56A-2356-BF52653A82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68400" y="1625600"/>
              <a:ext cx="3149600" cy="838200"/>
            </a:xfrm>
            <a:prstGeom prst="rect">
              <a:avLst/>
            </a:prstGeom>
          </p:spPr>
        </p:pic>
        <p:sp>
          <p:nvSpPr>
            <p:cNvPr id="19" name="pole tekstowe 18">
              <a:extLst>
                <a:ext uri="{FF2B5EF4-FFF2-40B4-BE49-F238E27FC236}">
                  <a16:creationId xmlns:a16="http://schemas.microsoft.com/office/drawing/2014/main" id="{CA0E56EB-39C5-FECF-E463-ABDC264F1FCC}"/>
                </a:ext>
              </a:extLst>
            </p:cNvPr>
            <p:cNvSpPr txBox="1"/>
            <p:nvPr/>
          </p:nvSpPr>
          <p:spPr>
            <a:xfrm>
              <a:off x="685800" y="431800"/>
              <a:ext cx="6604000" cy="431800"/>
            </a:xfrm>
            <a:prstGeom prst="rect">
              <a:avLst/>
            </a:prstGeom>
            <a:noFill/>
          </p:spPr>
          <p:txBody>
            <a:bodyPr wrap="square" rtlCol="0">
              <a:spAutoFit/>
            </a:bodyPr>
            <a:lstStyle/>
            <a:p>
              <a:pPr algn="l"/>
              <a:r>
                <a:rPr lang="en-US" sz="2400" b="1" dirty="0">
                  <a:solidFill>
                    <a:srgbClr val="0B2239"/>
                  </a:solidFill>
                  <a:latin typeface="Aptos Display"/>
                </a:rPr>
                <a:t>PARTNERS &amp; SPONSORS</a:t>
              </a:r>
            </a:p>
          </p:txBody>
        </p:sp>
        <p:sp>
          <p:nvSpPr>
            <p:cNvPr id="21" name="pole tekstowe 20">
              <a:extLst>
                <a:ext uri="{FF2B5EF4-FFF2-40B4-BE49-F238E27FC236}">
                  <a16:creationId xmlns:a16="http://schemas.microsoft.com/office/drawing/2014/main" id="{366A59E4-9424-DE13-C6DB-2DDB522FF43E}"/>
                </a:ext>
              </a:extLst>
            </p:cNvPr>
            <p:cNvSpPr txBox="1"/>
            <p:nvPr/>
          </p:nvSpPr>
          <p:spPr>
            <a:xfrm>
              <a:off x="685800" y="3073400"/>
              <a:ext cx="2286000" cy="228600"/>
            </a:xfrm>
            <a:prstGeom prst="rect">
              <a:avLst/>
            </a:prstGeom>
            <a:noFill/>
          </p:spPr>
          <p:txBody>
            <a:bodyPr wrap="square" rtlCol="0">
              <a:spAutoFit/>
            </a:bodyPr>
            <a:lstStyle/>
            <a:p>
              <a:pPr algn="l"/>
              <a:r>
                <a:rPr lang="en-US" sz="1100" b="1" dirty="0">
                  <a:solidFill>
                    <a:srgbClr val="E85D04"/>
                  </a:solidFill>
                  <a:latin typeface="Aptos"/>
                </a:rPr>
                <a:t>GOLD SPONSORS</a:t>
              </a:r>
            </a:p>
          </p:txBody>
        </p:sp>
        <p:sp>
          <p:nvSpPr>
            <p:cNvPr id="23" name="pole tekstowe 22">
              <a:extLst>
                <a:ext uri="{FF2B5EF4-FFF2-40B4-BE49-F238E27FC236}">
                  <a16:creationId xmlns:a16="http://schemas.microsoft.com/office/drawing/2014/main" id="{3377BE66-D5FE-8D9E-E9D6-DDD016F3E905}"/>
                </a:ext>
              </a:extLst>
            </p:cNvPr>
            <p:cNvSpPr txBox="1"/>
            <p:nvPr/>
          </p:nvSpPr>
          <p:spPr>
            <a:xfrm>
              <a:off x="685800" y="5105400"/>
              <a:ext cx="2286000" cy="228600"/>
            </a:xfrm>
            <a:prstGeom prst="rect">
              <a:avLst/>
            </a:prstGeom>
            <a:noFill/>
          </p:spPr>
          <p:txBody>
            <a:bodyPr wrap="square" rtlCol="0">
              <a:spAutoFit/>
            </a:bodyPr>
            <a:lstStyle/>
            <a:p>
              <a:pPr algn="l"/>
              <a:r>
                <a:rPr lang="en-US" sz="1100" b="1" dirty="0">
                  <a:solidFill>
                    <a:srgbClr val="E85D04"/>
                  </a:solidFill>
                  <a:latin typeface="Aptos"/>
                </a:rPr>
                <a:t>PATRONS</a:t>
              </a:r>
            </a:p>
          </p:txBody>
        </p:sp>
        <p:sp>
          <p:nvSpPr>
            <p:cNvPr id="24" name="Organizer Section Label">
              <a:extLst>
                <a:ext uri="{FF2B5EF4-FFF2-40B4-BE49-F238E27FC236}">
                  <a16:creationId xmlns:a16="http://schemas.microsoft.com/office/drawing/2014/main" id="{F647E6F6-5516-4F64-BDF0-880254706A14}"/>
                </a:ext>
              </a:extLst>
            </p:cNvPr>
            <p:cNvSpPr txBox="1"/>
            <p:nvPr/>
          </p:nvSpPr>
          <p:spPr>
            <a:xfrm>
              <a:off x="685800" y="1168400"/>
              <a:ext cx="2286000" cy="228600"/>
            </a:xfrm>
            <a:prstGeom prst="rect">
              <a:avLst/>
            </a:prstGeom>
            <a:noFill/>
          </p:spPr>
          <p:txBody>
            <a:bodyPr vertOverflow="overflow" vert="horz" wrap="square" rtlCol="0" anchor="t">
              <a:noAutofit/>
            </a:bodyPr>
            <a:lstStyle/>
            <a:p>
              <a:pPr algn="l"/>
              <a:r>
                <a:rPr lang="pl-PL" sz="1100" b="1">
                  <a:solidFill>
                    <a:srgbClr val="E85D04"/>
                  </a:solidFill>
                  <a:latin typeface="Aptos"/>
                </a:rPr>
                <a:t>ORGANIZERS</a:t>
              </a:r>
            </a:p>
          </p:txBody>
        </p:sp>
        <p:sp>
          <p:nvSpPr>
            <p:cNvPr id="27" name="Title Accent">
              <a:extLst>
                <a:ext uri="{FF2B5EF4-FFF2-40B4-BE49-F238E27FC236}">
                  <a16:creationId xmlns:a16="http://schemas.microsoft.com/office/drawing/2014/main" id="{5B583DAD-45A3-43CC-91BA-989A34E7DC4F}"/>
                </a:ext>
              </a:extLst>
            </p:cNvPr>
            <p:cNvSpPr/>
            <p:nvPr/>
          </p:nvSpPr>
          <p:spPr>
            <a:xfrm>
              <a:off x="685800" y="939800"/>
              <a:ext cx="584200" cy="38100"/>
            </a:xfrm>
            <a:prstGeom prst="rect">
              <a:avLst/>
            </a:prstGeom>
            <a:solidFill>
              <a:srgbClr val="E85D0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l-PL"/>
            </a:p>
          </p:txBody>
        </p:sp>
      </p:grpSp>
    </p:spTree>
    <p:extLst>
      <p:ext uri="{BB962C8B-B14F-4D97-AF65-F5344CB8AC3E}">
        <p14:creationId xmlns:p14="http://schemas.microsoft.com/office/powerpoint/2010/main" val="929359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Uwe Ricken</a:t>
            </a:r>
            <a:br>
              <a:rPr lang="de-DE" dirty="0"/>
            </a:br>
            <a:r>
              <a:rPr lang="de-DE" sz="1800" b="0" dirty="0"/>
              <a:t>db </a:t>
            </a:r>
            <a:r>
              <a:rPr lang="de-DE" sz="1800" b="0" dirty="0">
                <a:solidFill>
                  <a:schemeClr val="tx1"/>
                </a:solidFill>
              </a:rPr>
              <a:t>Berater GmbH</a:t>
            </a:r>
          </a:p>
        </p:txBody>
      </p:sp>
      <p:sp>
        <p:nvSpPr>
          <p:cNvPr id="2" name="Inhaltsplatzhalter 1"/>
          <p:cNvSpPr>
            <a:spLocks noGrp="1"/>
          </p:cNvSpPr>
          <p:nvPr>
            <p:ph sz="half" idx="1"/>
          </p:nvPr>
        </p:nvSpPr>
        <p:spPr>
          <a:prstGeom prst="rect">
            <a:avLst/>
          </a:prstGeom>
        </p:spPr>
        <p:txBody>
          <a:bodyPr>
            <a:normAutofit/>
          </a:bodyPr>
          <a:lstStyle/>
          <a:p>
            <a:pPr marL="0" indent="0">
              <a:buNone/>
            </a:pPr>
            <a:r>
              <a:rPr lang="en-US" sz="1400" dirty="0"/>
              <a:t>I am working with IT-systems since early 1990's and with the main focus on </a:t>
            </a:r>
            <a:r>
              <a:rPr lang="en-US" sz="1400" b="1" i="1" dirty="0">
                <a:solidFill>
                  <a:schemeClr val="accent5"/>
                </a:solidFill>
              </a:rPr>
              <a:t>Microsoft SQL Server </a:t>
            </a:r>
            <a:r>
              <a:rPr lang="en-US" sz="1400" dirty="0"/>
              <a:t>since version 6.0. I started with development of database applications in 1998 with a professional CRM-System based on Microsoft products (Microsoft Office and </a:t>
            </a:r>
            <a:r>
              <a:rPr lang="en-US" sz="1400" b="1" i="1" dirty="0">
                <a:solidFill>
                  <a:schemeClr val="accent5"/>
                </a:solidFill>
              </a:rPr>
              <a:t>Microsoft SQL Server</a:t>
            </a:r>
            <a:r>
              <a:rPr lang="en-US" sz="1400" dirty="0"/>
              <a:t>).</a:t>
            </a:r>
          </a:p>
          <a:p>
            <a:pPr marL="0" indent="0">
              <a:buNone/>
            </a:pPr>
            <a:br>
              <a:rPr lang="en-US" sz="1400" dirty="0"/>
            </a:br>
            <a:r>
              <a:rPr lang="en-US" sz="1400" dirty="0"/>
              <a:t>Since 2008 I'm focused exclusively on </a:t>
            </a:r>
            <a:r>
              <a:rPr lang="en-US" sz="1400" b="1" i="1" dirty="0">
                <a:solidFill>
                  <a:schemeClr val="accent5"/>
                </a:solidFill>
              </a:rPr>
              <a:t>Microsoft SQL Server</a:t>
            </a:r>
            <a:r>
              <a:rPr lang="en-US" sz="1400" dirty="0"/>
              <a:t> and working in 3rd level support teams for banks, insurances and global industries.</a:t>
            </a:r>
          </a:p>
          <a:p>
            <a:pPr marL="0" indent="0">
              <a:buNone/>
            </a:pPr>
            <a:endParaRPr lang="en-US" sz="1400" dirty="0"/>
          </a:p>
          <a:p>
            <a:pPr marL="0" indent="0">
              <a:buNone/>
            </a:pPr>
            <a:r>
              <a:rPr lang="en-US" sz="1400" dirty="0"/>
              <a:t>Since May 2013 I am a </a:t>
            </a:r>
            <a:r>
              <a:rPr lang="en-US" sz="1400" b="1" dirty="0">
                <a:solidFill>
                  <a:srgbClr val="FF0000"/>
                </a:solidFill>
              </a:rPr>
              <a:t>Microsoft Certified Master: SQL Server 2008 </a:t>
            </a:r>
            <a:r>
              <a:rPr lang="en-US" sz="1400" dirty="0"/>
              <a:t>which was an amazing way into the depth of </a:t>
            </a:r>
            <a:r>
              <a:rPr lang="en-US" sz="1400" b="1" i="1" dirty="0">
                <a:solidFill>
                  <a:schemeClr val="accent5"/>
                </a:solidFill>
              </a:rPr>
              <a:t>Microsoft SQL Server</a:t>
            </a:r>
            <a:r>
              <a:rPr lang="en-US" sz="1400" dirty="0"/>
              <a:t>.</a:t>
            </a:r>
          </a:p>
          <a:p>
            <a:pPr marL="0" indent="0">
              <a:buNone/>
            </a:pPr>
            <a:endParaRPr lang="en-US" sz="1400" dirty="0"/>
          </a:p>
          <a:p>
            <a:pPr marL="0" indent="0">
              <a:buNone/>
            </a:pPr>
            <a:r>
              <a:rPr lang="en-US" sz="1400" dirty="0"/>
              <a:t>In July 2013 I have been awarded with the MVP Award for </a:t>
            </a:r>
            <a:r>
              <a:rPr lang="en-US" sz="1400" b="1" i="1" dirty="0">
                <a:solidFill>
                  <a:schemeClr val="accent5"/>
                </a:solidFill>
              </a:rPr>
              <a:t>Microsoft SQL Server</a:t>
            </a:r>
            <a:r>
              <a:rPr lang="en-US" sz="1400" dirty="0"/>
              <a:t>.</a:t>
            </a:r>
            <a:endParaRPr lang="de-DE" sz="1400" dirty="0"/>
          </a:p>
        </p:txBody>
      </p:sp>
      <p:sp>
        <p:nvSpPr>
          <p:cNvPr id="6" name="Textplatzhalter 5"/>
          <p:cNvSpPr>
            <a:spLocks noGrp="1"/>
          </p:cNvSpPr>
          <p:nvPr>
            <p:ph sz="half" idx="2"/>
          </p:nvPr>
        </p:nvSpPr>
        <p:spPr>
          <a:prstGeom prst="rect">
            <a:avLst/>
          </a:prstGeom>
        </p:spPr>
        <p:txBody>
          <a:bodyPr>
            <a:noAutofit/>
          </a:bodyPr>
          <a:lstStyle/>
          <a:p>
            <a:pPr marL="0" indent="0">
              <a:buNone/>
              <a:tabLst>
                <a:tab pos="903243" algn="l"/>
              </a:tabLst>
            </a:pPr>
            <a:r>
              <a:rPr lang="de-DE" sz="1400" b="1" dirty="0" err="1"/>
              <a:t>www</a:t>
            </a:r>
            <a:r>
              <a:rPr lang="de-DE" sz="1400" dirty="0"/>
              <a:t>:	</a:t>
            </a:r>
            <a:r>
              <a:rPr lang="de-DE" sz="1400" dirty="0">
                <a:hlinkClick r:id="rId2"/>
              </a:rPr>
              <a:t>http://www.db-berater.de</a:t>
            </a:r>
            <a:endParaRPr lang="de-DE" sz="1400" dirty="0"/>
          </a:p>
          <a:p>
            <a:pPr marL="0" indent="0">
              <a:buNone/>
              <a:tabLst>
                <a:tab pos="903243" algn="l"/>
              </a:tabLst>
            </a:pPr>
            <a:r>
              <a:rPr lang="de-DE" sz="1400" b="1" dirty="0"/>
              <a:t>email</a:t>
            </a:r>
            <a:r>
              <a:rPr lang="de-DE" sz="1400" dirty="0"/>
              <a:t>:	</a:t>
            </a:r>
            <a:r>
              <a:rPr lang="de-DE" sz="1400" dirty="0">
                <a:hlinkClick r:id="rId3"/>
              </a:rPr>
              <a:t>uwe.ricken@db-berater.de</a:t>
            </a:r>
            <a:endParaRPr lang="de-DE" sz="1400" dirty="0"/>
          </a:p>
          <a:p>
            <a:pPr marL="0" indent="0">
              <a:buNone/>
              <a:tabLst>
                <a:tab pos="903243" algn="l"/>
              </a:tabLst>
            </a:pPr>
            <a:r>
              <a:rPr lang="de-DE" sz="1400" b="1" dirty="0" err="1"/>
              <a:t>blog</a:t>
            </a:r>
            <a:r>
              <a:rPr lang="de-DE" sz="1400" dirty="0"/>
              <a:t>:	</a:t>
            </a:r>
            <a:r>
              <a:rPr lang="de-DE" sz="1400" dirty="0">
                <a:hlinkClick r:id="rId4"/>
              </a:rPr>
              <a:t>http://www.sqlmaster.de</a:t>
            </a:r>
            <a:endParaRPr lang="de-DE" sz="1400" dirty="0"/>
          </a:p>
          <a:p>
            <a:pPr marL="0" indent="0">
              <a:buNone/>
              <a:tabLst>
                <a:tab pos="903243" algn="l"/>
              </a:tabLst>
            </a:pPr>
            <a:r>
              <a:rPr lang="de-DE" sz="1400" b="1" dirty="0" err="1"/>
              <a:t>BlueSky</a:t>
            </a:r>
            <a:r>
              <a:rPr lang="de-DE" sz="1400" dirty="0"/>
              <a:t>:	</a:t>
            </a:r>
            <a:r>
              <a:rPr lang="de-DE" sz="1400" dirty="0">
                <a:hlinkClick r:id="rId5"/>
              </a:rPr>
              <a:t>@sqlbambi</a:t>
            </a:r>
            <a:endParaRPr lang="de-DE" sz="1400" dirty="0"/>
          </a:p>
        </p:txBody>
      </p:sp>
      <p:pic>
        <p:nvPicPr>
          <p:cNvPr id="7" name="Grafik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44272" y="3494589"/>
            <a:ext cx="1143000" cy="835819"/>
          </a:xfrm>
          <a:prstGeom prst="rect">
            <a:avLst/>
          </a:prstGeom>
        </p:spPr>
      </p:pic>
      <p:pic>
        <p:nvPicPr>
          <p:cNvPr id="8" name="Grafik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90472" y="3494589"/>
            <a:ext cx="1143000" cy="857251"/>
          </a:xfrm>
          <a:prstGeom prst="rect">
            <a:avLst/>
          </a:prstGeom>
        </p:spPr>
      </p:pic>
      <p:pic>
        <p:nvPicPr>
          <p:cNvPr id="9" name="Grafik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44273" y="4682333"/>
            <a:ext cx="1458955" cy="598545"/>
          </a:xfrm>
          <a:prstGeom prst="rect">
            <a:avLst/>
          </a:prstGeom>
        </p:spPr>
      </p:pic>
      <p:pic>
        <p:nvPicPr>
          <p:cNvPr id="5" name="Grafik 4" descr="Ein Bild, das Person, Mann, Brille, tragen enthält.&#10;&#10;Automatisch generierte Beschreibung">
            <a:extLst>
              <a:ext uri="{FF2B5EF4-FFF2-40B4-BE49-F238E27FC236}">
                <a16:creationId xmlns:a16="http://schemas.microsoft.com/office/drawing/2014/main" id="{46333317-A6F3-B2D3-B9F5-6B4A79A834B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38258"/>
          <a:stretch/>
        </p:blipFill>
        <p:spPr>
          <a:xfrm>
            <a:off x="6499642" y="3429000"/>
            <a:ext cx="1715073" cy="1851877"/>
          </a:xfrm>
          <a:prstGeom prst="rect">
            <a:avLst/>
          </a:prstGeom>
        </p:spPr>
      </p:pic>
    </p:spTree>
    <p:extLst>
      <p:ext uri="{BB962C8B-B14F-4D97-AF65-F5344CB8AC3E}">
        <p14:creationId xmlns:p14="http://schemas.microsoft.com/office/powerpoint/2010/main" val="1907480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5341E920-2BA9-C6AC-D645-F3BC0BFB52EB}"/>
              </a:ext>
            </a:extLst>
          </p:cNvPr>
          <p:cNvPicPr>
            <a:picLocks noChangeAspect="1"/>
          </p:cNvPicPr>
          <p:nvPr/>
        </p:nvPicPr>
        <p:blipFill>
          <a:blip r:embed="rId2"/>
          <a:stretch>
            <a:fillRect/>
          </a:stretch>
        </p:blipFill>
        <p:spPr>
          <a:xfrm>
            <a:off x="5368066" y="2149215"/>
            <a:ext cx="6488975" cy="3617602"/>
          </a:xfrm>
          <a:prstGeom prst="rect">
            <a:avLst/>
          </a:prstGeom>
          <a:noFill/>
        </p:spPr>
      </p:pic>
      <p:sp>
        <p:nvSpPr>
          <p:cNvPr id="12" name="Text Placeholder 2">
            <a:extLst>
              <a:ext uri="{FF2B5EF4-FFF2-40B4-BE49-F238E27FC236}">
                <a16:creationId xmlns:a16="http://schemas.microsoft.com/office/drawing/2014/main" id="{DD5F1E84-96EA-2FC2-EB23-C97E371DEE20}"/>
              </a:ext>
            </a:extLst>
          </p:cNvPr>
          <p:cNvSpPr>
            <a:spLocks noGrp="1"/>
          </p:cNvSpPr>
          <p:nvPr>
            <p:ph type="body" sz="half" idx="2"/>
          </p:nvPr>
        </p:nvSpPr>
        <p:spPr>
          <a:xfrm>
            <a:off x="334964" y="1678742"/>
            <a:ext cx="5033101" cy="4558548"/>
          </a:xfrm>
        </p:spPr>
        <p:txBody>
          <a:bodyPr/>
          <a:lstStyle/>
          <a:p>
            <a:r>
              <a:rPr lang="en-US" dirty="0"/>
              <a:t>Get a challenge at least once a month</a:t>
            </a:r>
          </a:p>
          <a:p>
            <a:r>
              <a:rPr lang="en-US" dirty="0"/>
              <a:t>Connect to a provided SQL Server Instance</a:t>
            </a:r>
          </a:p>
          <a:p>
            <a:r>
              <a:rPr lang="en-US" dirty="0"/>
              <a:t>Load the challenge scenario</a:t>
            </a:r>
          </a:p>
          <a:p>
            <a:r>
              <a:rPr lang="en-US" dirty="0"/>
              <a:t>Try to solve it</a:t>
            </a:r>
          </a:p>
          <a:p>
            <a:r>
              <a:rPr lang="en-US" dirty="0"/>
              <a:t>Blog about your solution</a:t>
            </a:r>
          </a:p>
          <a:p>
            <a:r>
              <a:rPr lang="en-US" dirty="0"/>
              <a:t>Leave a link in the comments of the challenge to your blog post.</a:t>
            </a:r>
          </a:p>
          <a:p>
            <a:endParaRPr lang="en-US" dirty="0"/>
          </a:p>
          <a:p>
            <a:endParaRPr lang="en-US" dirty="0"/>
          </a:p>
          <a:p>
            <a:r>
              <a:rPr lang="en-US" dirty="0">
                <a:hlinkClick r:id="rId3"/>
              </a:rPr>
              <a:t>https://sqlchallenges</a:t>
            </a:r>
            <a:r>
              <a:rPr lang="en-US">
                <a:hlinkClick r:id="rId3"/>
              </a:rPr>
              <a:t>.de</a:t>
            </a:r>
            <a:endParaRPr lang="en-US" dirty="0"/>
          </a:p>
        </p:txBody>
      </p:sp>
      <p:sp>
        <p:nvSpPr>
          <p:cNvPr id="5" name="Titel 4">
            <a:extLst>
              <a:ext uri="{FF2B5EF4-FFF2-40B4-BE49-F238E27FC236}">
                <a16:creationId xmlns:a16="http://schemas.microsoft.com/office/drawing/2014/main" id="{B6F77BBF-034A-A53E-C4B8-E4039AC9F0F3}"/>
              </a:ext>
            </a:extLst>
          </p:cNvPr>
          <p:cNvSpPr>
            <a:spLocks noGrp="1"/>
          </p:cNvSpPr>
          <p:nvPr>
            <p:ph type="title"/>
          </p:nvPr>
        </p:nvSpPr>
        <p:spPr>
          <a:xfrm>
            <a:off x="334963" y="441326"/>
            <a:ext cx="9037637" cy="1116015"/>
          </a:xfrm>
        </p:spPr>
        <p:txBody>
          <a:bodyPr anchor="ctr">
            <a:normAutofit/>
          </a:bodyPr>
          <a:lstStyle/>
          <a:p>
            <a:r>
              <a:rPr lang="en-US" dirty="0"/>
              <a:t>Challenge SQL Server real world scenarios</a:t>
            </a:r>
          </a:p>
        </p:txBody>
      </p:sp>
    </p:spTree>
    <p:extLst>
      <p:ext uri="{BB962C8B-B14F-4D97-AF65-F5344CB8AC3E}">
        <p14:creationId xmlns:p14="http://schemas.microsoft.com/office/powerpoint/2010/main" val="920116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3B7A7-38F8-B838-82CA-C5F4C9603EE0}"/>
            </a:ext>
          </a:extLst>
        </p:cNvPr>
        <p:cNvGrpSpPr/>
        <p:nvPr/>
      </p:nvGrpSpPr>
      <p:grpSpPr>
        <a:xfrm>
          <a:off x="0" y="0"/>
          <a:ext cx="0" cy="0"/>
          <a:chOff x="0" y="0"/>
          <a:chExt cx="0" cy="0"/>
        </a:xfrm>
      </p:grpSpPr>
      <p:pic>
        <p:nvPicPr>
          <p:cNvPr id="7" name="Grafik 6">
            <a:extLst>
              <a:ext uri="{FF2B5EF4-FFF2-40B4-BE49-F238E27FC236}">
                <a16:creationId xmlns:a16="http://schemas.microsoft.com/office/drawing/2014/main" id="{33FA4640-BA19-235A-185B-0650C5C7D5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5661" y="2149215"/>
            <a:ext cx="6113784" cy="3617602"/>
          </a:xfrm>
          <a:prstGeom prst="rect">
            <a:avLst/>
          </a:prstGeom>
          <a:noFill/>
        </p:spPr>
      </p:pic>
      <p:sp>
        <p:nvSpPr>
          <p:cNvPr id="12" name="Text Placeholder 2">
            <a:extLst>
              <a:ext uri="{FF2B5EF4-FFF2-40B4-BE49-F238E27FC236}">
                <a16:creationId xmlns:a16="http://schemas.microsoft.com/office/drawing/2014/main" id="{030E739F-4D36-9988-A5D5-ED27689E99A6}"/>
              </a:ext>
            </a:extLst>
          </p:cNvPr>
          <p:cNvSpPr>
            <a:spLocks noGrp="1"/>
          </p:cNvSpPr>
          <p:nvPr>
            <p:ph type="body" sz="half" idx="2"/>
          </p:nvPr>
        </p:nvSpPr>
        <p:spPr>
          <a:xfrm>
            <a:off x="334964" y="1678742"/>
            <a:ext cx="5033101" cy="4558548"/>
          </a:xfrm>
        </p:spPr>
        <p:txBody>
          <a:bodyPr/>
          <a:lstStyle/>
          <a:p>
            <a:pPr lvl="0"/>
            <a:r>
              <a:rPr lang="en-US" dirty="0"/>
              <a:t>Learn SQL Server concepts through relatable real‑world analogies</a:t>
            </a:r>
          </a:p>
          <a:p>
            <a:pPr lvl="0"/>
            <a:r>
              <a:rPr lang="en-US" dirty="0"/>
              <a:t>Understand engine behavior without deep technical prerequisites</a:t>
            </a:r>
          </a:p>
          <a:p>
            <a:pPr lvl="0"/>
            <a:r>
              <a:rPr lang="en-US" dirty="0"/>
              <a:t>Bridge the gap between technical and non‑technical roles</a:t>
            </a:r>
          </a:p>
          <a:p>
            <a:pPr lvl="0"/>
            <a:r>
              <a:rPr lang="en-US" dirty="0"/>
              <a:t>Make performance, security, and architecture decisions easier to grasp</a:t>
            </a:r>
          </a:p>
          <a:p>
            <a:pPr lvl="0"/>
            <a:r>
              <a:rPr lang="en-US" dirty="0"/>
              <a:t>Build lasting intuition by connecting SQL Server to everyday situations</a:t>
            </a:r>
          </a:p>
          <a:p>
            <a:pPr marL="0" indent="0">
              <a:buNone/>
            </a:pPr>
            <a:endParaRPr lang="en-US" dirty="0"/>
          </a:p>
          <a:p>
            <a:endParaRPr lang="en-US" dirty="0"/>
          </a:p>
          <a:p>
            <a:r>
              <a:rPr lang="en-US" dirty="0">
                <a:hlinkClick r:id="rId3"/>
              </a:rPr>
              <a:t>https://www.youtube.com/@sqlchallenges</a:t>
            </a:r>
            <a:endParaRPr lang="en-US" dirty="0"/>
          </a:p>
        </p:txBody>
      </p:sp>
      <p:sp>
        <p:nvSpPr>
          <p:cNvPr id="5" name="Titel 4">
            <a:extLst>
              <a:ext uri="{FF2B5EF4-FFF2-40B4-BE49-F238E27FC236}">
                <a16:creationId xmlns:a16="http://schemas.microsoft.com/office/drawing/2014/main" id="{EAFBAEE6-1C06-A4DC-817F-EB456C458872}"/>
              </a:ext>
            </a:extLst>
          </p:cNvPr>
          <p:cNvSpPr>
            <a:spLocks noGrp="1"/>
          </p:cNvSpPr>
          <p:nvPr>
            <p:ph type="title"/>
          </p:nvPr>
        </p:nvSpPr>
        <p:spPr>
          <a:xfrm>
            <a:off x="334963" y="441326"/>
            <a:ext cx="9037637" cy="1116015"/>
          </a:xfrm>
        </p:spPr>
        <p:txBody>
          <a:bodyPr anchor="ctr">
            <a:normAutofit/>
          </a:bodyPr>
          <a:lstStyle/>
          <a:p>
            <a:r>
              <a:rPr lang="en-US" dirty="0"/>
              <a:t>SQL Server for Juniors, Managers &amp; Consultants</a:t>
            </a:r>
          </a:p>
        </p:txBody>
      </p:sp>
    </p:spTree>
    <p:extLst>
      <p:ext uri="{BB962C8B-B14F-4D97-AF65-F5344CB8AC3E}">
        <p14:creationId xmlns:p14="http://schemas.microsoft.com/office/powerpoint/2010/main" val="103624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a:t>Break Times</a:t>
            </a:r>
          </a:p>
        </p:txBody>
      </p:sp>
      <p:sp>
        <p:nvSpPr>
          <p:cNvPr id="6" name="Inhaltsplatzhalter 5"/>
          <p:cNvSpPr>
            <a:spLocks noGrp="1"/>
          </p:cNvSpPr>
          <p:nvPr>
            <p:ph idx="1"/>
          </p:nvPr>
        </p:nvSpPr>
        <p:spPr/>
        <p:txBody>
          <a:bodyPr>
            <a:normAutofit/>
          </a:bodyPr>
          <a:lstStyle/>
          <a:p>
            <a:pPr lvl="1"/>
            <a:r>
              <a:rPr lang="de-DE" dirty="0"/>
              <a:t>09:00 – 10:30		Session</a:t>
            </a:r>
            <a:br>
              <a:rPr lang="de-DE" dirty="0"/>
            </a:br>
            <a:endParaRPr lang="de-DE" dirty="0"/>
          </a:p>
          <a:p>
            <a:pPr lvl="1"/>
            <a:r>
              <a:rPr lang="de-DE" dirty="0"/>
              <a:t>10:30 – 11:00		Coffee Break</a:t>
            </a:r>
            <a:br>
              <a:rPr lang="de-DE" dirty="0"/>
            </a:br>
            <a:endParaRPr lang="de-DE" dirty="0"/>
          </a:p>
          <a:p>
            <a:pPr lvl="1"/>
            <a:r>
              <a:rPr lang="de-DE" dirty="0"/>
              <a:t>11:00 – 12:30		Session</a:t>
            </a:r>
            <a:br>
              <a:rPr lang="de-DE" dirty="0"/>
            </a:br>
            <a:endParaRPr lang="de-DE" dirty="0"/>
          </a:p>
          <a:p>
            <a:pPr lvl="1"/>
            <a:r>
              <a:rPr lang="de-DE" dirty="0"/>
              <a:t>12:30 – 13:30		Lunch Break</a:t>
            </a:r>
            <a:br>
              <a:rPr lang="de-DE" dirty="0"/>
            </a:br>
            <a:endParaRPr lang="de-DE" dirty="0"/>
          </a:p>
          <a:p>
            <a:pPr lvl="1"/>
            <a:r>
              <a:rPr lang="de-DE" dirty="0"/>
              <a:t>13:30 – 15:00		Session</a:t>
            </a:r>
            <a:br>
              <a:rPr lang="de-DE" dirty="0"/>
            </a:br>
            <a:endParaRPr lang="de-DE" dirty="0"/>
          </a:p>
          <a:p>
            <a:pPr lvl="1"/>
            <a:r>
              <a:rPr lang="de-DE" dirty="0"/>
              <a:t>15:00 – 15:30		Coffee Break</a:t>
            </a:r>
            <a:br>
              <a:rPr lang="de-DE" dirty="0"/>
            </a:br>
            <a:endParaRPr lang="de-DE" dirty="0"/>
          </a:p>
          <a:p>
            <a:pPr lvl="1"/>
            <a:r>
              <a:rPr lang="de-DE" dirty="0"/>
              <a:t>15:30 – 16:45 / 17:00	Session</a:t>
            </a:r>
          </a:p>
        </p:txBody>
      </p:sp>
    </p:spTree>
    <p:extLst>
      <p:ext uri="{BB962C8B-B14F-4D97-AF65-F5344CB8AC3E}">
        <p14:creationId xmlns:p14="http://schemas.microsoft.com/office/powerpoint/2010/main" val="320370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A6C95F-FCB1-A51E-BF18-16623A9BED5D}"/>
              </a:ext>
            </a:extLst>
          </p:cNvPr>
          <p:cNvSpPr>
            <a:spLocks noGrp="1"/>
          </p:cNvSpPr>
          <p:nvPr>
            <p:ph type="title"/>
          </p:nvPr>
        </p:nvSpPr>
        <p:spPr/>
        <p:txBody>
          <a:bodyPr/>
          <a:lstStyle/>
          <a:p>
            <a:r>
              <a:rPr lang="en-US" dirty="0"/>
              <a:t>Action List</a:t>
            </a:r>
          </a:p>
        </p:txBody>
      </p:sp>
      <p:sp>
        <p:nvSpPr>
          <p:cNvPr id="3" name="Inhaltsplatzhalter 2">
            <a:extLst>
              <a:ext uri="{FF2B5EF4-FFF2-40B4-BE49-F238E27FC236}">
                <a16:creationId xmlns:a16="http://schemas.microsoft.com/office/drawing/2014/main" id="{1CC3EFE6-35B9-9AA1-35A3-B1D8A4A7FE9F}"/>
              </a:ext>
            </a:extLst>
          </p:cNvPr>
          <p:cNvSpPr>
            <a:spLocks noGrp="1"/>
          </p:cNvSpPr>
          <p:nvPr>
            <p:ph sz="half" idx="1"/>
          </p:nvPr>
        </p:nvSpPr>
        <p:spPr>
          <a:xfrm>
            <a:off x="334964" y="1665288"/>
            <a:ext cx="7333384" cy="4572000"/>
          </a:xfrm>
        </p:spPr>
        <p:txBody>
          <a:bodyPr>
            <a:normAutofit/>
          </a:bodyPr>
          <a:lstStyle/>
          <a:p>
            <a:r>
              <a:rPr lang="en-US" sz="1600" dirty="0"/>
              <a:t>Download </a:t>
            </a:r>
            <a:r>
              <a:rPr lang="en-US" sz="1600" dirty="0" err="1"/>
              <a:t>ERP_Demo</a:t>
            </a:r>
            <a:r>
              <a:rPr lang="en-US" sz="1600" dirty="0"/>
              <a:t> Database</a:t>
            </a:r>
            <a:br>
              <a:rPr lang="en-US" sz="1600" dirty="0"/>
            </a:br>
            <a:r>
              <a:rPr lang="en-US" sz="1600" dirty="0">
                <a:hlinkClick r:id="rId2"/>
              </a:rPr>
              <a:t>https://www.db-berater.de/downloads/ERP_DEMO.BAK</a:t>
            </a:r>
            <a:endParaRPr lang="en-US" sz="1600" dirty="0"/>
          </a:p>
          <a:p>
            <a:r>
              <a:rPr lang="en-US" sz="1600" dirty="0"/>
              <a:t>Download Workshop Solution</a:t>
            </a:r>
            <a:br>
              <a:rPr lang="en-US" sz="1600" dirty="0"/>
            </a:br>
            <a:r>
              <a:rPr lang="en-US" sz="1600" dirty="0">
                <a:hlinkClick r:id="rId3"/>
              </a:rPr>
              <a:t>https://github.com/db-berater/speedup-your-sql-code</a:t>
            </a:r>
            <a:endParaRPr lang="en-US" sz="1600" dirty="0"/>
          </a:p>
          <a:p>
            <a:r>
              <a:rPr lang="en-US" sz="1600" dirty="0"/>
              <a:t>Open the SSMS Project File in SSMS</a:t>
            </a:r>
          </a:p>
          <a:p>
            <a:r>
              <a:rPr lang="en-US" sz="1600" dirty="0"/>
              <a:t>Execute the following scripts</a:t>
            </a:r>
          </a:p>
          <a:p>
            <a:pPr lvl="1"/>
            <a:r>
              <a:rPr lang="en-US" sz="1600" b="1" dirty="0">
                <a:solidFill>
                  <a:schemeClr val="accent5">
                    <a:lumMod val="50000"/>
                  </a:schemeClr>
                </a:solidFill>
                <a:latin typeface="Lucida Console" panose="020B0609040504020204" pitchFamily="49" charset="0"/>
              </a:rPr>
              <a:t>00 - </a:t>
            </a:r>
            <a:r>
              <a:rPr lang="en-US" sz="1600" b="1" dirty="0" err="1">
                <a:solidFill>
                  <a:schemeClr val="accent5">
                    <a:lumMod val="50000"/>
                  </a:schemeClr>
                </a:solidFill>
                <a:latin typeface="Lucida Console" panose="020B0609040504020204" pitchFamily="49" charset="0"/>
              </a:rPr>
              <a:t>dbo.sp_restore_erp_demo.sql</a:t>
            </a:r>
            <a:endParaRPr lang="en-US" sz="1600" b="1" dirty="0">
              <a:solidFill>
                <a:schemeClr val="accent5">
                  <a:lumMod val="50000"/>
                </a:schemeClr>
              </a:solidFill>
              <a:latin typeface="Lucida Console" panose="020B0609040504020204" pitchFamily="49" charset="0"/>
            </a:endParaRPr>
          </a:p>
          <a:p>
            <a:pPr lvl="1"/>
            <a:r>
              <a:rPr lang="en-US" sz="1600" b="1" dirty="0">
                <a:solidFill>
                  <a:schemeClr val="accent5">
                    <a:lumMod val="50000"/>
                  </a:schemeClr>
                </a:solidFill>
                <a:latin typeface="Lucida Console" panose="020B0609040504020204" pitchFamily="49" charset="0"/>
              </a:rPr>
              <a:t>01 - Preparation of demo </a:t>
            </a:r>
            <a:r>
              <a:rPr lang="en-US" sz="1600" b="1" dirty="0" err="1">
                <a:solidFill>
                  <a:schemeClr val="accent5">
                    <a:lumMod val="50000"/>
                  </a:schemeClr>
                </a:solidFill>
                <a:latin typeface="Lucida Console" panose="020B0609040504020204" pitchFamily="49" charset="0"/>
              </a:rPr>
              <a:t>databases.sql</a:t>
            </a:r>
            <a:endParaRPr lang="en-US" sz="1600" b="1" dirty="0">
              <a:solidFill>
                <a:schemeClr val="accent5">
                  <a:lumMod val="50000"/>
                </a:schemeClr>
              </a:solidFill>
              <a:latin typeface="Lucida Console" panose="020B0609040504020204" pitchFamily="49" charset="0"/>
            </a:endParaRPr>
          </a:p>
          <a:p>
            <a:r>
              <a:rPr lang="en-US" sz="1600" dirty="0"/>
              <a:t>Check the version of the demo database</a:t>
            </a:r>
            <a:br>
              <a:rPr lang="en-US" sz="1600" dirty="0"/>
            </a:br>
            <a:r>
              <a:rPr lang="en-US" sz="1600" dirty="0">
                <a:solidFill>
                  <a:srgbClr val="0000FF"/>
                </a:solidFill>
                <a:highlight>
                  <a:srgbClr val="FFFFFF"/>
                </a:highlight>
                <a:latin typeface="Cascadia Mono" panose="020B0609020000020004" pitchFamily="49" charset="0"/>
              </a:rPr>
              <a:t>SELECT</a:t>
            </a:r>
            <a:r>
              <a:rPr lang="en-US" sz="1600" dirty="0">
                <a:solidFill>
                  <a:srgbClr val="000000"/>
                </a:solidFill>
                <a:highlight>
                  <a:srgbClr val="FFFFFF"/>
                </a:highlight>
                <a:latin typeface="Cascadia Mono" panose="020B0609020000020004" pitchFamily="49" charset="0"/>
              </a:rPr>
              <a:t> </a:t>
            </a:r>
            <a:r>
              <a:rPr lang="en-US" sz="1600" dirty="0">
                <a:solidFill>
                  <a:srgbClr val="8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FROM</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ERP_Demo</a:t>
            </a:r>
            <a:r>
              <a:rPr lang="en-US" sz="1600" dirty="0" err="1">
                <a:solidFill>
                  <a:srgbClr val="808080"/>
                </a:solidFill>
                <a:highlight>
                  <a:srgbClr val="FFFFFF"/>
                </a:highlight>
                <a:latin typeface="Cascadia Mono" panose="020B0609020000020004" pitchFamily="49" charset="0"/>
              </a:rPr>
              <a:t>.</a:t>
            </a:r>
            <a:r>
              <a:rPr lang="en-US" sz="1600" dirty="0" err="1">
                <a:solidFill>
                  <a:srgbClr val="000000"/>
                </a:solidFill>
                <a:highlight>
                  <a:srgbClr val="FFFFFF"/>
                </a:highlight>
                <a:latin typeface="Cascadia Mono" panose="020B0609020000020004" pitchFamily="49" charset="0"/>
              </a:rPr>
              <a:t>dbo</a:t>
            </a:r>
            <a:r>
              <a:rPr lang="en-US" sz="1600" dirty="0" err="1">
                <a:solidFill>
                  <a:srgbClr val="808080"/>
                </a:solidFill>
                <a:highlight>
                  <a:srgbClr val="FFFFFF"/>
                </a:highlight>
                <a:latin typeface="Cascadia Mono" panose="020B0609020000020004" pitchFamily="49" charset="0"/>
              </a:rPr>
              <a:t>.</a:t>
            </a:r>
            <a:r>
              <a:rPr lang="en-US" sz="1600" dirty="0" err="1">
                <a:solidFill>
                  <a:srgbClr val="000000"/>
                </a:solidFill>
                <a:highlight>
                  <a:srgbClr val="FFFFFF"/>
                </a:highlight>
                <a:latin typeface="Cascadia Mono" panose="020B0609020000020004" pitchFamily="49" charset="0"/>
              </a:rPr>
              <a:t>get_database_help_info</a:t>
            </a:r>
            <a:r>
              <a:rPr lang="en-US" sz="1600" dirty="0">
                <a:solidFill>
                  <a:srgbClr val="808080"/>
                </a:solidFill>
                <a:highlight>
                  <a:srgbClr val="FFFFFF"/>
                </a:highlight>
                <a:latin typeface="Cascadia Mono" panose="020B0609020000020004" pitchFamily="49" charset="0"/>
              </a:rPr>
              <a:t>();</a:t>
            </a:r>
            <a:r>
              <a:rPr lang="en-US" sz="1600" dirty="0">
                <a:solidFill>
                  <a:srgbClr val="808080"/>
                </a:solidFill>
                <a:latin typeface="Consolas" panose="020B0609020204030204" pitchFamily="49" charset="0"/>
              </a:rPr>
              <a:t>;</a:t>
            </a:r>
            <a:endParaRPr lang="en-US" sz="1600" dirty="0"/>
          </a:p>
        </p:txBody>
      </p:sp>
      <p:pic>
        <p:nvPicPr>
          <p:cNvPr id="10" name="Inhaltsplatzhalter 9">
            <a:extLst>
              <a:ext uri="{FF2B5EF4-FFF2-40B4-BE49-F238E27FC236}">
                <a16:creationId xmlns:a16="http://schemas.microsoft.com/office/drawing/2014/main" id="{297B7DB2-16CE-20EB-EE9A-1CEB53EC921F}"/>
              </a:ext>
            </a:extLst>
          </p:cNvPr>
          <p:cNvPicPr>
            <a:picLocks noGrp="1" noChangeAspect="1"/>
          </p:cNvPicPr>
          <p:nvPr>
            <p:ph sz="half" idx="2"/>
          </p:nvPr>
        </p:nvPicPr>
        <p:blipFill>
          <a:blip r:embed="rId4"/>
          <a:stretch>
            <a:fillRect/>
          </a:stretch>
        </p:blipFill>
        <p:spPr>
          <a:xfrm>
            <a:off x="7141505" y="1665288"/>
            <a:ext cx="4715533" cy="1562318"/>
          </a:xfrm>
        </p:spPr>
      </p:pic>
    </p:spTree>
    <p:extLst>
      <p:ext uri="{BB962C8B-B14F-4D97-AF65-F5344CB8AC3E}">
        <p14:creationId xmlns:p14="http://schemas.microsoft.com/office/powerpoint/2010/main" val="3550364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C02D4BB-8072-777B-D14E-94097CF68E64}"/>
              </a:ext>
            </a:extLst>
          </p:cNvPr>
          <p:cNvSpPr>
            <a:spLocks noGrp="1"/>
          </p:cNvSpPr>
          <p:nvPr>
            <p:ph type="title"/>
          </p:nvPr>
        </p:nvSpPr>
        <p:spPr/>
        <p:txBody>
          <a:bodyPr/>
          <a:lstStyle/>
          <a:p>
            <a:r>
              <a:rPr lang="en-US" dirty="0"/>
              <a:t>Make your SQL Code fast again</a:t>
            </a:r>
          </a:p>
        </p:txBody>
      </p:sp>
      <p:sp>
        <p:nvSpPr>
          <p:cNvPr id="5" name="Inhaltsplatzhalter 4">
            <a:extLst>
              <a:ext uri="{FF2B5EF4-FFF2-40B4-BE49-F238E27FC236}">
                <a16:creationId xmlns:a16="http://schemas.microsoft.com/office/drawing/2014/main" id="{4B6706FF-B331-CD2E-8F3E-92F77346CFC2}"/>
              </a:ext>
            </a:extLst>
          </p:cNvPr>
          <p:cNvSpPr>
            <a:spLocks noGrp="1"/>
          </p:cNvSpPr>
          <p:nvPr>
            <p:ph sz="half" idx="1"/>
          </p:nvPr>
        </p:nvSpPr>
        <p:spPr>
          <a:xfrm>
            <a:off x="334964" y="1665288"/>
            <a:ext cx="6777718" cy="4572000"/>
          </a:xfrm>
        </p:spPr>
        <p:txBody>
          <a:bodyPr>
            <a:normAutofit fontScale="92500" lnSpcReduction="20000"/>
          </a:bodyPr>
          <a:lstStyle/>
          <a:p>
            <a:r>
              <a:rPr lang="en-US" dirty="0"/>
              <a:t>Why is SQL optimization important?</a:t>
            </a:r>
          </a:p>
          <a:p>
            <a:pPr lvl="1"/>
            <a:r>
              <a:rPr lang="en-US" b="1" dirty="0"/>
              <a:t>Performance Improvement</a:t>
            </a:r>
          </a:p>
          <a:p>
            <a:pPr lvl="2"/>
            <a:r>
              <a:rPr lang="en-US" dirty="0"/>
              <a:t>Efficient SQL code enhances database performance by reducing execution time and resource consumption.</a:t>
            </a:r>
          </a:p>
          <a:p>
            <a:pPr lvl="1"/>
            <a:r>
              <a:rPr lang="en-US" b="1" dirty="0"/>
              <a:t>Resource Utilization</a:t>
            </a:r>
          </a:p>
          <a:p>
            <a:pPr lvl="2"/>
            <a:r>
              <a:rPr lang="en-US" dirty="0"/>
              <a:t>Optimized SQL queries use fewer system resources like CPU, memory, and disk I/O for better scaling.</a:t>
            </a:r>
          </a:p>
          <a:p>
            <a:pPr lvl="1"/>
            <a:r>
              <a:rPr lang="en-US" b="1" dirty="0"/>
              <a:t>Scalability</a:t>
            </a:r>
          </a:p>
          <a:p>
            <a:pPr lvl="2"/>
            <a:r>
              <a:rPr lang="en-US" dirty="0"/>
              <a:t>Efficiently written SQL code can better handle increased data volume and user load.</a:t>
            </a:r>
          </a:p>
          <a:p>
            <a:pPr lvl="1"/>
            <a:r>
              <a:rPr lang="en-US" b="1" dirty="0"/>
              <a:t>Cost Savings</a:t>
            </a:r>
          </a:p>
          <a:p>
            <a:pPr lvl="2"/>
            <a:r>
              <a:rPr lang="en-US" dirty="0"/>
              <a:t>Reduced resource usage translates to cost savings, especially in cloud environments.</a:t>
            </a:r>
          </a:p>
          <a:p>
            <a:pPr lvl="1"/>
            <a:r>
              <a:rPr lang="en-US" b="1" dirty="0"/>
              <a:t>Reliability and Stability</a:t>
            </a:r>
          </a:p>
          <a:p>
            <a:pPr lvl="2"/>
            <a:r>
              <a:rPr lang="en-US" dirty="0"/>
              <a:t>Efficient queries are less likely to cause unexpected issues, such as timeouts or server crashes.</a:t>
            </a:r>
          </a:p>
        </p:txBody>
      </p:sp>
      <p:pic>
        <p:nvPicPr>
          <p:cNvPr id="13" name="Inhaltsplatzhalter 12">
            <a:extLst>
              <a:ext uri="{FF2B5EF4-FFF2-40B4-BE49-F238E27FC236}">
                <a16:creationId xmlns:a16="http://schemas.microsoft.com/office/drawing/2014/main" id="{4EA7C144-7BD8-19D7-DDDF-3D5AFD667EC2}"/>
              </a:ext>
            </a:extLst>
          </p:cNvPr>
          <p:cNvPicPr>
            <a:picLocks noGrp="1" noChangeAspect="1"/>
          </p:cNvPicPr>
          <p:nvPr>
            <p:ph sz="half" idx="2"/>
          </p:nvPr>
        </p:nvPicPr>
        <p:blipFill>
          <a:blip r:embed="rId2"/>
          <a:stretch>
            <a:fillRect/>
          </a:stretch>
        </p:blipFill>
        <p:spPr bwMode="auto">
          <a:xfrm>
            <a:off x="7580878" y="1665288"/>
            <a:ext cx="3924852" cy="3904844"/>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227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26F7A4-5F53-E90B-7446-E689769D7556}"/>
              </a:ext>
            </a:extLst>
          </p:cNvPr>
          <p:cNvSpPr>
            <a:spLocks noGrp="1"/>
          </p:cNvSpPr>
          <p:nvPr>
            <p:ph type="title"/>
          </p:nvPr>
        </p:nvSpPr>
        <p:spPr/>
        <p:txBody>
          <a:bodyPr/>
          <a:lstStyle/>
          <a:p>
            <a:r>
              <a:rPr lang="en-US" dirty="0"/>
              <a:t>Make your SQL Code fast again</a:t>
            </a:r>
          </a:p>
        </p:txBody>
      </p:sp>
      <p:sp>
        <p:nvSpPr>
          <p:cNvPr id="3" name="Inhaltsplatzhalter 2">
            <a:extLst>
              <a:ext uri="{FF2B5EF4-FFF2-40B4-BE49-F238E27FC236}">
                <a16:creationId xmlns:a16="http://schemas.microsoft.com/office/drawing/2014/main" id="{1C515DFF-2B8F-A7B5-0A40-FF456E70CF0A}"/>
              </a:ext>
            </a:extLst>
          </p:cNvPr>
          <p:cNvSpPr>
            <a:spLocks noGrp="1"/>
          </p:cNvSpPr>
          <p:nvPr>
            <p:ph sz="half" idx="1"/>
          </p:nvPr>
        </p:nvSpPr>
        <p:spPr/>
        <p:txBody>
          <a:bodyPr/>
          <a:lstStyle/>
          <a:p>
            <a:r>
              <a:rPr lang="en-US" dirty="0"/>
              <a:t>Objectives of this workshop</a:t>
            </a:r>
          </a:p>
          <a:p>
            <a:pPr lvl="1"/>
            <a:r>
              <a:rPr lang="en-US" dirty="0"/>
              <a:t>Identification of common SQL errors and their impact on performance.</a:t>
            </a:r>
          </a:p>
          <a:p>
            <a:pPr lvl="1"/>
            <a:r>
              <a:rPr lang="en-US" dirty="0"/>
              <a:t>Techniques to improve the efficiency of SQL queries.</a:t>
            </a:r>
          </a:p>
          <a:p>
            <a:pPr lvl="1"/>
            <a:r>
              <a:rPr lang="en-US" dirty="0"/>
              <a:t>Practical examples and best practices to improve performance.</a:t>
            </a:r>
          </a:p>
        </p:txBody>
      </p:sp>
      <p:pic>
        <p:nvPicPr>
          <p:cNvPr id="6" name="Inhaltsplatzhalter 5">
            <a:extLst>
              <a:ext uri="{FF2B5EF4-FFF2-40B4-BE49-F238E27FC236}">
                <a16:creationId xmlns:a16="http://schemas.microsoft.com/office/drawing/2014/main" id="{BBCF8D45-C542-224F-28BE-097C8ABB58EC}"/>
              </a:ext>
            </a:extLst>
          </p:cNvPr>
          <p:cNvPicPr>
            <a:picLocks noGrp="1" noChangeAspect="1"/>
          </p:cNvPicPr>
          <p:nvPr>
            <p:ph sz="half" idx="2"/>
          </p:nvPr>
        </p:nvPicPr>
        <p:blipFill>
          <a:blip r:embed="rId2"/>
          <a:stretch>
            <a:fillRect/>
          </a:stretch>
        </p:blipFill>
        <p:spPr>
          <a:xfrm>
            <a:off x="6272211" y="1665288"/>
            <a:ext cx="5584825" cy="4204145"/>
          </a:xfr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8747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12571BE5-B71D-FFFF-95F2-7563C3CE89CB}"/>
              </a:ext>
            </a:extLst>
          </p:cNvPr>
          <p:cNvSpPr>
            <a:spLocks noGrp="1"/>
          </p:cNvSpPr>
          <p:nvPr>
            <p:ph type="title"/>
          </p:nvPr>
        </p:nvSpPr>
        <p:spPr/>
        <p:txBody>
          <a:bodyPr/>
          <a:lstStyle/>
          <a:p>
            <a:r>
              <a:rPr lang="de-DE" dirty="0"/>
              <a:t>Key Topics</a:t>
            </a:r>
          </a:p>
        </p:txBody>
      </p:sp>
      <p:sp>
        <p:nvSpPr>
          <p:cNvPr id="6" name="Inhaltsplatzhalter 5">
            <a:extLst>
              <a:ext uri="{FF2B5EF4-FFF2-40B4-BE49-F238E27FC236}">
                <a16:creationId xmlns:a16="http://schemas.microsoft.com/office/drawing/2014/main" id="{1BF56D9F-9292-F522-0C69-FE07A8759768}"/>
              </a:ext>
            </a:extLst>
          </p:cNvPr>
          <p:cNvSpPr>
            <a:spLocks noGrp="1"/>
          </p:cNvSpPr>
          <p:nvPr>
            <p:ph idx="1"/>
          </p:nvPr>
        </p:nvSpPr>
        <p:spPr/>
        <p:txBody>
          <a:bodyPr/>
          <a:lstStyle/>
          <a:p>
            <a:r>
              <a:rPr lang="en-US" dirty="0"/>
              <a:t>Tools and best practices</a:t>
            </a:r>
          </a:p>
          <a:p>
            <a:pPr lvl="1"/>
            <a:r>
              <a:rPr lang="en-US" dirty="0"/>
              <a:t>using analysis and optimization tools </a:t>
            </a:r>
          </a:p>
          <a:p>
            <a:pPr lvl="1"/>
            <a:r>
              <a:rPr lang="en-US" dirty="0"/>
              <a:t>recommendations for improving query speed.</a:t>
            </a:r>
          </a:p>
          <a:p>
            <a:r>
              <a:rPr lang="en-US" dirty="0"/>
              <a:t>Detecting bad SQL code</a:t>
            </a:r>
          </a:p>
          <a:p>
            <a:pPr lvl="1"/>
            <a:r>
              <a:rPr lang="en-US" dirty="0"/>
              <a:t>Identifying inefficient queries and potential performance bottlenecks.</a:t>
            </a:r>
          </a:p>
          <a:p>
            <a:r>
              <a:rPr lang="en-US" dirty="0"/>
              <a:t>Optimization techniques</a:t>
            </a:r>
          </a:p>
          <a:p>
            <a:pPr lvl="1"/>
            <a:r>
              <a:rPr lang="en-US" dirty="0"/>
              <a:t>reducing hardware resources (CPU / IO)</a:t>
            </a:r>
          </a:p>
          <a:p>
            <a:pPr lvl="1"/>
            <a:r>
              <a:rPr lang="en-US" dirty="0"/>
              <a:t>reducing redundant queries</a:t>
            </a:r>
          </a:p>
          <a:p>
            <a:pPr lvl="1"/>
            <a:r>
              <a:rPr lang="en-US" dirty="0"/>
              <a:t>avoiding unnecessary joins</a:t>
            </a:r>
          </a:p>
          <a:p>
            <a:pPr lvl="1"/>
            <a:r>
              <a:rPr lang="en-US" dirty="0"/>
              <a:t>Using indexes</a:t>
            </a:r>
          </a:p>
        </p:txBody>
      </p:sp>
    </p:spTree>
    <p:extLst>
      <p:ext uri="{BB962C8B-B14F-4D97-AF65-F5344CB8AC3E}">
        <p14:creationId xmlns:p14="http://schemas.microsoft.com/office/powerpoint/2010/main" val="793187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5EF6EA5-108D-9347-5C58-BB99DC3C7928}"/>
              </a:ext>
            </a:extLst>
          </p:cNvPr>
          <p:cNvSpPr>
            <a:spLocks noGrp="1"/>
          </p:cNvSpPr>
          <p:nvPr>
            <p:ph type="ctrTitle"/>
          </p:nvPr>
        </p:nvSpPr>
        <p:spPr/>
        <p:txBody>
          <a:bodyPr/>
          <a:lstStyle/>
          <a:p>
            <a:r>
              <a:rPr lang="en-US" dirty="0"/>
              <a:t>Tools </a:t>
            </a:r>
            <a:r>
              <a:rPr lang="en-US" dirty="0" err="1"/>
              <a:t>ans</a:t>
            </a:r>
            <a:r>
              <a:rPr lang="en-US" dirty="0"/>
              <a:t> Best Practices</a:t>
            </a:r>
          </a:p>
        </p:txBody>
      </p:sp>
      <p:sp>
        <p:nvSpPr>
          <p:cNvPr id="5" name="Untertitel 4">
            <a:extLst>
              <a:ext uri="{FF2B5EF4-FFF2-40B4-BE49-F238E27FC236}">
                <a16:creationId xmlns:a16="http://schemas.microsoft.com/office/drawing/2014/main" id="{DD464124-FF31-3B4B-1D83-054518A9DD4B}"/>
              </a:ext>
            </a:extLst>
          </p:cNvPr>
          <p:cNvSpPr>
            <a:spLocks noGrp="1"/>
          </p:cNvSpPr>
          <p:nvPr>
            <p:ph type="subTitle" idx="1"/>
          </p:nvPr>
        </p:nvSpPr>
        <p:spPr/>
        <p:txBody>
          <a:bodyPr/>
          <a:lstStyle/>
          <a:p>
            <a:r>
              <a:rPr lang="en-US" dirty="0"/>
              <a:t>The survival kit for developers who inherited ‘legacy’ SQL</a:t>
            </a:r>
          </a:p>
        </p:txBody>
      </p:sp>
    </p:spTree>
    <p:extLst>
      <p:ext uri="{BB962C8B-B14F-4D97-AF65-F5344CB8AC3E}">
        <p14:creationId xmlns:p14="http://schemas.microsoft.com/office/powerpoint/2010/main" val="54285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3DFBC-C4E2-717F-999C-96909B211276}"/>
              </a:ext>
            </a:extLst>
          </p:cNvPr>
          <p:cNvSpPr>
            <a:spLocks noGrp="1"/>
          </p:cNvSpPr>
          <p:nvPr>
            <p:ph type="title"/>
          </p:nvPr>
        </p:nvSpPr>
        <p:spPr/>
        <p:txBody>
          <a:bodyPr/>
          <a:lstStyle/>
          <a:p>
            <a:r>
              <a:rPr lang="en-US" dirty="0"/>
              <a:t>Tools and best practices</a:t>
            </a:r>
          </a:p>
        </p:txBody>
      </p:sp>
      <p:sp>
        <p:nvSpPr>
          <p:cNvPr id="3" name="Inhaltsplatzhalter 2">
            <a:extLst>
              <a:ext uri="{FF2B5EF4-FFF2-40B4-BE49-F238E27FC236}">
                <a16:creationId xmlns:a16="http://schemas.microsoft.com/office/drawing/2014/main" id="{FE6514BD-55B9-A72B-9182-9C57614A93C5}"/>
              </a:ext>
            </a:extLst>
          </p:cNvPr>
          <p:cNvSpPr>
            <a:spLocks noGrp="1"/>
          </p:cNvSpPr>
          <p:nvPr>
            <p:ph idx="1"/>
          </p:nvPr>
        </p:nvSpPr>
        <p:spPr/>
        <p:txBody>
          <a:bodyPr/>
          <a:lstStyle/>
          <a:p>
            <a:r>
              <a:rPr lang="de-DE" dirty="0"/>
              <a:t>Query Store</a:t>
            </a:r>
          </a:p>
          <a:p>
            <a:r>
              <a:rPr lang="de-DE" dirty="0"/>
              <a:t>Performance Monitor / Resource Monitor</a:t>
            </a:r>
          </a:p>
          <a:p>
            <a:r>
              <a:rPr lang="de-DE" dirty="0"/>
              <a:t>Windows Admin Center</a:t>
            </a:r>
          </a:p>
          <a:p>
            <a:r>
              <a:rPr lang="de-DE" dirty="0"/>
              <a:t>Third Party Tools</a:t>
            </a:r>
          </a:p>
          <a:p>
            <a:pPr lvl="1"/>
            <a:r>
              <a:rPr lang="de-DE" dirty="0"/>
              <a:t>Redgate</a:t>
            </a:r>
          </a:p>
          <a:p>
            <a:pPr lvl="1"/>
            <a:r>
              <a:rPr lang="de-DE" dirty="0" err="1"/>
              <a:t>Idera</a:t>
            </a:r>
            <a:endParaRPr lang="de-DE" dirty="0"/>
          </a:p>
          <a:p>
            <a:pPr lvl="1"/>
            <a:r>
              <a:rPr lang="de-DE" dirty="0"/>
              <a:t>Solarwinds</a:t>
            </a:r>
          </a:p>
          <a:p>
            <a:pPr lvl="1"/>
            <a:r>
              <a:rPr lang="de-DE" dirty="0"/>
              <a:t>…</a:t>
            </a:r>
          </a:p>
        </p:txBody>
      </p:sp>
    </p:spTree>
    <p:extLst>
      <p:ext uri="{BB962C8B-B14F-4D97-AF65-F5344CB8AC3E}">
        <p14:creationId xmlns:p14="http://schemas.microsoft.com/office/powerpoint/2010/main" val="769944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403FC54-5AB6-EB8E-C160-68BA7028BD1E}"/>
              </a:ext>
            </a:extLst>
          </p:cNvPr>
          <p:cNvSpPr>
            <a:spLocks noGrp="1"/>
          </p:cNvSpPr>
          <p:nvPr>
            <p:ph type="ctrTitle"/>
          </p:nvPr>
        </p:nvSpPr>
        <p:spPr/>
        <p:txBody>
          <a:bodyPr/>
          <a:lstStyle/>
          <a:p>
            <a:r>
              <a:rPr lang="de-DE" dirty="0"/>
              <a:t>Query Store</a:t>
            </a:r>
          </a:p>
        </p:txBody>
      </p:sp>
      <p:sp>
        <p:nvSpPr>
          <p:cNvPr id="5" name="Untertitel 4">
            <a:extLst>
              <a:ext uri="{FF2B5EF4-FFF2-40B4-BE49-F238E27FC236}">
                <a16:creationId xmlns:a16="http://schemas.microsoft.com/office/drawing/2014/main" id="{8261D61B-62E5-9230-0E65-F29FB6FC8A8E}"/>
              </a:ext>
            </a:extLst>
          </p:cNvPr>
          <p:cNvSpPr>
            <a:spLocks noGrp="1"/>
          </p:cNvSpPr>
          <p:nvPr>
            <p:ph type="subTitle" idx="1"/>
          </p:nvPr>
        </p:nvSpPr>
        <p:spPr/>
        <p:txBody>
          <a:bodyPr/>
          <a:lstStyle/>
          <a:p>
            <a:r>
              <a:rPr lang="de-DE" dirty="0"/>
              <a:t>Source Tool for Query Performance</a:t>
            </a:r>
          </a:p>
        </p:txBody>
      </p:sp>
    </p:spTree>
    <p:extLst>
      <p:ext uri="{BB962C8B-B14F-4D97-AF65-F5344CB8AC3E}">
        <p14:creationId xmlns:p14="http://schemas.microsoft.com/office/powerpoint/2010/main" val="2328171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92B2F7-6330-8DE4-12BB-9DFCE042C06E}"/>
              </a:ext>
            </a:extLst>
          </p:cNvPr>
          <p:cNvSpPr>
            <a:spLocks noGrp="1"/>
          </p:cNvSpPr>
          <p:nvPr>
            <p:ph type="title"/>
          </p:nvPr>
        </p:nvSpPr>
        <p:spPr/>
        <p:txBody>
          <a:bodyPr/>
          <a:lstStyle/>
          <a:p>
            <a:r>
              <a:rPr lang="de-DE" dirty="0"/>
              <a:t>Query Store – Microsoft SQL Server</a:t>
            </a:r>
          </a:p>
        </p:txBody>
      </p:sp>
      <p:sp>
        <p:nvSpPr>
          <p:cNvPr id="4" name="Inhaltsplatzhalter 3">
            <a:extLst>
              <a:ext uri="{FF2B5EF4-FFF2-40B4-BE49-F238E27FC236}">
                <a16:creationId xmlns:a16="http://schemas.microsoft.com/office/drawing/2014/main" id="{939F169E-B0D3-D695-A625-3F137918505F}"/>
              </a:ext>
            </a:extLst>
          </p:cNvPr>
          <p:cNvSpPr>
            <a:spLocks noGrp="1"/>
          </p:cNvSpPr>
          <p:nvPr>
            <p:ph sz="half" idx="1"/>
          </p:nvPr>
        </p:nvSpPr>
        <p:spPr/>
        <p:txBody>
          <a:bodyPr>
            <a:normAutofit lnSpcReduction="10000"/>
          </a:bodyPr>
          <a:lstStyle/>
          <a:p>
            <a:pPr lvl="1"/>
            <a:r>
              <a:rPr lang="en-US" dirty="0"/>
              <a:t>When a query gets compiled for the first time, query text and the initial plan are sent to Query Store.</a:t>
            </a:r>
          </a:p>
          <a:p>
            <a:pPr lvl="1"/>
            <a:r>
              <a:rPr lang="en-US" dirty="0"/>
              <a:t>When a query gets recompiled, the plan is updated in Query Store.</a:t>
            </a:r>
          </a:p>
          <a:p>
            <a:pPr lvl="1"/>
            <a:r>
              <a:rPr lang="en-US" dirty="0"/>
              <a:t>If a new plan is created, Query Store adds the new plan entry for the query and keeps the previous ones along with their execution statistics.</a:t>
            </a:r>
          </a:p>
          <a:p>
            <a:pPr lvl="1"/>
            <a:r>
              <a:rPr lang="en-US" dirty="0"/>
              <a:t>Upon the query execution, runtime statistics are sent to Query Store.</a:t>
            </a:r>
          </a:p>
          <a:p>
            <a:pPr lvl="1"/>
            <a:r>
              <a:rPr lang="en-US" dirty="0"/>
              <a:t>During the compile and check for recompile phases, SQL Server determines if there's a plan in Query Store that should be applied for the currently running query.</a:t>
            </a:r>
            <a:endParaRPr lang="de-DE" dirty="0"/>
          </a:p>
        </p:txBody>
      </p:sp>
      <p:pic>
        <p:nvPicPr>
          <p:cNvPr id="2054" name="Picture 6" descr="Query Store process plan">
            <a:extLst>
              <a:ext uri="{FF2B5EF4-FFF2-40B4-BE49-F238E27FC236}">
                <a16:creationId xmlns:a16="http://schemas.microsoft.com/office/drawing/2014/main" id="{76A4326B-AFCA-ECC4-4231-3A8F87C766F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75295" y="1665288"/>
            <a:ext cx="5584825" cy="2381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45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40F899-EE6B-9D37-1AE4-21C4EBBA7B4B}"/>
              </a:ext>
            </a:extLst>
          </p:cNvPr>
          <p:cNvSpPr>
            <a:spLocks noGrp="1"/>
          </p:cNvSpPr>
          <p:nvPr>
            <p:ph type="title"/>
          </p:nvPr>
        </p:nvSpPr>
        <p:spPr/>
        <p:txBody>
          <a:bodyPr/>
          <a:lstStyle/>
          <a:p>
            <a:r>
              <a:rPr lang="de-DE" dirty="0"/>
              <a:t>Query Store – Recommended Settings</a:t>
            </a:r>
          </a:p>
        </p:txBody>
      </p:sp>
      <p:sp>
        <p:nvSpPr>
          <p:cNvPr id="3" name="Inhaltsplatzhalter 2">
            <a:extLst>
              <a:ext uri="{FF2B5EF4-FFF2-40B4-BE49-F238E27FC236}">
                <a16:creationId xmlns:a16="http://schemas.microsoft.com/office/drawing/2014/main" id="{D5C11F9B-D5CD-2A65-F03C-50F9A0984584}"/>
              </a:ext>
            </a:extLst>
          </p:cNvPr>
          <p:cNvSpPr>
            <a:spLocks noGrp="1"/>
          </p:cNvSpPr>
          <p:nvPr>
            <p:ph sz="half" idx="1"/>
          </p:nvPr>
        </p:nvSpPr>
        <p:spPr/>
        <p:txBody>
          <a:bodyPr/>
          <a:lstStyle/>
          <a:p>
            <a:pPr>
              <a:tabLst>
                <a:tab pos="5019675" algn="r"/>
              </a:tabLst>
            </a:pPr>
            <a:r>
              <a:rPr lang="de-DE" dirty="0"/>
              <a:t>Data </a:t>
            </a:r>
            <a:r>
              <a:rPr lang="de-DE" dirty="0" err="1"/>
              <a:t>Flush</a:t>
            </a:r>
            <a:r>
              <a:rPr lang="de-DE" dirty="0"/>
              <a:t> </a:t>
            </a:r>
            <a:r>
              <a:rPr lang="de-DE" dirty="0" err="1"/>
              <a:t>Interval</a:t>
            </a:r>
            <a:r>
              <a:rPr lang="de-DE" dirty="0"/>
              <a:t>	15 </a:t>
            </a:r>
            <a:r>
              <a:rPr lang="de-DE" dirty="0" err="1"/>
              <a:t>mins</a:t>
            </a:r>
            <a:endParaRPr lang="de-DE" dirty="0"/>
          </a:p>
          <a:p>
            <a:pPr>
              <a:tabLst>
                <a:tab pos="5019675" algn="r"/>
              </a:tabLst>
            </a:pPr>
            <a:r>
              <a:rPr lang="de-DE" dirty="0" err="1"/>
              <a:t>Statistics</a:t>
            </a:r>
            <a:r>
              <a:rPr lang="de-DE" dirty="0"/>
              <a:t> </a:t>
            </a:r>
            <a:r>
              <a:rPr lang="de-DE" dirty="0" err="1"/>
              <a:t>Collector</a:t>
            </a:r>
            <a:r>
              <a:rPr lang="de-DE" dirty="0"/>
              <a:t> </a:t>
            </a:r>
            <a:r>
              <a:rPr lang="de-DE" dirty="0" err="1"/>
              <a:t>Interval</a:t>
            </a:r>
            <a:r>
              <a:rPr lang="de-DE" dirty="0"/>
              <a:t>	1 Hour</a:t>
            </a:r>
          </a:p>
          <a:p>
            <a:pPr>
              <a:tabLst>
                <a:tab pos="5019675" algn="r"/>
              </a:tabLst>
            </a:pPr>
            <a:r>
              <a:rPr lang="de-DE" dirty="0"/>
              <a:t>Max Size (MB)	1.024 MB</a:t>
            </a:r>
          </a:p>
          <a:p>
            <a:pPr>
              <a:tabLst>
                <a:tab pos="5019675" algn="r"/>
              </a:tabLst>
            </a:pPr>
            <a:r>
              <a:rPr lang="de-DE" dirty="0"/>
              <a:t>Query Store Capture Mode	Auto</a:t>
            </a:r>
          </a:p>
          <a:p>
            <a:pPr>
              <a:tabLst>
                <a:tab pos="5019675" algn="r"/>
              </a:tabLst>
            </a:pPr>
            <a:r>
              <a:rPr lang="de-DE" dirty="0" err="1"/>
              <a:t>Stale</a:t>
            </a:r>
            <a:r>
              <a:rPr lang="de-DE" dirty="0"/>
              <a:t> Query Threshold	7 Days</a:t>
            </a:r>
          </a:p>
          <a:p>
            <a:pPr>
              <a:tabLst>
                <a:tab pos="5019675" algn="r"/>
              </a:tabLst>
            </a:pPr>
            <a:r>
              <a:rPr lang="de-DE" dirty="0"/>
              <a:t>Wait </a:t>
            </a:r>
            <a:r>
              <a:rPr lang="de-DE" dirty="0" err="1"/>
              <a:t>Statistics</a:t>
            </a:r>
            <a:r>
              <a:rPr lang="de-DE" dirty="0"/>
              <a:t> Capture Mode	On</a:t>
            </a:r>
          </a:p>
        </p:txBody>
      </p:sp>
      <p:pic>
        <p:nvPicPr>
          <p:cNvPr id="6" name="Inhaltsplatzhalter 5">
            <a:extLst>
              <a:ext uri="{FF2B5EF4-FFF2-40B4-BE49-F238E27FC236}">
                <a16:creationId xmlns:a16="http://schemas.microsoft.com/office/drawing/2014/main" id="{31D6CE66-8FCF-B468-D447-8C9BA19F337B}"/>
              </a:ext>
            </a:extLst>
          </p:cNvPr>
          <p:cNvPicPr>
            <a:picLocks noGrp="1" noChangeAspect="1"/>
          </p:cNvPicPr>
          <p:nvPr>
            <p:ph sz="half" idx="2"/>
          </p:nvPr>
        </p:nvPicPr>
        <p:blipFill>
          <a:blip r:embed="rId2"/>
          <a:stretch>
            <a:fillRect/>
          </a:stretch>
        </p:blipFill>
        <p:spPr>
          <a:xfrm>
            <a:off x="6665792" y="1665288"/>
            <a:ext cx="4797666" cy="4572000"/>
          </a:xfrm>
        </p:spPr>
      </p:pic>
    </p:spTree>
    <p:extLst>
      <p:ext uri="{BB962C8B-B14F-4D97-AF65-F5344CB8AC3E}">
        <p14:creationId xmlns:p14="http://schemas.microsoft.com/office/powerpoint/2010/main" val="182364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723960-254C-0907-5845-B331D5CE418E}"/>
              </a:ext>
            </a:extLst>
          </p:cNvPr>
          <p:cNvSpPr>
            <a:spLocks noGrp="1"/>
          </p:cNvSpPr>
          <p:nvPr>
            <p:ph type="title"/>
          </p:nvPr>
        </p:nvSpPr>
        <p:spPr/>
        <p:txBody>
          <a:bodyPr/>
          <a:lstStyle/>
          <a:p>
            <a:r>
              <a:rPr lang="en-US" dirty="0"/>
              <a:t>Query Store – Hands On/Demo</a:t>
            </a:r>
          </a:p>
        </p:txBody>
      </p:sp>
      <p:sp>
        <p:nvSpPr>
          <p:cNvPr id="3" name="Inhaltsplatzhalter 2">
            <a:extLst>
              <a:ext uri="{FF2B5EF4-FFF2-40B4-BE49-F238E27FC236}">
                <a16:creationId xmlns:a16="http://schemas.microsoft.com/office/drawing/2014/main" id="{E5CD2D06-DE0C-4810-E268-11D021E21C77}"/>
              </a:ext>
            </a:extLst>
          </p:cNvPr>
          <p:cNvSpPr>
            <a:spLocks noGrp="1"/>
          </p:cNvSpPr>
          <p:nvPr>
            <p:ph sz="half" idx="1"/>
          </p:nvPr>
        </p:nvSpPr>
        <p:spPr/>
        <p:txBody>
          <a:bodyPr/>
          <a:lstStyle/>
          <a:p>
            <a:pPr lvl="1"/>
            <a:r>
              <a:rPr lang="en-US" dirty="0"/>
              <a:t>open the script</a:t>
            </a:r>
            <a:br>
              <a:rPr lang="en-US" dirty="0"/>
            </a:br>
            <a:r>
              <a:rPr lang="en-US" dirty="0"/>
              <a:t>	</a:t>
            </a:r>
            <a:r>
              <a:rPr lang="en-US" sz="1400" b="1" dirty="0">
                <a:solidFill>
                  <a:schemeClr val="accent5">
                    <a:lumMod val="75000"/>
                  </a:schemeClr>
                </a:solidFill>
                <a:latin typeface="Lucida Console" panose="020B0609040504020204" pitchFamily="49" charset="0"/>
              </a:rPr>
              <a:t>01 – demo of Query </a:t>
            </a:r>
            <a:r>
              <a:rPr lang="en-US" sz="1400" b="1" dirty="0" err="1">
                <a:solidFill>
                  <a:schemeClr val="accent5">
                    <a:lumMod val="75000"/>
                  </a:schemeClr>
                </a:solidFill>
                <a:latin typeface="Lucida Console" panose="020B0609040504020204" pitchFamily="49" charset="0"/>
              </a:rPr>
              <a:t>Store.sql</a:t>
            </a:r>
            <a:endParaRPr lang="en-US" sz="1400" b="1" dirty="0">
              <a:solidFill>
                <a:schemeClr val="accent5">
                  <a:lumMod val="75000"/>
                </a:schemeClr>
              </a:solidFill>
              <a:latin typeface="Lucida Console" panose="020B0609040504020204" pitchFamily="49" charset="0"/>
            </a:endParaRPr>
          </a:p>
          <a:p>
            <a:pPr lvl="1"/>
            <a:r>
              <a:rPr lang="en-US" dirty="0"/>
              <a:t>follow the instructions of the instructor</a:t>
            </a:r>
            <a:endParaRPr lang="en-US" sz="1400" b="1" dirty="0">
              <a:solidFill>
                <a:schemeClr val="accent5">
                  <a:lumMod val="75000"/>
                </a:schemeClr>
              </a:solidFill>
              <a:latin typeface="Lucida Console" panose="020B0609040504020204" pitchFamily="49" charset="0"/>
            </a:endParaRPr>
          </a:p>
          <a:p>
            <a:pPr lvl="1"/>
            <a:r>
              <a:rPr lang="en-US" dirty="0"/>
              <a:t>start SQL Query Stress</a:t>
            </a:r>
          </a:p>
          <a:p>
            <a:pPr lvl="1"/>
            <a:r>
              <a:rPr lang="en-US" dirty="0"/>
              <a:t>Load the pre-</a:t>
            </a:r>
            <a:r>
              <a:rPr lang="en-US" dirty="0" err="1"/>
              <a:t>configuratino</a:t>
            </a:r>
            <a:r>
              <a:rPr lang="en-US" dirty="0"/>
              <a:t> set:</a:t>
            </a:r>
            <a:br>
              <a:rPr lang="en-US" dirty="0"/>
            </a:br>
            <a:r>
              <a:rPr lang="en-US" dirty="0"/>
              <a:t>	</a:t>
            </a:r>
            <a:r>
              <a:rPr lang="en-US" sz="1400" b="1" dirty="0">
                <a:latin typeface="Lucida Console" panose="020B0609040504020204" pitchFamily="49" charset="0"/>
              </a:rPr>
              <a:t>demo of Query </a:t>
            </a:r>
            <a:r>
              <a:rPr lang="en-US" sz="1400" b="1" dirty="0" err="1">
                <a:latin typeface="Lucida Console" panose="020B0609040504020204" pitchFamily="49" charset="0"/>
              </a:rPr>
              <a:t>Store.json</a:t>
            </a:r>
            <a:endParaRPr lang="en-US" sz="1400" b="1" dirty="0">
              <a:latin typeface="Lucida Console" panose="020B0609040504020204" pitchFamily="49" charset="0"/>
            </a:endParaRPr>
          </a:p>
          <a:p>
            <a:pPr lvl="1"/>
            <a:r>
              <a:rPr lang="en-US" dirty="0"/>
              <a:t>follow the next instructions of the instructor</a:t>
            </a:r>
            <a:br>
              <a:rPr lang="en-US" dirty="0"/>
            </a:br>
            <a:r>
              <a:rPr lang="en-US" dirty="0"/>
              <a:t>see the different execution plans in Query Store</a:t>
            </a:r>
          </a:p>
        </p:txBody>
      </p:sp>
      <p:pic>
        <p:nvPicPr>
          <p:cNvPr id="6" name="Inhaltsplatzhalter 5">
            <a:extLst>
              <a:ext uri="{FF2B5EF4-FFF2-40B4-BE49-F238E27FC236}">
                <a16:creationId xmlns:a16="http://schemas.microsoft.com/office/drawing/2014/main" id="{6326EA80-02C7-8A5C-568B-41962E34B4C6}"/>
              </a:ext>
            </a:extLst>
          </p:cNvPr>
          <p:cNvPicPr>
            <a:picLocks noGrp="1" noChangeAspect="1"/>
          </p:cNvPicPr>
          <p:nvPr>
            <p:ph sz="half" idx="2"/>
          </p:nvPr>
        </p:nvPicPr>
        <p:blipFill>
          <a:blip r:embed="rId2"/>
          <a:stretch>
            <a:fillRect/>
          </a:stretch>
        </p:blipFill>
        <p:spPr>
          <a:xfrm>
            <a:off x="6272211" y="1665288"/>
            <a:ext cx="5584825" cy="3989938"/>
          </a:xfrm>
        </p:spPr>
      </p:pic>
    </p:spTree>
    <p:extLst>
      <p:ext uri="{BB962C8B-B14F-4D97-AF65-F5344CB8AC3E}">
        <p14:creationId xmlns:p14="http://schemas.microsoft.com/office/powerpoint/2010/main" val="181742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2ED7381-DAF8-0CC9-1CDF-49D02CDCAC01}"/>
              </a:ext>
            </a:extLst>
          </p:cNvPr>
          <p:cNvSpPr>
            <a:spLocks noGrp="1"/>
          </p:cNvSpPr>
          <p:nvPr>
            <p:ph type="ctrTitle"/>
          </p:nvPr>
        </p:nvSpPr>
        <p:spPr/>
        <p:txBody>
          <a:bodyPr/>
          <a:lstStyle/>
          <a:p>
            <a:r>
              <a:rPr lang="de-DE" dirty="0"/>
              <a:t>Performance Monitor</a:t>
            </a:r>
            <a:br>
              <a:rPr lang="de-DE" dirty="0"/>
            </a:br>
            <a:r>
              <a:rPr lang="de-DE" dirty="0"/>
              <a:t>Windows Admin Center</a:t>
            </a:r>
          </a:p>
        </p:txBody>
      </p:sp>
      <p:sp>
        <p:nvSpPr>
          <p:cNvPr id="6" name="Untertitel 5">
            <a:extLst>
              <a:ext uri="{FF2B5EF4-FFF2-40B4-BE49-F238E27FC236}">
                <a16:creationId xmlns:a16="http://schemas.microsoft.com/office/drawing/2014/main" id="{56026DDA-7B75-F22C-785D-CADE9988780A}"/>
              </a:ext>
            </a:extLst>
          </p:cNvPr>
          <p:cNvSpPr>
            <a:spLocks noGrp="1"/>
          </p:cNvSpPr>
          <p:nvPr>
            <p:ph type="subTitle" idx="1"/>
          </p:nvPr>
        </p:nvSpPr>
        <p:spPr/>
        <p:txBody>
          <a:bodyPr/>
          <a:lstStyle/>
          <a:p>
            <a:r>
              <a:rPr lang="de-DE" dirty="0"/>
              <a:t>Source Tool for Resource Performance</a:t>
            </a:r>
          </a:p>
        </p:txBody>
      </p:sp>
    </p:spTree>
    <p:extLst>
      <p:ext uri="{BB962C8B-B14F-4D97-AF65-F5344CB8AC3E}">
        <p14:creationId xmlns:p14="http://schemas.microsoft.com/office/powerpoint/2010/main" val="4164946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9E1F62-D3F9-22C0-5FC4-15D6BC48B384}"/>
              </a:ext>
            </a:extLst>
          </p:cNvPr>
          <p:cNvSpPr>
            <a:spLocks noGrp="1"/>
          </p:cNvSpPr>
          <p:nvPr>
            <p:ph type="title"/>
          </p:nvPr>
        </p:nvSpPr>
        <p:spPr/>
        <p:txBody>
          <a:bodyPr/>
          <a:lstStyle/>
          <a:p>
            <a:r>
              <a:rPr lang="de-DE" dirty="0"/>
              <a:t>Windows Admin Center vs. PerfMon</a:t>
            </a:r>
          </a:p>
        </p:txBody>
      </p:sp>
      <p:sp>
        <p:nvSpPr>
          <p:cNvPr id="3" name="Inhaltsplatzhalter 2">
            <a:extLst>
              <a:ext uri="{FF2B5EF4-FFF2-40B4-BE49-F238E27FC236}">
                <a16:creationId xmlns:a16="http://schemas.microsoft.com/office/drawing/2014/main" id="{8F86535C-6B8A-1020-24C2-3B40252003A9}"/>
              </a:ext>
            </a:extLst>
          </p:cNvPr>
          <p:cNvSpPr>
            <a:spLocks noGrp="1"/>
          </p:cNvSpPr>
          <p:nvPr>
            <p:ph sz="half" idx="1"/>
          </p:nvPr>
        </p:nvSpPr>
        <p:spPr/>
        <p:txBody>
          <a:bodyPr>
            <a:normAutofit fontScale="85000" lnSpcReduction="10000"/>
          </a:bodyPr>
          <a:lstStyle/>
          <a:p>
            <a:r>
              <a:rPr lang="en-US" dirty="0"/>
              <a:t>Windows Admin Server</a:t>
            </a:r>
          </a:p>
          <a:p>
            <a:pPr lvl="1"/>
            <a:r>
              <a:rPr lang="en-US" dirty="0"/>
              <a:t>Windows Admin Center is generally more suitable for administrators looking for an all-in-one, user-friendly tool for managing multiple servers</a:t>
            </a:r>
          </a:p>
          <a:p>
            <a:pPr lvl="1"/>
            <a:r>
              <a:rPr lang="en-US" dirty="0"/>
              <a:t>ease of use</a:t>
            </a:r>
          </a:p>
          <a:p>
            <a:pPr lvl="1"/>
            <a:r>
              <a:rPr lang="en-US" dirty="0"/>
              <a:t>centralized management.</a:t>
            </a:r>
          </a:p>
          <a:p>
            <a:r>
              <a:rPr lang="en-US" dirty="0"/>
              <a:t>Performance Monitor</a:t>
            </a:r>
          </a:p>
          <a:p>
            <a:pPr lvl="1"/>
            <a:r>
              <a:rPr lang="en-US" dirty="0"/>
              <a:t> PerfMon remains a powerful tool for more in-depth, counter-specific monitoring on individual servers, </a:t>
            </a:r>
          </a:p>
          <a:p>
            <a:pPr lvl="1"/>
            <a:r>
              <a:rPr lang="en-US" dirty="0"/>
              <a:t>use may be limited to specific scenarios where detailed monitoring is required without needing broader server management features.</a:t>
            </a:r>
          </a:p>
          <a:p>
            <a:pPr marL="0" indent="0">
              <a:buNone/>
            </a:pPr>
            <a:r>
              <a:rPr lang="en-US" dirty="0">
                <a:solidFill>
                  <a:schemeClr val="accent6">
                    <a:lumMod val="75000"/>
                  </a:schemeClr>
                </a:solidFill>
              </a:rPr>
              <a:t>Use Windows Admin Center for day-to-day management</a:t>
            </a:r>
          </a:p>
          <a:p>
            <a:pPr marL="0" indent="0">
              <a:buNone/>
            </a:pPr>
            <a:r>
              <a:rPr lang="en-US" dirty="0">
                <a:solidFill>
                  <a:schemeClr val="accent6">
                    <a:lumMod val="75000"/>
                  </a:schemeClr>
                </a:solidFill>
              </a:rPr>
              <a:t>Use PerfMon as a specialized tool for deep performance diagnostics</a:t>
            </a:r>
            <a:endParaRPr lang="de-DE" dirty="0">
              <a:solidFill>
                <a:schemeClr val="accent6">
                  <a:lumMod val="75000"/>
                </a:schemeClr>
              </a:solidFill>
            </a:endParaRPr>
          </a:p>
        </p:txBody>
      </p:sp>
      <p:pic>
        <p:nvPicPr>
          <p:cNvPr id="6" name="Inhaltsplatzhalter 5">
            <a:extLst>
              <a:ext uri="{FF2B5EF4-FFF2-40B4-BE49-F238E27FC236}">
                <a16:creationId xmlns:a16="http://schemas.microsoft.com/office/drawing/2014/main" id="{CA123964-A637-F182-9BC8-5AB5D76803C3}"/>
              </a:ext>
            </a:extLst>
          </p:cNvPr>
          <p:cNvPicPr>
            <a:picLocks noGrp="1" noChangeAspect="1"/>
          </p:cNvPicPr>
          <p:nvPr>
            <p:ph sz="half" idx="2"/>
          </p:nvPr>
        </p:nvPicPr>
        <p:blipFill>
          <a:blip r:embed="rId2"/>
          <a:stretch>
            <a:fillRect/>
          </a:stretch>
        </p:blipFill>
        <p:spPr>
          <a:xfrm>
            <a:off x="6557214" y="1665288"/>
            <a:ext cx="5014822" cy="4572000"/>
          </a:xfr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55268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51C8-F520-0BB7-EF18-7A877A211B8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7A56B76-8DFF-FA77-B3F1-770EEE365CE5}"/>
              </a:ext>
            </a:extLst>
          </p:cNvPr>
          <p:cNvSpPr>
            <a:spLocks noGrp="1"/>
          </p:cNvSpPr>
          <p:nvPr>
            <p:ph type="title"/>
          </p:nvPr>
        </p:nvSpPr>
        <p:spPr/>
        <p:txBody>
          <a:bodyPr/>
          <a:lstStyle/>
          <a:p>
            <a:r>
              <a:rPr lang="en-US" dirty="0"/>
              <a:t>Windows Admin Center – Hands On/Demo</a:t>
            </a:r>
          </a:p>
        </p:txBody>
      </p:sp>
      <p:sp>
        <p:nvSpPr>
          <p:cNvPr id="3" name="Inhaltsplatzhalter 2">
            <a:extLst>
              <a:ext uri="{FF2B5EF4-FFF2-40B4-BE49-F238E27FC236}">
                <a16:creationId xmlns:a16="http://schemas.microsoft.com/office/drawing/2014/main" id="{53DA8CB9-CD42-3195-691F-49C817CF1EC5}"/>
              </a:ext>
            </a:extLst>
          </p:cNvPr>
          <p:cNvSpPr>
            <a:spLocks noGrp="1"/>
          </p:cNvSpPr>
          <p:nvPr>
            <p:ph sz="half" idx="1"/>
          </p:nvPr>
        </p:nvSpPr>
        <p:spPr/>
        <p:txBody>
          <a:bodyPr/>
          <a:lstStyle/>
          <a:p>
            <a:pPr lvl="1"/>
            <a:r>
              <a:rPr lang="en-US" dirty="0"/>
              <a:t>open the script</a:t>
            </a:r>
            <a:br>
              <a:rPr lang="en-US" dirty="0"/>
            </a:br>
            <a:r>
              <a:rPr lang="en-US" dirty="0"/>
              <a:t>	</a:t>
            </a:r>
            <a:r>
              <a:rPr lang="en-US" sz="1400" b="1" dirty="0">
                <a:solidFill>
                  <a:schemeClr val="accent5">
                    <a:lumMod val="75000"/>
                  </a:schemeClr>
                </a:solidFill>
                <a:latin typeface="Lucida Console" panose="020B0609040504020204" pitchFamily="49" charset="0"/>
              </a:rPr>
              <a:t>02 – demo of Windows Admin </a:t>
            </a:r>
            <a:r>
              <a:rPr lang="en-US" sz="1400" b="1" dirty="0" err="1">
                <a:solidFill>
                  <a:schemeClr val="accent5">
                    <a:lumMod val="75000"/>
                  </a:schemeClr>
                </a:solidFill>
                <a:latin typeface="Lucida Console" panose="020B0609040504020204" pitchFamily="49" charset="0"/>
              </a:rPr>
              <a:t>Center.sql</a:t>
            </a:r>
            <a:endParaRPr lang="en-US" sz="1400" b="1" dirty="0">
              <a:solidFill>
                <a:schemeClr val="accent5">
                  <a:lumMod val="75000"/>
                </a:schemeClr>
              </a:solidFill>
              <a:latin typeface="Lucida Console" panose="020B0609040504020204" pitchFamily="49" charset="0"/>
            </a:endParaRPr>
          </a:p>
          <a:p>
            <a:pPr lvl="1"/>
            <a:r>
              <a:rPr lang="en-US" dirty="0"/>
              <a:t>follow the instructions of the instructor</a:t>
            </a:r>
            <a:endParaRPr lang="en-US" sz="1400" b="1" dirty="0">
              <a:solidFill>
                <a:schemeClr val="accent5">
                  <a:lumMod val="75000"/>
                </a:schemeClr>
              </a:solidFill>
              <a:latin typeface="Lucida Console" panose="020B0609040504020204" pitchFamily="49" charset="0"/>
            </a:endParaRPr>
          </a:p>
          <a:p>
            <a:pPr lvl="1"/>
            <a:r>
              <a:rPr lang="en-US" dirty="0"/>
              <a:t>start SQL Query Stress</a:t>
            </a:r>
          </a:p>
          <a:p>
            <a:pPr lvl="1"/>
            <a:r>
              <a:rPr lang="en-US" dirty="0"/>
              <a:t>Load the pre-configuration set:</a:t>
            </a:r>
            <a:br>
              <a:rPr lang="en-US" dirty="0"/>
            </a:br>
            <a:r>
              <a:rPr lang="en-US" dirty="0"/>
              <a:t>	</a:t>
            </a:r>
            <a:r>
              <a:rPr lang="en-US" sz="1400" b="1" dirty="0">
                <a:latin typeface="Lucida Console" panose="020B0609040504020204" pitchFamily="49" charset="0"/>
              </a:rPr>
              <a:t>Windows Admin Center </a:t>
            </a:r>
            <a:r>
              <a:rPr lang="en-US" sz="1400" b="1" dirty="0" err="1">
                <a:latin typeface="Lucida Console" panose="020B0609040504020204" pitchFamily="49" charset="0"/>
              </a:rPr>
              <a:t>Demo.json</a:t>
            </a:r>
            <a:endParaRPr lang="en-US" sz="1400" b="1" dirty="0">
              <a:latin typeface="Lucida Console" panose="020B0609040504020204" pitchFamily="49" charset="0"/>
            </a:endParaRPr>
          </a:p>
          <a:p>
            <a:pPr lvl="1"/>
            <a:r>
              <a:rPr lang="en-US" dirty="0"/>
              <a:t>follow the next instructions of the instructor</a:t>
            </a:r>
            <a:br>
              <a:rPr lang="en-US" dirty="0"/>
            </a:br>
            <a:r>
              <a:rPr lang="en-US" dirty="0"/>
              <a:t>see the different execution plans in Query Store</a:t>
            </a:r>
          </a:p>
        </p:txBody>
      </p:sp>
      <p:pic>
        <p:nvPicPr>
          <p:cNvPr id="7" name="Inhaltsplatzhalter 5">
            <a:extLst>
              <a:ext uri="{FF2B5EF4-FFF2-40B4-BE49-F238E27FC236}">
                <a16:creationId xmlns:a16="http://schemas.microsoft.com/office/drawing/2014/main" id="{26AA90EF-3BD3-52CD-3AB6-ABD5A1E9F78A}"/>
              </a:ext>
            </a:extLst>
          </p:cNvPr>
          <p:cNvPicPr>
            <a:picLocks noGrp="1" noChangeAspect="1"/>
          </p:cNvPicPr>
          <p:nvPr>
            <p:ph sz="half" idx="2"/>
          </p:nvPr>
        </p:nvPicPr>
        <p:blipFill>
          <a:blip r:embed="rId2"/>
          <a:stretch>
            <a:fillRect/>
          </a:stretch>
        </p:blipFill>
        <p:spPr>
          <a:xfrm>
            <a:off x="6557214" y="1665288"/>
            <a:ext cx="5014822" cy="4572000"/>
          </a:xfr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11573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1370DAF-B7B4-D9B5-6CC8-D2CDCEFD8C7E}"/>
              </a:ext>
            </a:extLst>
          </p:cNvPr>
          <p:cNvSpPr>
            <a:spLocks noGrp="1"/>
          </p:cNvSpPr>
          <p:nvPr>
            <p:ph type="ctrTitle"/>
          </p:nvPr>
        </p:nvSpPr>
        <p:spPr/>
        <p:txBody>
          <a:bodyPr/>
          <a:lstStyle/>
          <a:p>
            <a:r>
              <a:rPr lang="en-US" dirty="0"/>
              <a:t>Scenario #1</a:t>
            </a:r>
          </a:p>
        </p:txBody>
      </p:sp>
      <p:sp>
        <p:nvSpPr>
          <p:cNvPr id="5" name="Untertitel 4">
            <a:extLst>
              <a:ext uri="{FF2B5EF4-FFF2-40B4-BE49-F238E27FC236}">
                <a16:creationId xmlns:a16="http://schemas.microsoft.com/office/drawing/2014/main" id="{0F6657EA-C526-1DA9-88E9-04AC462B1B78}"/>
              </a:ext>
            </a:extLst>
          </p:cNvPr>
          <p:cNvSpPr>
            <a:spLocks noGrp="1"/>
          </p:cNvSpPr>
          <p:nvPr>
            <p:ph type="subTitle" idx="1"/>
          </p:nvPr>
        </p:nvSpPr>
        <p:spPr/>
        <p:txBody>
          <a:bodyPr/>
          <a:lstStyle/>
          <a:p>
            <a:r>
              <a:rPr lang="en-US" dirty="0"/>
              <a:t>When functions don‘t work</a:t>
            </a:r>
          </a:p>
        </p:txBody>
      </p:sp>
    </p:spTree>
    <p:extLst>
      <p:ext uri="{BB962C8B-B14F-4D97-AF65-F5344CB8AC3E}">
        <p14:creationId xmlns:p14="http://schemas.microsoft.com/office/powerpoint/2010/main" val="3652038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EB023-6951-7EFF-FE4D-2047F18A9DF8}"/>
              </a:ext>
            </a:extLst>
          </p:cNvPr>
          <p:cNvSpPr>
            <a:spLocks noGrp="1"/>
          </p:cNvSpPr>
          <p:nvPr>
            <p:ph type="title"/>
          </p:nvPr>
        </p:nvSpPr>
        <p:spPr/>
        <p:txBody>
          <a:bodyPr/>
          <a:lstStyle/>
          <a:p>
            <a:r>
              <a:rPr lang="de-DE" dirty="0"/>
              <a:t>Scenario 1 - Problem Description</a:t>
            </a:r>
          </a:p>
        </p:txBody>
      </p:sp>
      <p:sp>
        <p:nvSpPr>
          <p:cNvPr id="3" name="Inhaltsplatzhalter 2">
            <a:extLst>
              <a:ext uri="{FF2B5EF4-FFF2-40B4-BE49-F238E27FC236}">
                <a16:creationId xmlns:a16="http://schemas.microsoft.com/office/drawing/2014/main" id="{3A8154F0-962D-21DD-4A9F-7CFF4A489FD1}"/>
              </a:ext>
            </a:extLst>
          </p:cNvPr>
          <p:cNvSpPr>
            <a:spLocks noGrp="1"/>
          </p:cNvSpPr>
          <p:nvPr>
            <p:ph idx="1"/>
          </p:nvPr>
        </p:nvSpPr>
        <p:spPr/>
        <p:txBody>
          <a:bodyPr/>
          <a:lstStyle/>
          <a:p>
            <a:r>
              <a:rPr lang="en-US" b="1" dirty="0"/>
              <a:t>Description</a:t>
            </a:r>
          </a:p>
          <a:p>
            <a:pPr lvl="1"/>
            <a:r>
              <a:rPr lang="en-US" dirty="0"/>
              <a:t>A job engine produces 24/7 for ~1.600.000 customers daily a class-type calculation. Since lots of customers must be recalculated every day, the job engine is working with 20 simultaneous processes.</a:t>
            </a:r>
          </a:p>
          <a:p>
            <a:pPr lvl="1"/>
            <a:r>
              <a:rPr lang="en-US" dirty="0"/>
              <a:t>The developers are using a User Defined Function for the calculation of the class type!</a:t>
            </a:r>
          </a:p>
          <a:p>
            <a:pPr lvl="1"/>
            <a:r>
              <a:rPr lang="en-US" dirty="0"/>
              <a:t>If there are no numbers for the given year, the UDF is using the previous year and reduce the classification by one step (e.g. an “A” in the previous year turns into a “B” for the actual year).</a:t>
            </a:r>
          </a:p>
          <a:p>
            <a:r>
              <a:rPr lang="en-US" b="1" dirty="0"/>
              <a:t>Problem</a:t>
            </a:r>
          </a:p>
          <a:p>
            <a:pPr lvl="1"/>
            <a:r>
              <a:rPr lang="en-US" dirty="0"/>
              <a:t>If the job queue has a particularly large number of entries (&gt; 1,000,000), performance drops and the system is no longer able to respond!</a:t>
            </a:r>
          </a:p>
          <a:p>
            <a:pPr lvl="1"/>
            <a:r>
              <a:rPr lang="en-US" dirty="0"/>
              <a:t>We observe high latency on the system database TEMPDB when the number of entries raise (correlation?).</a:t>
            </a:r>
            <a:endParaRPr lang="de-DE" dirty="0"/>
          </a:p>
        </p:txBody>
      </p:sp>
    </p:spTree>
    <p:extLst>
      <p:ext uri="{BB962C8B-B14F-4D97-AF65-F5344CB8AC3E}">
        <p14:creationId xmlns:p14="http://schemas.microsoft.com/office/powerpoint/2010/main" val="1275382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FBCE3D-0415-83FB-7AA5-95F3ADFD84D7}"/>
              </a:ext>
            </a:extLst>
          </p:cNvPr>
          <p:cNvSpPr>
            <a:spLocks noGrp="1"/>
          </p:cNvSpPr>
          <p:nvPr>
            <p:ph type="title"/>
          </p:nvPr>
        </p:nvSpPr>
        <p:spPr/>
        <p:txBody>
          <a:bodyPr/>
          <a:lstStyle/>
          <a:p>
            <a:r>
              <a:rPr lang="en-US" dirty="0"/>
              <a:t>Scenario 1 - Preparation</a:t>
            </a:r>
          </a:p>
        </p:txBody>
      </p:sp>
      <p:sp>
        <p:nvSpPr>
          <p:cNvPr id="3" name="Inhaltsplatzhalter 2">
            <a:extLst>
              <a:ext uri="{FF2B5EF4-FFF2-40B4-BE49-F238E27FC236}">
                <a16:creationId xmlns:a16="http://schemas.microsoft.com/office/drawing/2014/main" id="{3157281D-DF73-5D1C-793E-C5F1FC480217}"/>
              </a:ext>
            </a:extLst>
          </p:cNvPr>
          <p:cNvSpPr>
            <a:spLocks noGrp="1"/>
          </p:cNvSpPr>
          <p:nvPr>
            <p:ph idx="1"/>
          </p:nvPr>
        </p:nvSpPr>
        <p:spPr/>
        <p:txBody>
          <a:bodyPr/>
          <a:lstStyle/>
          <a:p>
            <a:r>
              <a:rPr lang="en-US" b="1" dirty="0"/>
              <a:t>Demo Configuration</a:t>
            </a:r>
          </a:p>
          <a:p>
            <a:pPr lvl="1"/>
            <a:r>
              <a:rPr lang="en-US" dirty="0"/>
              <a:t>To demonstrate the problem, two tables (</a:t>
            </a:r>
            <a:r>
              <a:rPr lang="en-US" b="1" dirty="0"/>
              <a:t>[</a:t>
            </a:r>
            <a:r>
              <a:rPr lang="en-US" b="1" dirty="0" err="1"/>
              <a:t>dbo</a:t>
            </a:r>
            <a:r>
              <a:rPr lang="en-US" b="1" dirty="0"/>
              <a:t>].[customers] </a:t>
            </a:r>
            <a:r>
              <a:rPr lang="en-US" dirty="0"/>
              <a:t>and </a:t>
            </a:r>
            <a:r>
              <a:rPr lang="en-US" b="1" dirty="0"/>
              <a:t>[</a:t>
            </a:r>
            <a:r>
              <a:rPr lang="en-US" b="1" dirty="0" err="1"/>
              <a:t>dbo</a:t>
            </a:r>
            <a:r>
              <a:rPr lang="en-US" b="1" dirty="0"/>
              <a:t>].[orders]</a:t>
            </a:r>
            <a:r>
              <a:rPr lang="en-US" dirty="0"/>
              <a:t>) are used.</a:t>
            </a:r>
          </a:p>
          <a:p>
            <a:pPr lvl="1"/>
            <a:r>
              <a:rPr lang="en-US" dirty="0"/>
              <a:t>A user-defined function </a:t>
            </a:r>
            <a:r>
              <a:rPr lang="en-US" sz="1800" dirty="0" err="1">
                <a:solidFill>
                  <a:srgbClr val="000000"/>
                </a:solidFill>
                <a:highlight>
                  <a:srgbClr val="FFFFFF"/>
                </a:highlight>
                <a:latin typeface="Cascadia Mono" panose="020B0609020000020004" pitchFamily="49" charset="0"/>
              </a:rPr>
              <a:t>dbo</a:t>
            </a:r>
            <a:r>
              <a:rPr lang="en-US" sz="1800" dirty="0" err="1">
                <a:solidFill>
                  <a:srgbClr val="80808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calculate_customer_category</a:t>
            </a:r>
            <a:r>
              <a:rPr lang="en-US" sz="1800" dirty="0">
                <a:solidFill>
                  <a:srgbClr val="000000"/>
                </a:solidFill>
                <a:highlight>
                  <a:srgbClr val="FFFFFF"/>
                </a:highlight>
                <a:latin typeface="Cascadia Mono" panose="020B0609020000020004" pitchFamily="49" charset="0"/>
              </a:rPr>
              <a:t>()</a:t>
            </a:r>
            <a:r>
              <a:rPr lang="en-US" dirty="0"/>
              <a:t> is implemented.</a:t>
            </a:r>
          </a:p>
          <a:p>
            <a:pPr lvl="1"/>
            <a:r>
              <a:rPr lang="en-US" dirty="0"/>
              <a:t>It analyzes the orders for a customer (identified by customer number (</a:t>
            </a:r>
            <a:r>
              <a:rPr lang="en-US" b="1" dirty="0"/>
              <a:t>[</a:t>
            </a:r>
            <a:r>
              <a:rPr lang="en-US" b="1" dirty="0" err="1"/>
              <a:t>c_custkey</a:t>
            </a:r>
            <a:r>
              <a:rPr lang="en-US" b="1" dirty="0"/>
              <a:t>]</a:t>
            </a:r>
            <a:r>
              <a:rPr lang="en-US" dirty="0"/>
              <a:t>) and categorizes this customer.</a:t>
            </a:r>
          </a:p>
          <a:p>
            <a:r>
              <a:rPr lang="en-US" b="1" dirty="0"/>
              <a:t>Demo Setup</a:t>
            </a:r>
          </a:p>
          <a:p>
            <a:pPr lvl="1"/>
            <a:r>
              <a:rPr lang="en-US" dirty="0"/>
              <a:t>execute the script </a:t>
            </a:r>
            <a:r>
              <a:rPr lang="en-US" sz="2000" b="1" dirty="0">
                <a:solidFill>
                  <a:schemeClr val="accent5"/>
                </a:solidFill>
                <a:latin typeface="Lucida Console" panose="020B0609040504020204" pitchFamily="49" charset="0"/>
              </a:rPr>
              <a:t>01 - scenario 01 – </a:t>
            </a:r>
            <a:r>
              <a:rPr lang="en-US" sz="2000" b="1" dirty="0" err="1">
                <a:solidFill>
                  <a:schemeClr val="accent5"/>
                </a:solidFill>
                <a:latin typeface="Lucida Console" panose="020B0609040504020204" pitchFamily="49" charset="0"/>
              </a:rPr>
              <a:t>preparation.sql</a:t>
            </a:r>
            <a:r>
              <a:rPr lang="en-US" sz="2000" dirty="0"/>
              <a:t> </a:t>
            </a:r>
            <a:r>
              <a:rPr lang="en-US" dirty="0"/>
              <a:t>to prepare [</a:t>
            </a:r>
            <a:r>
              <a:rPr lang="en-US" dirty="0" err="1"/>
              <a:t>dbo</a:t>
            </a:r>
            <a:r>
              <a:rPr lang="en-US" dirty="0"/>
              <a:t>].[customers] and [</a:t>
            </a:r>
            <a:r>
              <a:rPr lang="en-US" dirty="0" err="1"/>
              <a:t>dbo</a:t>
            </a:r>
            <a:r>
              <a:rPr lang="en-US" dirty="0"/>
              <a:t>].[orders] with indexes and Foreign Key References.</a:t>
            </a:r>
          </a:p>
          <a:p>
            <a:pPr lvl="1"/>
            <a:r>
              <a:rPr lang="en-US" dirty="0"/>
              <a:t>execute the script </a:t>
            </a:r>
            <a:r>
              <a:rPr lang="en-US" sz="2000" b="1" dirty="0">
                <a:solidFill>
                  <a:schemeClr val="accent5"/>
                </a:solidFill>
                <a:latin typeface="Lucida Console" panose="020B0609040504020204" pitchFamily="49" charset="0"/>
              </a:rPr>
              <a:t>02 - scenario 01 - user defined </a:t>
            </a:r>
            <a:r>
              <a:rPr lang="en-US" sz="2000" b="1" dirty="0" err="1">
                <a:solidFill>
                  <a:schemeClr val="accent5"/>
                </a:solidFill>
                <a:latin typeface="Lucida Console" panose="020B0609040504020204" pitchFamily="49" charset="0"/>
              </a:rPr>
              <a:t>function.sql</a:t>
            </a:r>
            <a:r>
              <a:rPr lang="en-US" sz="2000" b="1" dirty="0">
                <a:solidFill>
                  <a:schemeClr val="accent5"/>
                </a:solidFill>
                <a:latin typeface="Lucida Console" panose="020B0609040504020204" pitchFamily="49" charset="0"/>
              </a:rPr>
              <a:t> </a:t>
            </a:r>
            <a:r>
              <a:rPr lang="en-US" dirty="0"/>
              <a:t>to create the user defined function.</a:t>
            </a:r>
          </a:p>
          <a:p>
            <a:pPr lvl="1"/>
            <a:r>
              <a:rPr lang="en-US" dirty="0"/>
              <a:t>Execute the script </a:t>
            </a:r>
            <a:r>
              <a:rPr lang="en-US" b="1" dirty="0">
                <a:solidFill>
                  <a:schemeClr val="accent5"/>
                </a:solidFill>
                <a:latin typeface="Lucida Console" panose="020B0609040504020204" pitchFamily="49" charset="0"/>
              </a:rPr>
              <a:t>03 - scenario 01 - </a:t>
            </a:r>
            <a:r>
              <a:rPr lang="en-US" b="1" dirty="0" err="1">
                <a:solidFill>
                  <a:schemeClr val="accent5"/>
                </a:solidFill>
                <a:latin typeface="Lucida Console" panose="020B0609040504020204" pitchFamily="49" charset="0"/>
              </a:rPr>
              <a:t>get_customer_classification.sql</a:t>
            </a:r>
            <a:r>
              <a:rPr lang="en-US" sz="2000" b="1" dirty="0">
                <a:solidFill>
                  <a:schemeClr val="accent5"/>
                </a:solidFill>
                <a:latin typeface="Lucida Console" panose="020B0609040504020204" pitchFamily="49" charset="0"/>
              </a:rPr>
              <a:t> </a:t>
            </a:r>
            <a:r>
              <a:rPr lang="en-US" dirty="0"/>
              <a:t>to create the stored procedure.</a:t>
            </a:r>
          </a:p>
        </p:txBody>
      </p:sp>
    </p:spTree>
    <p:extLst>
      <p:ext uri="{BB962C8B-B14F-4D97-AF65-F5344CB8AC3E}">
        <p14:creationId xmlns:p14="http://schemas.microsoft.com/office/powerpoint/2010/main" val="2156939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62D85-22CE-8C9A-112E-465FF303DA08}"/>
              </a:ext>
            </a:extLst>
          </p:cNvPr>
          <p:cNvSpPr>
            <a:spLocks noGrp="1"/>
          </p:cNvSpPr>
          <p:nvPr>
            <p:ph type="title"/>
          </p:nvPr>
        </p:nvSpPr>
        <p:spPr/>
        <p:txBody>
          <a:bodyPr/>
          <a:lstStyle/>
          <a:p>
            <a:r>
              <a:rPr lang="en-US" dirty="0"/>
              <a:t>Scenario 01 – Test Environment</a:t>
            </a:r>
          </a:p>
        </p:txBody>
      </p:sp>
      <p:sp>
        <p:nvSpPr>
          <p:cNvPr id="3" name="Inhaltsplatzhalter 2">
            <a:extLst>
              <a:ext uri="{FF2B5EF4-FFF2-40B4-BE49-F238E27FC236}">
                <a16:creationId xmlns:a16="http://schemas.microsoft.com/office/drawing/2014/main" id="{C03F04A0-E173-0D1F-03D7-387856EB6250}"/>
              </a:ext>
            </a:extLst>
          </p:cNvPr>
          <p:cNvSpPr>
            <a:spLocks noGrp="1"/>
          </p:cNvSpPr>
          <p:nvPr>
            <p:ph sz="half" idx="1"/>
          </p:nvPr>
        </p:nvSpPr>
        <p:spPr/>
        <p:txBody>
          <a:bodyPr/>
          <a:lstStyle/>
          <a:p>
            <a:r>
              <a:rPr lang="en-US" dirty="0"/>
              <a:t>Load the stress test</a:t>
            </a:r>
            <a:br>
              <a:rPr lang="en-US" dirty="0"/>
            </a:br>
            <a:r>
              <a:rPr lang="en-US" sz="2000" b="1" dirty="0">
                <a:latin typeface="Lucida Console" panose="020B0609040504020204" pitchFamily="49" charset="0"/>
              </a:rPr>
              <a:t>Workshop - scenario 01.json</a:t>
            </a:r>
            <a:br>
              <a:rPr lang="en-US" sz="2000" dirty="0">
                <a:latin typeface="Lucida Console" panose="020B0609040504020204" pitchFamily="49" charset="0"/>
              </a:rPr>
            </a:br>
            <a:r>
              <a:rPr lang="en-US" dirty="0"/>
              <a:t>as configuration in SQLQueryStress</a:t>
            </a:r>
          </a:p>
          <a:p>
            <a:r>
              <a:rPr lang="en-US" dirty="0"/>
              <a:t>Load the analysis script</a:t>
            </a:r>
            <a:br>
              <a:rPr lang="en-US" dirty="0"/>
            </a:br>
            <a:r>
              <a:rPr lang="en-US" sz="2000" b="1" dirty="0">
                <a:latin typeface="Lucida Console" panose="020B0609040504020204" pitchFamily="49" charset="0"/>
              </a:rPr>
              <a:t>Workshop - scenario 01.json</a:t>
            </a:r>
            <a:br>
              <a:rPr lang="en-US" dirty="0">
                <a:latin typeface="Lucida Console" panose="020B0609040504020204" pitchFamily="49" charset="0"/>
              </a:rPr>
            </a:br>
            <a:r>
              <a:rPr lang="en-US" dirty="0"/>
              <a:t>into Windows Admin Server</a:t>
            </a:r>
          </a:p>
        </p:txBody>
      </p:sp>
      <p:pic>
        <p:nvPicPr>
          <p:cNvPr id="6" name="Inhaltsplatzhalter 5">
            <a:extLst>
              <a:ext uri="{FF2B5EF4-FFF2-40B4-BE49-F238E27FC236}">
                <a16:creationId xmlns:a16="http://schemas.microsoft.com/office/drawing/2014/main" id="{35C0CDBC-A16E-660C-F67A-BD4D5ACA58E8}"/>
              </a:ext>
            </a:extLst>
          </p:cNvPr>
          <p:cNvPicPr>
            <a:picLocks noGrp="1" noChangeAspect="1"/>
          </p:cNvPicPr>
          <p:nvPr>
            <p:ph sz="half" idx="2"/>
          </p:nvPr>
        </p:nvPicPr>
        <p:blipFill>
          <a:blip r:embed="rId2"/>
          <a:stretch>
            <a:fillRect/>
          </a:stretch>
        </p:blipFill>
        <p:spPr>
          <a:xfrm>
            <a:off x="6272213" y="2222959"/>
            <a:ext cx="5584825" cy="3456658"/>
          </a:xfrm>
        </p:spPr>
      </p:pic>
    </p:spTree>
    <p:extLst>
      <p:ext uri="{BB962C8B-B14F-4D97-AF65-F5344CB8AC3E}">
        <p14:creationId xmlns:p14="http://schemas.microsoft.com/office/powerpoint/2010/main" val="920153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F61C82-AE21-672C-7462-A5E402111440}"/>
              </a:ext>
            </a:extLst>
          </p:cNvPr>
          <p:cNvSpPr>
            <a:spLocks noGrp="1"/>
          </p:cNvSpPr>
          <p:nvPr>
            <p:ph type="title"/>
          </p:nvPr>
        </p:nvSpPr>
        <p:spPr/>
        <p:txBody>
          <a:bodyPr/>
          <a:lstStyle/>
          <a:p>
            <a:r>
              <a:rPr lang="en-US" dirty="0"/>
              <a:t>Scenario 1 - Findings </a:t>
            </a:r>
          </a:p>
        </p:txBody>
      </p:sp>
      <p:sp>
        <p:nvSpPr>
          <p:cNvPr id="4" name="Inhaltsplatzhalter 3">
            <a:extLst>
              <a:ext uri="{FF2B5EF4-FFF2-40B4-BE49-F238E27FC236}">
                <a16:creationId xmlns:a16="http://schemas.microsoft.com/office/drawing/2014/main" id="{35A56122-B5DB-9476-584C-79DB6AD81415}"/>
              </a:ext>
            </a:extLst>
          </p:cNvPr>
          <p:cNvSpPr>
            <a:spLocks noGrp="1"/>
          </p:cNvSpPr>
          <p:nvPr>
            <p:ph idx="1"/>
          </p:nvPr>
        </p:nvSpPr>
        <p:spPr/>
        <p:txBody>
          <a:bodyPr/>
          <a:lstStyle/>
          <a:p>
            <a:r>
              <a:rPr lang="en-US" dirty="0"/>
              <a:t>Avoid multiple manipulations on temporary objects</a:t>
            </a:r>
            <a:br>
              <a:rPr lang="en-US" dirty="0"/>
            </a:br>
            <a:r>
              <a:rPr lang="en-US" dirty="0"/>
              <a:t>This technique will reduce TEMPDB activity</a:t>
            </a:r>
          </a:p>
          <a:p>
            <a:r>
              <a:rPr lang="en-US" dirty="0"/>
              <a:t>Avoid NONSargable expressions and replace them with </a:t>
            </a:r>
            <a:r>
              <a:rPr lang="en-US" dirty="0" err="1"/>
              <a:t>SARGable</a:t>
            </a:r>
            <a:r>
              <a:rPr lang="en-US" dirty="0"/>
              <a:t> expressions</a:t>
            </a:r>
            <a:br>
              <a:rPr lang="en-US" dirty="0"/>
            </a:br>
            <a:r>
              <a:rPr lang="en-US" dirty="0"/>
              <a:t>NONSargable expressions will lead to</a:t>
            </a:r>
          </a:p>
          <a:p>
            <a:pPr lvl="1"/>
            <a:r>
              <a:rPr lang="en-US" dirty="0"/>
              <a:t>Residual predicates</a:t>
            </a:r>
          </a:p>
          <a:p>
            <a:pPr lvl="1"/>
            <a:r>
              <a:rPr lang="en-US" dirty="0"/>
              <a:t>FULL scans</a:t>
            </a:r>
          </a:p>
          <a:p>
            <a:r>
              <a:rPr lang="en-US" dirty="0"/>
              <a:t>Avoid to use SCALAR or Multiline functions and try to rewrite them as an</a:t>
            </a:r>
            <a:br>
              <a:rPr lang="en-US" dirty="0"/>
            </a:br>
            <a:r>
              <a:rPr lang="en-US" dirty="0"/>
              <a:t>Inline-Function.</a:t>
            </a:r>
          </a:p>
          <a:p>
            <a:r>
              <a:rPr lang="en-US" dirty="0"/>
              <a:t>Inline Functions can be interpreted by the compiler as relational operations within the same query (like views – but with parameters!)</a:t>
            </a:r>
          </a:p>
        </p:txBody>
      </p:sp>
    </p:spTree>
    <p:extLst>
      <p:ext uri="{BB962C8B-B14F-4D97-AF65-F5344CB8AC3E}">
        <p14:creationId xmlns:p14="http://schemas.microsoft.com/office/powerpoint/2010/main" val="1743379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87C9-911B-8F39-53A0-EF27393B2D9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28083150-40FB-524A-F247-00472CCAB81C}"/>
              </a:ext>
            </a:extLst>
          </p:cNvPr>
          <p:cNvSpPr>
            <a:spLocks noGrp="1"/>
          </p:cNvSpPr>
          <p:nvPr>
            <p:ph type="ctrTitle"/>
          </p:nvPr>
        </p:nvSpPr>
        <p:spPr/>
        <p:txBody>
          <a:bodyPr/>
          <a:lstStyle/>
          <a:p>
            <a:r>
              <a:rPr lang="en-US" dirty="0"/>
              <a:t>Scenario #2</a:t>
            </a:r>
          </a:p>
        </p:txBody>
      </p:sp>
      <p:sp>
        <p:nvSpPr>
          <p:cNvPr id="5" name="Untertitel 4">
            <a:extLst>
              <a:ext uri="{FF2B5EF4-FFF2-40B4-BE49-F238E27FC236}">
                <a16:creationId xmlns:a16="http://schemas.microsoft.com/office/drawing/2014/main" id="{9FA89152-22B6-0091-65D6-3FD4590C94DC}"/>
              </a:ext>
            </a:extLst>
          </p:cNvPr>
          <p:cNvSpPr>
            <a:spLocks noGrp="1"/>
          </p:cNvSpPr>
          <p:nvPr>
            <p:ph type="subTitle" idx="1"/>
          </p:nvPr>
        </p:nvSpPr>
        <p:spPr/>
        <p:txBody>
          <a:bodyPr/>
          <a:lstStyle/>
          <a:p>
            <a:r>
              <a:rPr lang="en-US" dirty="0"/>
              <a:t>Stop using table variables and temporary objects</a:t>
            </a:r>
          </a:p>
        </p:txBody>
      </p:sp>
    </p:spTree>
    <p:extLst>
      <p:ext uri="{BB962C8B-B14F-4D97-AF65-F5344CB8AC3E}">
        <p14:creationId xmlns:p14="http://schemas.microsoft.com/office/powerpoint/2010/main" val="3524899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B460C-EBAD-15DC-7279-42EBF2B53F2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4FFAB14-CB47-012B-4CEC-5F357B3DC49A}"/>
              </a:ext>
            </a:extLst>
          </p:cNvPr>
          <p:cNvSpPr>
            <a:spLocks noGrp="1"/>
          </p:cNvSpPr>
          <p:nvPr>
            <p:ph type="title"/>
          </p:nvPr>
        </p:nvSpPr>
        <p:spPr/>
        <p:txBody>
          <a:bodyPr/>
          <a:lstStyle/>
          <a:p>
            <a:r>
              <a:rPr lang="en-US" dirty="0"/>
              <a:t>Scenario 2 – Problem Description</a:t>
            </a:r>
          </a:p>
        </p:txBody>
      </p:sp>
      <p:sp>
        <p:nvSpPr>
          <p:cNvPr id="3" name="Inhaltsplatzhalter 2">
            <a:extLst>
              <a:ext uri="{FF2B5EF4-FFF2-40B4-BE49-F238E27FC236}">
                <a16:creationId xmlns:a16="http://schemas.microsoft.com/office/drawing/2014/main" id="{11457BA8-2A88-3CC3-2BE1-F8EB62F45485}"/>
              </a:ext>
            </a:extLst>
          </p:cNvPr>
          <p:cNvSpPr>
            <a:spLocks noGrp="1"/>
          </p:cNvSpPr>
          <p:nvPr>
            <p:ph sz="half" idx="1"/>
          </p:nvPr>
        </p:nvSpPr>
        <p:spPr/>
        <p:txBody>
          <a:bodyPr>
            <a:normAutofit/>
          </a:bodyPr>
          <a:lstStyle/>
          <a:p>
            <a:r>
              <a:rPr lang="en-US" b="1" dirty="0"/>
              <a:t>Description</a:t>
            </a:r>
          </a:p>
          <a:p>
            <a:pPr lvl="1"/>
            <a:r>
              <a:rPr lang="en-US" sz="1600" b="0" i="0" dirty="0">
                <a:solidFill>
                  <a:srgbClr val="1F2328"/>
                </a:solidFill>
                <a:effectLst/>
                <a:latin typeface="-apple-system"/>
              </a:rPr>
              <a:t>A software uses a table to queue jobs. Whenever a new job is to be queued, its details are written into this table. The table grows very quickly, as up to 100,000 jobs can be scheduled in one hour.</a:t>
            </a:r>
          </a:p>
          <a:p>
            <a:pPr lvl="1"/>
            <a:r>
              <a:rPr lang="en-US" sz="1600" b="0" i="0" dirty="0">
                <a:solidFill>
                  <a:srgbClr val="1F2328"/>
                </a:solidFill>
                <a:effectLst/>
                <a:latin typeface="-apple-system"/>
              </a:rPr>
              <a:t>A stored procedure manage the deletion of executed jobs.</a:t>
            </a:r>
          </a:p>
          <a:p>
            <a:pPr lvl="1"/>
            <a:r>
              <a:rPr lang="en-US" sz="1600" b="0" i="0" dirty="0">
                <a:solidFill>
                  <a:srgbClr val="1F2328"/>
                </a:solidFill>
                <a:effectLst/>
                <a:latin typeface="-apple-system"/>
              </a:rPr>
              <a:t>The first parameter specifies how many job entries should be deleted.</a:t>
            </a:r>
          </a:p>
          <a:p>
            <a:pPr lvl="1"/>
            <a:r>
              <a:rPr lang="en-US" sz="1600" b="0" i="0" dirty="0">
                <a:solidFill>
                  <a:srgbClr val="1F2328"/>
                </a:solidFill>
                <a:effectLst/>
                <a:latin typeface="-apple-system"/>
              </a:rPr>
              <a:t>The second parameter specifies the batch size.</a:t>
            </a:r>
            <a:endParaRPr lang="en-US" sz="1600" b="1" dirty="0"/>
          </a:p>
          <a:p>
            <a:r>
              <a:rPr lang="en-US" b="1" dirty="0"/>
              <a:t>Problem</a:t>
            </a:r>
          </a:p>
          <a:p>
            <a:pPr lvl="1"/>
            <a:r>
              <a:rPr lang="en-US" sz="1600" dirty="0"/>
              <a:t>Sometimes the table is growing very fast, and the maintenance job cannot scale.</a:t>
            </a:r>
          </a:p>
          <a:p>
            <a:pPr lvl="1"/>
            <a:r>
              <a:rPr lang="en-US" sz="1600" dirty="0"/>
              <a:t>The table is growing and the system suffers from performance problems.</a:t>
            </a:r>
          </a:p>
        </p:txBody>
      </p:sp>
      <p:pic>
        <p:nvPicPr>
          <p:cNvPr id="6" name="Inhaltsplatzhalter 5">
            <a:extLst>
              <a:ext uri="{FF2B5EF4-FFF2-40B4-BE49-F238E27FC236}">
                <a16:creationId xmlns:a16="http://schemas.microsoft.com/office/drawing/2014/main" id="{85B35874-04DB-9823-9669-87D39EEEFB19}"/>
              </a:ext>
            </a:extLst>
          </p:cNvPr>
          <p:cNvPicPr>
            <a:picLocks noGrp="1" noChangeAspect="1"/>
          </p:cNvPicPr>
          <p:nvPr>
            <p:ph sz="half" idx="2"/>
          </p:nvPr>
        </p:nvPicPr>
        <p:blipFill>
          <a:blip r:embed="rId2"/>
          <a:stretch>
            <a:fillRect/>
          </a:stretch>
        </p:blipFill>
        <p:spPr>
          <a:xfrm>
            <a:off x="6778625" y="1665288"/>
            <a:ext cx="4572000" cy="4572000"/>
          </a:xfrm>
        </p:spPr>
      </p:pic>
    </p:spTree>
    <p:extLst>
      <p:ext uri="{BB962C8B-B14F-4D97-AF65-F5344CB8AC3E}">
        <p14:creationId xmlns:p14="http://schemas.microsoft.com/office/powerpoint/2010/main" val="4257262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336BE62-59FD-34DF-657E-584EC96337FD}"/>
              </a:ext>
            </a:extLst>
          </p:cNvPr>
          <p:cNvSpPr>
            <a:spLocks noGrp="1"/>
          </p:cNvSpPr>
          <p:nvPr>
            <p:ph type="title"/>
          </p:nvPr>
        </p:nvSpPr>
        <p:spPr/>
        <p:txBody>
          <a:bodyPr/>
          <a:lstStyle/>
          <a:p>
            <a:r>
              <a:rPr lang="en-US" dirty="0"/>
              <a:t>Scenario 2 - Workflow</a:t>
            </a:r>
          </a:p>
        </p:txBody>
      </p:sp>
      <p:sp>
        <p:nvSpPr>
          <p:cNvPr id="6" name="Textfeld 5">
            <a:extLst>
              <a:ext uri="{FF2B5EF4-FFF2-40B4-BE49-F238E27FC236}">
                <a16:creationId xmlns:a16="http://schemas.microsoft.com/office/drawing/2014/main" id="{5D3AFB6D-CEC8-BACD-DE80-0B21255F3F1E}"/>
              </a:ext>
            </a:extLst>
          </p:cNvPr>
          <p:cNvSpPr txBox="1"/>
          <p:nvPr/>
        </p:nvSpPr>
        <p:spPr>
          <a:xfrm>
            <a:off x="334965" y="3059668"/>
            <a:ext cx="4415426" cy="73866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400" dirty="0">
                <a:solidFill>
                  <a:srgbClr val="0000FF"/>
                </a:solidFill>
                <a:highlight>
                  <a:srgbClr val="FFFFFF"/>
                </a:highlight>
                <a:latin typeface="Cascadia Mono" panose="020B0609020000020004" pitchFamily="49" charset="0"/>
              </a:rPr>
              <a:t>EXEC</a:t>
            </a:r>
            <a:r>
              <a:rPr lang="en-US" sz="1400" dirty="0">
                <a:solidFill>
                  <a:srgbClr val="000000"/>
                </a:solidFill>
                <a:highlight>
                  <a:srgbClr val="FFFFFF"/>
                </a:highlight>
                <a:latin typeface="Cascadia Mono" panose="020B0609020000020004" pitchFamily="49" charset="0"/>
              </a:rPr>
              <a:t> @return_value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jobqueue_delete</a:t>
            </a:r>
            <a:endParaRPr lang="en-US"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@rowlimit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3000</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@maxlimit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50000</a:t>
            </a:r>
            <a:r>
              <a:rPr lang="en-US" sz="1400" dirty="0">
                <a:solidFill>
                  <a:srgbClr val="808080"/>
                </a:solidFill>
                <a:highlight>
                  <a:srgbClr val="FFFFFF"/>
                </a:highlight>
                <a:latin typeface="Cascadia Mono" panose="020B0609020000020004" pitchFamily="49" charset="0"/>
              </a:rPr>
              <a:t>;</a:t>
            </a:r>
            <a:endParaRPr lang="en-US" sz="1400" dirty="0"/>
          </a:p>
        </p:txBody>
      </p:sp>
      <p:graphicFrame>
        <p:nvGraphicFramePr>
          <p:cNvPr id="7" name="Tabelle 6">
            <a:extLst>
              <a:ext uri="{FF2B5EF4-FFF2-40B4-BE49-F238E27FC236}">
                <a16:creationId xmlns:a16="http://schemas.microsoft.com/office/drawing/2014/main" id="{508006A0-7127-7B1F-0571-0A06165ED592}"/>
              </a:ext>
            </a:extLst>
          </p:cNvPr>
          <p:cNvGraphicFramePr>
            <a:graphicFrameLocks noGrp="1"/>
          </p:cNvGraphicFramePr>
          <p:nvPr>
            <p:extLst>
              <p:ext uri="{D42A27DB-BD31-4B8C-83A1-F6EECF244321}">
                <p14:modId xmlns:p14="http://schemas.microsoft.com/office/powerpoint/2010/main" val="4269815097"/>
              </p:ext>
            </p:extLst>
          </p:nvPr>
        </p:nvGraphicFramePr>
        <p:xfrm>
          <a:off x="5438382" y="2971800"/>
          <a:ext cx="2202493" cy="914400"/>
        </p:xfrm>
        <a:graphic>
          <a:graphicData uri="http://schemas.openxmlformats.org/drawingml/2006/table">
            <a:tbl>
              <a:tblPr firstRow="1" bandRow="1">
                <a:tableStyleId>{5C22544A-7EE6-4342-B048-85BDC9FD1C3A}</a:tableStyleId>
              </a:tblPr>
              <a:tblGrid>
                <a:gridCol w="2202493">
                  <a:extLst>
                    <a:ext uri="{9D8B030D-6E8A-4147-A177-3AD203B41FA5}">
                      <a16:colId xmlns:a16="http://schemas.microsoft.com/office/drawing/2014/main" val="3385209766"/>
                    </a:ext>
                  </a:extLst>
                </a:gridCol>
              </a:tblGrid>
              <a:tr h="231732">
                <a:tc>
                  <a:txBody>
                    <a:bodyPr/>
                    <a:lstStyle/>
                    <a:p>
                      <a:pPr algn="ctr"/>
                      <a:r>
                        <a:rPr lang="en-US" sz="1400" dirty="0" err="1">
                          <a:latin typeface="Lucida Console" panose="020B0609040504020204" pitchFamily="49" charset="0"/>
                        </a:rPr>
                        <a:t>dbo.jobqueue</a:t>
                      </a:r>
                      <a:endParaRPr lang="en-US" sz="1400" dirty="0">
                        <a:latin typeface="Lucida Console" panose="020B0609040504020204" pitchFamily="49" charset="0"/>
                      </a:endParaRPr>
                    </a:p>
                  </a:txBody>
                  <a:tcPr/>
                </a:tc>
                <a:extLst>
                  <a:ext uri="{0D108BD9-81ED-4DB2-BD59-A6C34878D82A}">
                    <a16:rowId xmlns:a16="http://schemas.microsoft.com/office/drawing/2014/main" val="3450080794"/>
                  </a:ext>
                </a:extLst>
              </a:tr>
              <a:tr h="231732">
                <a:tc>
                  <a:txBody>
                    <a:bodyPr/>
                    <a:lstStyle/>
                    <a:p>
                      <a:pPr algn="ctr"/>
                      <a:r>
                        <a:rPr lang="en-US" sz="1400" dirty="0">
                          <a:latin typeface="Lucida Console" panose="020B0609040504020204" pitchFamily="49" charset="0"/>
                        </a:rPr>
                        <a:t>TOP (@maxlimit)</a:t>
                      </a:r>
                    </a:p>
                  </a:txBody>
                  <a:tcPr/>
                </a:tc>
                <a:extLst>
                  <a:ext uri="{0D108BD9-81ED-4DB2-BD59-A6C34878D82A}">
                    <a16:rowId xmlns:a16="http://schemas.microsoft.com/office/drawing/2014/main" val="709904626"/>
                  </a:ext>
                </a:extLst>
              </a:tr>
              <a:tr h="231732">
                <a:tc>
                  <a:txBody>
                    <a:bodyPr/>
                    <a:lstStyle/>
                    <a:p>
                      <a:pPr algn="ctr"/>
                      <a:r>
                        <a:rPr lang="en-US" sz="1400" dirty="0">
                          <a:latin typeface="Lucida Console" panose="020B0609040504020204" pitchFamily="49" charset="0"/>
                        </a:rPr>
                        <a:t>WHERE generation</a:t>
                      </a:r>
                    </a:p>
                  </a:txBody>
                  <a:tcPr/>
                </a:tc>
                <a:extLst>
                  <a:ext uri="{0D108BD9-81ED-4DB2-BD59-A6C34878D82A}">
                    <a16:rowId xmlns:a16="http://schemas.microsoft.com/office/drawing/2014/main" val="416663872"/>
                  </a:ext>
                </a:extLst>
              </a:tr>
            </a:tbl>
          </a:graphicData>
        </a:graphic>
      </p:graphicFrame>
      <p:graphicFrame>
        <p:nvGraphicFramePr>
          <p:cNvPr id="8" name="Tabelle 7">
            <a:extLst>
              <a:ext uri="{FF2B5EF4-FFF2-40B4-BE49-F238E27FC236}">
                <a16:creationId xmlns:a16="http://schemas.microsoft.com/office/drawing/2014/main" id="{6298B4B0-4447-4661-5FEF-B1C3470C6C74}"/>
              </a:ext>
            </a:extLst>
          </p:cNvPr>
          <p:cNvGraphicFramePr>
            <a:graphicFrameLocks noGrp="1"/>
          </p:cNvGraphicFramePr>
          <p:nvPr>
            <p:extLst>
              <p:ext uri="{D42A27DB-BD31-4B8C-83A1-F6EECF244321}">
                <p14:modId xmlns:p14="http://schemas.microsoft.com/office/powerpoint/2010/main" val="3753672637"/>
              </p:ext>
            </p:extLst>
          </p:nvPr>
        </p:nvGraphicFramePr>
        <p:xfrm>
          <a:off x="8008305" y="2368463"/>
          <a:ext cx="2202493" cy="914400"/>
        </p:xfrm>
        <a:graphic>
          <a:graphicData uri="http://schemas.openxmlformats.org/drawingml/2006/table">
            <a:tbl>
              <a:tblPr firstRow="1" bandRow="1">
                <a:tableStyleId>{5C22544A-7EE6-4342-B048-85BDC9FD1C3A}</a:tableStyleId>
              </a:tblPr>
              <a:tblGrid>
                <a:gridCol w="2202493">
                  <a:extLst>
                    <a:ext uri="{9D8B030D-6E8A-4147-A177-3AD203B41FA5}">
                      <a16:colId xmlns:a16="http://schemas.microsoft.com/office/drawing/2014/main" val="3385209766"/>
                    </a:ext>
                  </a:extLst>
                </a:gridCol>
              </a:tblGrid>
              <a:tr h="231732">
                <a:tc>
                  <a:txBody>
                    <a:bodyPr/>
                    <a:lstStyle/>
                    <a:p>
                      <a:pPr algn="ctr"/>
                      <a:r>
                        <a:rPr lang="en-US" sz="1400" dirty="0">
                          <a:latin typeface="Lucida Console" panose="020B0609040504020204" pitchFamily="49" charset="0"/>
                        </a:rPr>
                        <a:t>@items</a:t>
                      </a:r>
                    </a:p>
                  </a:txBody>
                  <a:tcPr/>
                </a:tc>
                <a:extLst>
                  <a:ext uri="{0D108BD9-81ED-4DB2-BD59-A6C34878D82A}">
                    <a16:rowId xmlns:a16="http://schemas.microsoft.com/office/drawing/2014/main" val="3450080794"/>
                  </a:ext>
                </a:extLst>
              </a:tr>
              <a:tr h="231732">
                <a:tc>
                  <a:txBody>
                    <a:bodyPr/>
                    <a:lstStyle/>
                    <a:p>
                      <a:pPr algn="ctr"/>
                      <a:r>
                        <a:rPr lang="en-US" sz="1400" dirty="0" err="1">
                          <a:latin typeface="Lucida Console" panose="020B0609040504020204" pitchFamily="49" charset="0"/>
                        </a:rPr>
                        <a:t>Singleguid</a:t>
                      </a:r>
                      <a:endParaRPr lang="en-US" sz="1400" dirty="0">
                        <a:latin typeface="Lucida Console" panose="020B0609040504020204" pitchFamily="49" charset="0"/>
                      </a:endParaRPr>
                    </a:p>
                  </a:txBody>
                  <a:tcPr/>
                </a:tc>
                <a:extLst>
                  <a:ext uri="{0D108BD9-81ED-4DB2-BD59-A6C34878D82A}">
                    <a16:rowId xmlns:a16="http://schemas.microsoft.com/office/drawing/2014/main" val="709904626"/>
                  </a:ext>
                </a:extLst>
              </a:tr>
              <a:tr h="231732">
                <a:tc>
                  <a:txBody>
                    <a:bodyPr/>
                    <a:lstStyle/>
                    <a:p>
                      <a:pPr algn="ctr"/>
                      <a:r>
                        <a:rPr lang="en-US" sz="1400" dirty="0">
                          <a:latin typeface="Lucida Console" panose="020B0609040504020204" pitchFamily="49" charset="0"/>
                        </a:rPr>
                        <a:t>(TOP @rowlimit)</a:t>
                      </a:r>
                    </a:p>
                  </a:txBody>
                  <a:tcPr/>
                </a:tc>
                <a:extLst>
                  <a:ext uri="{0D108BD9-81ED-4DB2-BD59-A6C34878D82A}">
                    <a16:rowId xmlns:a16="http://schemas.microsoft.com/office/drawing/2014/main" val="4262513394"/>
                  </a:ext>
                </a:extLst>
              </a:tr>
            </a:tbl>
          </a:graphicData>
        </a:graphic>
      </p:graphicFrame>
      <p:sp>
        <p:nvSpPr>
          <p:cNvPr id="9" name="Geschweifte Klammer links 8">
            <a:extLst>
              <a:ext uri="{FF2B5EF4-FFF2-40B4-BE49-F238E27FC236}">
                <a16:creationId xmlns:a16="http://schemas.microsoft.com/office/drawing/2014/main" id="{5895D0D6-71FA-2577-C401-0427948120CB}"/>
              </a:ext>
            </a:extLst>
          </p:cNvPr>
          <p:cNvSpPr/>
          <p:nvPr/>
        </p:nvSpPr>
        <p:spPr>
          <a:xfrm>
            <a:off x="4856392" y="2229634"/>
            <a:ext cx="475989" cy="3757808"/>
          </a:xfrm>
          <a:prstGeom prst="leftBrace">
            <a:avLst>
              <a:gd name="adj1" fmla="val 8333"/>
              <a:gd name="adj2" fmla="val 31002"/>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Pfeil: gebogen 9">
            <a:extLst>
              <a:ext uri="{FF2B5EF4-FFF2-40B4-BE49-F238E27FC236}">
                <a16:creationId xmlns:a16="http://schemas.microsoft.com/office/drawing/2014/main" id="{753BF07E-FCCC-1A47-D2E2-E0260FFC93C7}"/>
              </a:ext>
            </a:extLst>
          </p:cNvPr>
          <p:cNvSpPr/>
          <p:nvPr/>
        </p:nvSpPr>
        <p:spPr>
          <a:xfrm>
            <a:off x="6452713" y="2567836"/>
            <a:ext cx="1555591" cy="403964"/>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11" name="Tabelle 10">
            <a:extLst>
              <a:ext uri="{FF2B5EF4-FFF2-40B4-BE49-F238E27FC236}">
                <a16:creationId xmlns:a16="http://schemas.microsoft.com/office/drawing/2014/main" id="{CE54F415-BFEF-9759-6FFB-7EDF222A489B}"/>
              </a:ext>
            </a:extLst>
          </p:cNvPr>
          <p:cNvGraphicFramePr>
            <a:graphicFrameLocks noGrp="1"/>
          </p:cNvGraphicFramePr>
          <p:nvPr>
            <p:extLst>
              <p:ext uri="{D42A27DB-BD31-4B8C-83A1-F6EECF244321}">
                <p14:modId xmlns:p14="http://schemas.microsoft.com/office/powerpoint/2010/main" val="2754958499"/>
              </p:ext>
            </p:extLst>
          </p:nvPr>
        </p:nvGraphicFramePr>
        <p:xfrm>
          <a:off x="8008304" y="3988561"/>
          <a:ext cx="2202493" cy="304800"/>
        </p:xfrm>
        <a:graphic>
          <a:graphicData uri="http://schemas.openxmlformats.org/drawingml/2006/table">
            <a:tbl>
              <a:tblPr firstRow="1" bandRow="1">
                <a:tableStyleId>{5C22544A-7EE6-4342-B048-85BDC9FD1C3A}</a:tableStyleId>
              </a:tblPr>
              <a:tblGrid>
                <a:gridCol w="2202493">
                  <a:extLst>
                    <a:ext uri="{9D8B030D-6E8A-4147-A177-3AD203B41FA5}">
                      <a16:colId xmlns:a16="http://schemas.microsoft.com/office/drawing/2014/main" val="3385209766"/>
                    </a:ext>
                  </a:extLst>
                </a:gridCol>
              </a:tblGrid>
              <a:tr h="231732">
                <a:tc>
                  <a:txBody>
                    <a:bodyPr/>
                    <a:lstStyle/>
                    <a:p>
                      <a:pPr algn="ctr"/>
                      <a:r>
                        <a:rPr lang="en-US" sz="1400" dirty="0">
                          <a:latin typeface="Lucida Console" panose="020B0609040504020204" pitchFamily="49" charset="0"/>
                        </a:rPr>
                        <a:t>@itemportion</a:t>
                      </a:r>
                    </a:p>
                  </a:txBody>
                  <a:tcPr/>
                </a:tc>
                <a:extLst>
                  <a:ext uri="{0D108BD9-81ED-4DB2-BD59-A6C34878D82A}">
                    <a16:rowId xmlns:a16="http://schemas.microsoft.com/office/drawing/2014/main" val="3450080794"/>
                  </a:ext>
                </a:extLst>
              </a:tr>
            </a:tbl>
          </a:graphicData>
        </a:graphic>
      </p:graphicFrame>
      <p:sp>
        <p:nvSpPr>
          <p:cNvPr id="12" name="Pfeil: nach unten 11">
            <a:extLst>
              <a:ext uri="{FF2B5EF4-FFF2-40B4-BE49-F238E27FC236}">
                <a16:creationId xmlns:a16="http://schemas.microsoft.com/office/drawing/2014/main" id="{7E314A04-E213-4C84-8790-37DC5FDE5D3A}"/>
              </a:ext>
            </a:extLst>
          </p:cNvPr>
          <p:cNvSpPr/>
          <p:nvPr/>
        </p:nvSpPr>
        <p:spPr>
          <a:xfrm>
            <a:off x="9006214" y="3282863"/>
            <a:ext cx="190253" cy="7056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ussdiagramm: Verzweigung 12">
            <a:extLst>
              <a:ext uri="{FF2B5EF4-FFF2-40B4-BE49-F238E27FC236}">
                <a16:creationId xmlns:a16="http://schemas.microsoft.com/office/drawing/2014/main" id="{969953FE-8526-20EF-769A-2D869181732A}"/>
              </a:ext>
            </a:extLst>
          </p:cNvPr>
          <p:cNvSpPr/>
          <p:nvPr/>
        </p:nvSpPr>
        <p:spPr>
          <a:xfrm>
            <a:off x="8008304" y="4465339"/>
            <a:ext cx="2202493" cy="57929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Rowcount</a:t>
            </a:r>
            <a:br>
              <a:rPr lang="en-US" sz="1200" dirty="0"/>
            </a:br>
            <a:r>
              <a:rPr lang="en-US" sz="1200" dirty="0"/>
              <a:t>&gt; 0</a:t>
            </a:r>
          </a:p>
        </p:txBody>
      </p:sp>
      <p:sp>
        <p:nvSpPr>
          <p:cNvPr id="14" name="Textfeld 13">
            <a:extLst>
              <a:ext uri="{FF2B5EF4-FFF2-40B4-BE49-F238E27FC236}">
                <a16:creationId xmlns:a16="http://schemas.microsoft.com/office/drawing/2014/main" id="{EA89E145-FE07-244D-720B-4AC5E3AD83D2}"/>
              </a:ext>
            </a:extLst>
          </p:cNvPr>
          <p:cNvSpPr txBox="1"/>
          <p:nvPr/>
        </p:nvSpPr>
        <p:spPr>
          <a:xfrm>
            <a:off x="8008304" y="5248405"/>
            <a:ext cx="2202493" cy="27699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200" dirty="0">
                <a:latin typeface="Lucida Console" panose="020B0609040504020204" pitchFamily="49" charset="0"/>
              </a:rPr>
              <a:t>UPDATE @items</a:t>
            </a:r>
          </a:p>
        </p:txBody>
      </p:sp>
      <p:sp>
        <p:nvSpPr>
          <p:cNvPr id="15" name="Textfeld 14">
            <a:extLst>
              <a:ext uri="{FF2B5EF4-FFF2-40B4-BE49-F238E27FC236}">
                <a16:creationId xmlns:a16="http://schemas.microsoft.com/office/drawing/2014/main" id="{71EE03A4-C6A5-351E-77D8-60B1E42D297F}"/>
              </a:ext>
            </a:extLst>
          </p:cNvPr>
          <p:cNvSpPr txBox="1"/>
          <p:nvPr/>
        </p:nvSpPr>
        <p:spPr>
          <a:xfrm>
            <a:off x="8008304" y="5819954"/>
            <a:ext cx="2202493" cy="27699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200" dirty="0">
                <a:latin typeface="Lucida Console" panose="020B0609040504020204" pitchFamily="49" charset="0"/>
              </a:rPr>
              <a:t>DELETE </a:t>
            </a:r>
            <a:r>
              <a:rPr lang="en-US" sz="1200" dirty="0" err="1">
                <a:latin typeface="Lucida Console" panose="020B0609040504020204" pitchFamily="49" charset="0"/>
              </a:rPr>
              <a:t>dbo.jobqueue</a:t>
            </a:r>
            <a:endParaRPr lang="en-US" sz="1200" dirty="0">
              <a:latin typeface="Lucida Console" panose="020B0609040504020204" pitchFamily="49" charset="0"/>
            </a:endParaRPr>
          </a:p>
        </p:txBody>
      </p:sp>
      <p:cxnSp>
        <p:nvCxnSpPr>
          <p:cNvPr id="17" name="Gerade Verbindung mit Pfeil 16">
            <a:extLst>
              <a:ext uri="{FF2B5EF4-FFF2-40B4-BE49-F238E27FC236}">
                <a16:creationId xmlns:a16="http://schemas.microsoft.com/office/drawing/2014/main" id="{641D8598-BD8E-55FD-C8B3-E9A2D371B18F}"/>
              </a:ext>
            </a:extLst>
          </p:cNvPr>
          <p:cNvCxnSpPr>
            <a:cxnSpLocks/>
            <a:stCxn id="11" idx="2"/>
            <a:endCxn id="13" idx="0"/>
          </p:cNvCxnSpPr>
          <p:nvPr/>
        </p:nvCxnSpPr>
        <p:spPr>
          <a:xfrm>
            <a:off x="9109550" y="4293361"/>
            <a:ext cx="1" cy="171978"/>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455B691C-C4DB-C68A-7184-4EFC0AA71BD5}"/>
              </a:ext>
            </a:extLst>
          </p:cNvPr>
          <p:cNvCxnSpPr>
            <a:stCxn id="13" idx="2"/>
            <a:endCxn id="14" idx="0"/>
          </p:cNvCxnSpPr>
          <p:nvPr/>
        </p:nvCxnSpPr>
        <p:spPr>
          <a:xfrm>
            <a:off x="9109551" y="5044635"/>
            <a:ext cx="0" cy="20377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359CDD78-EF19-1F0F-2B65-F150E9BEB2F9}"/>
              </a:ext>
            </a:extLst>
          </p:cNvPr>
          <p:cNvCxnSpPr>
            <a:cxnSpLocks/>
            <a:stCxn id="14" idx="2"/>
            <a:endCxn id="15" idx="0"/>
          </p:cNvCxnSpPr>
          <p:nvPr/>
        </p:nvCxnSpPr>
        <p:spPr>
          <a:xfrm>
            <a:off x="9109551" y="5525404"/>
            <a:ext cx="0" cy="29455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1939D2B4-B843-7C84-B725-9E91A841787E}"/>
              </a:ext>
            </a:extLst>
          </p:cNvPr>
          <p:cNvCxnSpPr>
            <a:cxnSpLocks/>
            <a:stCxn id="15" idx="3"/>
            <a:endCxn id="8" idx="3"/>
          </p:cNvCxnSpPr>
          <p:nvPr/>
        </p:nvCxnSpPr>
        <p:spPr>
          <a:xfrm flipV="1">
            <a:off x="10210797" y="2825663"/>
            <a:ext cx="1" cy="3132791"/>
          </a:xfrm>
          <a:prstGeom prst="bentConnector3">
            <a:avLst>
              <a:gd name="adj1" fmla="val 22860100000"/>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4D0396A5-719C-24C4-A498-CC4306DD835A}"/>
              </a:ext>
            </a:extLst>
          </p:cNvPr>
          <p:cNvSpPr txBox="1"/>
          <p:nvPr/>
        </p:nvSpPr>
        <p:spPr>
          <a:xfrm>
            <a:off x="5822513" y="4570321"/>
            <a:ext cx="1434229" cy="36933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dirty="0"/>
              <a:t>Exit!</a:t>
            </a:r>
          </a:p>
        </p:txBody>
      </p:sp>
      <p:cxnSp>
        <p:nvCxnSpPr>
          <p:cNvPr id="35" name="Gerade Verbindung mit Pfeil 34">
            <a:extLst>
              <a:ext uri="{FF2B5EF4-FFF2-40B4-BE49-F238E27FC236}">
                <a16:creationId xmlns:a16="http://schemas.microsoft.com/office/drawing/2014/main" id="{83D68D95-EFCE-D5A4-0452-2203C7A39CE9}"/>
              </a:ext>
            </a:extLst>
          </p:cNvPr>
          <p:cNvCxnSpPr>
            <a:stCxn id="13" idx="1"/>
            <a:endCxn id="33" idx="3"/>
          </p:cNvCxnSpPr>
          <p:nvPr/>
        </p:nvCxnSpPr>
        <p:spPr>
          <a:xfrm flipH="1">
            <a:off x="7256742" y="4754987"/>
            <a:ext cx="75156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32E33040-EA90-4270-150F-038ED7011FCA}"/>
              </a:ext>
            </a:extLst>
          </p:cNvPr>
          <p:cNvSpPr txBox="1"/>
          <p:nvPr/>
        </p:nvSpPr>
        <p:spPr>
          <a:xfrm>
            <a:off x="7256741" y="4507978"/>
            <a:ext cx="751562" cy="276999"/>
          </a:xfrm>
          <a:prstGeom prst="rect">
            <a:avLst/>
          </a:prstGeom>
          <a:noFill/>
        </p:spPr>
        <p:txBody>
          <a:bodyPr wrap="square" rtlCol="0">
            <a:spAutoFit/>
          </a:bodyPr>
          <a:lstStyle/>
          <a:p>
            <a:pPr algn="ctr"/>
            <a:r>
              <a:rPr lang="en-US" sz="1200" b="1" dirty="0"/>
              <a:t>No</a:t>
            </a:r>
          </a:p>
        </p:txBody>
      </p:sp>
    </p:spTree>
    <p:extLst>
      <p:ext uri="{BB962C8B-B14F-4D97-AF65-F5344CB8AC3E}">
        <p14:creationId xmlns:p14="http://schemas.microsoft.com/office/powerpoint/2010/main" val="1443633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2E464-A6C9-AB7F-C12E-FAD3308285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31DF8F-28F7-D17D-3AAB-9D4A927875F9}"/>
              </a:ext>
            </a:extLst>
          </p:cNvPr>
          <p:cNvSpPr>
            <a:spLocks noGrp="1"/>
          </p:cNvSpPr>
          <p:nvPr>
            <p:ph type="title"/>
          </p:nvPr>
        </p:nvSpPr>
        <p:spPr/>
        <p:txBody>
          <a:bodyPr/>
          <a:lstStyle/>
          <a:p>
            <a:r>
              <a:rPr lang="en-US" dirty="0"/>
              <a:t>Scenario 2 - Preparation</a:t>
            </a:r>
          </a:p>
        </p:txBody>
      </p:sp>
      <p:sp>
        <p:nvSpPr>
          <p:cNvPr id="3" name="Inhaltsplatzhalter 2">
            <a:extLst>
              <a:ext uri="{FF2B5EF4-FFF2-40B4-BE49-F238E27FC236}">
                <a16:creationId xmlns:a16="http://schemas.microsoft.com/office/drawing/2014/main" id="{5C8F06CD-AD14-C7A2-6EF4-9CFDE74DFCE9}"/>
              </a:ext>
            </a:extLst>
          </p:cNvPr>
          <p:cNvSpPr>
            <a:spLocks noGrp="1"/>
          </p:cNvSpPr>
          <p:nvPr>
            <p:ph idx="1"/>
          </p:nvPr>
        </p:nvSpPr>
        <p:spPr/>
        <p:txBody>
          <a:bodyPr/>
          <a:lstStyle/>
          <a:p>
            <a:r>
              <a:rPr lang="en-US" b="1" dirty="0"/>
              <a:t>Demo Configuration</a:t>
            </a:r>
          </a:p>
          <a:p>
            <a:pPr lvl="1"/>
            <a:r>
              <a:rPr lang="en-US" dirty="0"/>
              <a:t>To demonstrate the problem, two tables (</a:t>
            </a:r>
            <a:r>
              <a:rPr lang="en-US" b="1" dirty="0"/>
              <a:t>[</a:t>
            </a:r>
            <a:r>
              <a:rPr lang="en-US" b="1" dirty="0" err="1"/>
              <a:t>dbo</a:t>
            </a:r>
            <a:r>
              <a:rPr lang="en-US" b="1" dirty="0"/>
              <a:t>].[</a:t>
            </a:r>
            <a:r>
              <a:rPr lang="en-US" b="1" dirty="0" err="1"/>
              <a:t>jobqueue</a:t>
            </a:r>
            <a:r>
              <a:rPr lang="en-US" b="1" dirty="0"/>
              <a:t>] </a:t>
            </a:r>
            <a:r>
              <a:rPr lang="en-US" dirty="0"/>
              <a:t>and </a:t>
            </a:r>
            <a:r>
              <a:rPr lang="en-US" b="1" dirty="0"/>
              <a:t>[</a:t>
            </a:r>
            <a:r>
              <a:rPr lang="en-US" b="1" dirty="0" err="1"/>
              <a:t>dbo</a:t>
            </a:r>
            <a:r>
              <a:rPr lang="en-US" b="1" dirty="0"/>
              <a:t>].[</a:t>
            </a:r>
            <a:r>
              <a:rPr lang="en-US" b="1" dirty="0" err="1"/>
              <a:t>runtime_statistics</a:t>
            </a:r>
            <a:r>
              <a:rPr lang="en-US" b="1" dirty="0"/>
              <a:t>]</a:t>
            </a:r>
            <a:r>
              <a:rPr lang="en-US" dirty="0"/>
              <a:t>) are used.</a:t>
            </a:r>
          </a:p>
          <a:p>
            <a:pPr lvl="1"/>
            <a:r>
              <a:rPr lang="en-US" dirty="0"/>
              <a:t>A stored procedure </a:t>
            </a:r>
            <a:r>
              <a:rPr lang="en-US" b="1" dirty="0"/>
              <a:t>[</a:t>
            </a:r>
            <a:r>
              <a:rPr lang="en-US" b="1" dirty="0" err="1"/>
              <a:t>dbo</a:t>
            </a:r>
            <a:r>
              <a:rPr lang="en-US" b="1" dirty="0"/>
              <a:t>].[</a:t>
            </a:r>
            <a:r>
              <a:rPr lang="en-US" b="1" dirty="0" err="1"/>
              <a:t>jobqueue_delete</a:t>
            </a:r>
            <a:r>
              <a:rPr lang="en-US" b="1" dirty="0"/>
              <a:t>]</a:t>
            </a:r>
            <a:r>
              <a:rPr lang="en-US" dirty="0"/>
              <a:t> handles the maintenance of the table </a:t>
            </a:r>
            <a:r>
              <a:rPr lang="en-US" b="1" dirty="0"/>
              <a:t>[</a:t>
            </a:r>
            <a:r>
              <a:rPr lang="en-US" b="1" dirty="0" err="1"/>
              <a:t>dbo</a:t>
            </a:r>
            <a:r>
              <a:rPr lang="en-US" b="1" dirty="0"/>
              <a:t>].[</a:t>
            </a:r>
            <a:r>
              <a:rPr lang="en-US" b="1" dirty="0" err="1"/>
              <a:t>jobqueue</a:t>
            </a:r>
            <a:r>
              <a:rPr lang="en-US" b="1" dirty="0"/>
              <a:t>]</a:t>
            </a:r>
            <a:r>
              <a:rPr lang="en-US" dirty="0"/>
              <a:t>.</a:t>
            </a:r>
          </a:p>
          <a:p>
            <a:pPr lvl="1"/>
            <a:r>
              <a:rPr lang="en-US" dirty="0"/>
              <a:t>The table </a:t>
            </a:r>
            <a:r>
              <a:rPr lang="en-US" b="1" dirty="0"/>
              <a:t>[</a:t>
            </a:r>
            <a:r>
              <a:rPr lang="en-US" b="1" dirty="0" err="1"/>
              <a:t>dbo</a:t>
            </a:r>
            <a:r>
              <a:rPr lang="en-US" b="1" dirty="0"/>
              <a:t>].[</a:t>
            </a:r>
            <a:r>
              <a:rPr lang="en-US" b="1" dirty="0" err="1"/>
              <a:t>runtime_statistics</a:t>
            </a:r>
            <a:r>
              <a:rPr lang="en-US" b="1" dirty="0"/>
              <a:t>]</a:t>
            </a:r>
            <a:r>
              <a:rPr lang="en-US" dirty="0"/>
              <a:t> stores the measures after each improvement.</a:t>
            </a:r>
          </a:p>
          <a:p>
            <a:r>
              <a:rPr lang="en-US" b="1" dirty="0"/>
              <a:t>Demo Setup</a:t>
            </a:r>
          </a:p>
          <a:p>
            <a:pPr lvl="1"/>
            <a:r>
              <a:rPr lang="en-US" dirty="0"/>
              <a:t>execute the script </a:t>
            </a:r>
            <a:r>
              <a:rPr lang="en-US" sz="2000" b="1" dirty="0">
                <a:solidFill>
                  <a:schemeClr val="accent5"/>
                </a:solidFill>
                <a:latin typeface="Lucida Console" panose="020B0609040504020204" pitchFamily="49" charset="0"/>
              </a:rPr>
              <a:t>01 - scenario 02 – </a:t>
            </a:r>
            <a:r>
              <a:rPr lang="en-US" sz="2000" b="1" dirty="0" err="1">
                <a:solidFill>
                  <a:schemeClr val="accent5"/>
                </a:solidFill>
                <a:latin typeface="Lucida Console" panose="020B0609040504020204" pitchFamily="49" charset="0"/>
              </a:rPr>
              <a:t>preparation.sql</a:t>
            </a:r>
            <a:r>
              <a:rPr lang="en-US" sz="2000" dirty="0"/>
              <a:t> </a:t>
            </a:r>
            <a:r>
              <a:rPr lang="en-US" dirty="0"/>
              <a:t>to prepare all table objects.</a:t>
            </a:r>
          </a:p>
          <a:p>
            <a:pPr lvl="1"/>
            <a:r>
              <a:rPr lang="en-US" dirty="0"/>
              <a:t>execute the script </a:t>
            </a:r>
            <a:r>
              <a:rPr lang="en-US" sz="2000" b="1" dirty="0">
                <a:solidFill>
                  <a:schemeClr val="accent5"/>
                </a:solidFill>
                <a:latin typeface="Lucida Console" panose="020B0609040504020204" pitchFamily="49" charset="0"/>
              </a:rPr>
              <a:t>02 - scenario 02 – maintenance </a:t>
            </a:r>
            <a:r>
              <a:rPr lang="en-US" sz="2000" b="1" dirty="0" err="1">
                <a:solidFill>
                  <a:schemeClr val="accent5"/>
                </a:solidFill>
                <a:latin typeface="Lucida Console" panose="020B0609040504020204" pitchFamily="49" charset="0"/>
              </a:rPr>
              <a:t>procedure.sql</a:t>
            </a:r>
            <a:r>
              <a:rPr lang="en-US" sz="2000" b="1" dirty="0">
                <a:solidFill>
                  <a:schemeClr val="accent5"/>
                </a:solidFill>
                <a:latin typeface="Lucida Console" panose="020B0609040504020204" pitchFamily="49" charset="0"/>
              </a:rPr>
              <a:t> </a:t>
            </a:r>
            <a:r>
              <a:rPr lang="en-US" dirty="0"/>
              <a:t>to create the user management procedure.</a:t>
            </a:r>
          </a:p>
          <a:p>
            <a:pPr lvl="1"/>
            <a:r>
              <a:rPr lang="en-US" dirty="0"/>
              <a:t>Execute the script </a:t>
            </a:r>
            <a:r>
              <a:rPr lang="en-US" sz="2000" b="1" dirty="0">
                <a:solidFill>
                  <a:schemeClr val="accent5"/>
                </a:solidFill>
                <a:latin typeface="Lucida Console" panose="020B0609040504020204" pitchFamily="49" charset="0"/>
              </a:rPr>
              <a:t>03 - scenario 02 – stress </a:t>
            </a:r>
            <a:r>
              <a:rPr lang="en-US" sz="2000" b="1" dirty="0" err="1">
                <a:solidFill>
                  <a:schemeClr val="accent5"/>
                </a:solidFill>
                <a:latin typeface="Lucida Console" panose="020B0609040504020204" pitchFamily="49" charset="0"/>
              </a:rPr>
              <a:t>query.sql</a:t>
            </a:r>
            <a:r>
              <a:rPr lang="en-US" sz="2000" b="1" dirty="0">
                <a:solidFill>
                  <a:schemeClr val="accent5"/>
                </a:solidFill>
                <a:latin typeface="Lucida Console" panose="020B0609040504020204" pitchFamily="49" charset="0"/>
              </a:rPr>
              <a:t> </a:t>
            </a:r>
            <a:r>
              <a:rPr lang="en-US" dirty="0"/>
              <a:t>to create the user defined function.</a:t>
            </a:r>
          </a:p>
        </p:txBody>
      </p:sp>
    </p:spTree>
    <p:extLst>
      <p:ext uri="{BB962C8B-B14F-4D97-AF65-F5344CB8AC3E}">
        <p14:creationId xmlns:p14="http://schemas.microsoft.com/office/powerpoint/2010/main" val="1962351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B7F6-CB84-3212-F880-3068A29E65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ACF8F10-B84C-6951-4C45-C936927915D6}"/>
              </a:ext>
            </a:extLst>
          </p:cNvPr>
          <p:cNvSpPr>
            <a:spLocks noGrp="1"/>
          </p:cNvSpPr>
          <p:nvPr>
            <p:ph type="title"/>
          </p:nvPr>
        </p:nvSpPr>
        <p:spPr/>
        <p:txBody>
          <a:bodyPr/>
          <a:lstStyle/>
          <a:p>
            <a:r>
              <a:rPr lang="en-US" dirty="0"/>
              <a:t>Scenario 2 - Findings </a:t>
            </a:r>
          </a:p>
        </p:txBody>
      </p:sp>
      <p:sp>
        <p:nvSpPr>
          <p:cNvPr id="4" name="Inhaltsplatzhalter 3">
            <a:extLst>
              <a:ext uri="{FF2B5EF4-FFF2-40B4-BE49-F238E27FC236}">
                <a16:creationId xmlns:a16="http://schemas.microsoft.com/office/drawing/2014/main" id="{1E62805F-7A38-2E10-940D-774E2D786B38}"/>
              </a:ext>
            </a:extLst>
          </p:cNvPr>
          <p:cNvSpPr>
            <a:spLocks noGrp="1"/>
          </p:cNvSpPr>
          <p:nvPr>
            <p:ph sz="half" idx="1"/>
          </p:nvPr>
        </p:nvSpPr>
        <p:spPr/>
        <p:txBody>
          <a:bodyPr/>
          <a:lstStyle/>
          <a:p>
            <a:r>
              <a:rPr lang="en-US" dirty="0"/>
              <a:t>To check for data existence, use EXISTS instead of COUNT. </a:t>
            </a:r>
          </a:p>
          <a:p>
            <a:r>
              <a:rPr lang="en-US" dirty="0"/>
              <a:t>Remove unnecessary code structures for better reading and performance</a:t>
            </a:r>
          </a:p>
          <a:p>
            <a:r>
              <a:rPr lang="en-US" dirty="0"/>
              <a:t>Check indexes on the table and remove non used indexes</a:t>
            </a:r>
          </a:p>
          <a:p>
            <a:r>
              <a:rPr lang="en-US" dirty="0"/>
              <a:t>For multi-process patterns try to partition the job itself.</a:t>
            </a:r>
          </a:p>
        </p:txBody>
      </p:sp>
      <p:sp>
        <p:nvSpPr>
          <p:cNvPr id="8" name="Inhaltsplatzhalter 7">
            <a:extLst>
              <a:ext uri="{FF2B5EF4-FFF2-40B4-BE49-F238E27FC236}">
                <a16:creationId xmlns:a16="http://schemas.microsoft.com/office/drawing/2014/main" id="{E33CCBC1-62DB-6250-D640-681F470CC8B1}"/>
              </a:ext>
            </a:extLst>
          </p:cNvPr>
          <p:cNvSpPr>
            <a:spLocks noGrp="1"/>
          </p:cNvSpPr>
          <p:nvPr>
            <p:ph sz="half" idx="2"/>
          </p:nvPr>
        </p:nvSpPr>
        <p:spPr/>
        <p:txBody>
          <a:bodyPr/>
          <a:lstStyle/>
          <a:p>
            <a:endParaRPr lang="en-US"/>
          </a:p>
        </p:txBody>
      </p:sp>
      <p:pic>
        <p:nvPicPr>
          <p:cNvPr id="9" name="Inhaltsplatzhalter 5">
            <a:extLst>
              <a:ext uri="{FF2B5EF4-FFF2-40B4-BE49-F238E27FC236}">
                <a16:creationId xmlns:a16="http://schemas.microsoft.com/office/drawing/2014/main" id="{A3DF15B4-123B-2B04-8388-EE8EB01E06FF}"/>
              </a:ext>
            </a:extLst>
          </p:cNvPr>
          <p:cNvPicPr>
            <a:picLocks noChangeAspect="1"/>
          </p:cNvPicPr>
          <p:nvPr/>
        </p:nvPicPr>
        <p:blipFill>
          <a:blip r:embed="rId2"/>
          <a:stretch>
            <a:fillRect/>
          </a:stretch>
        </p:blipFill>
        <p:spPr>
          <a:xfrm>
            <a:off x="6778625" y="1665288"/>
            <a:ext cx="4572000" cy="4572000"/>
          </a:xfrm>
          <a:prstGeom prst="rect">
            <a:avLst/>
          </a:prstGeom>
        </p:spPr>
      </p:pic>
    </p:spTree>
    <p:extLst>
      <p:ext uri="{BB962C8B-B14F-4D97-AF65-F5344CB8AC3E}">
        <p14:creationId xmlns:p14="http://schemas.microsoft.com/office/powerpoint/2010/main" val="2471206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CDD00-660C-AB7A-2BF6-B7BC081BCD5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ADA9E162-33BC-7C64-F9A2-974940F772E6}"/>
              </a:ext>
            </a:extLst>
          </p:cNvPr>
          <p:cNvSpPr>
            <a:spLocks noGrp="1"/>
          </p:cNvSpPr>
          <p:nvPr>
            <p:ph type="ctrTitle"/>
          </p:nvPr>
        </p:nvSpPr>
        <p:spPr/>
        <p:txBody>
          <a:bodyPr/>
          <a:lstStyle/>
          <a:p>
            <a:r>
              <a:rPr lang="en-US"/>
              <a:t>Scenario #3</a:t>
            </a:r>
            <a:endParaRPr lang="en-US" dirty="0"/>
          </a:p>
        </p:txBody>
      </p:sp>
      <p:sp>
        <p:nvSpPr>
          <p:cNvPr id="5" name="Untertitel 4">
            <a:extLst>
              <a:ext uri="{FF2B5EF4-FFF2-40B4-BE49-F238E27FC236}">
                <a16:creationId xmlns:a16="http://schemas.microsoft.com/office/drawing/2014/main" id="{689B48F3-0D30-D9A3-9590-0A7145158651}"/>
              </a:ext>
            </a:extLst>
          </p:cNvPr>
          <p:cNvSpPr>
            <a:spLocks noGrp="1"/>
          </p:cNvSpPr>
          <p:nvPr>
            <p:ph type="subTitle" idx="1"/>
          </p:nvPr>
        </p:nvSpPr>
        <p:spPr/>
        <p:txBody>
          <a:bodyPr/>
          <a:lstStyle/>
          <a:p>
            <a:r>
              <a:rPr lang="en-US" dirty="0"/>
              <a:t>When Indexes won’t work</a:t>
            </a:r>
          </a:p>
        </p:txBody>
      </p:sp>
    </p:spTree>
    <p:extLst>
      <p:ext uri="{BB962C8B-B14F-4D97-AF65-F5344CB8AC3E}">
        <p14:creationId xmlns:p14="http://schemas.microsoft.com/office/powerpoint/2010/main" val="3871746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2DADD-BEBB-9852-22B6-0FD8D81A9ED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A69A64-F380-2EA3-9B68-7E6C99EADCA4}"/>
              </a:ext>
            </a:extLst>
          </p:cNvPr>
          <p:cNvSpPr>
            <a:spLocks noGrp="1"/>
          </p:cNvSpPr>
          <p:nvPr>
            <p:ph type="title"/>
          </p:nvPr>
        </p:nvSpPr>
        <p:spPr/>
        <p:txBody>
          <a:bodyPr/>
          <a:lstStyle/>
          <a:p>
            <a:r>
              <a:rPr lang="en-US" dirty="0"/>
              <a:t>Scenario </a:t>
            </a:r>
            <a:r>
              <a:rPr lang="en-US"/>
              <a:t>3 - Problem </a:t>
            </a:r>
            <a:r>
              <a:rPr lang="en-US" dirty="0"/>
              <a:t>Description</a:t>
            </a:r>
          </a:p>
        </p:txBody>
      </p:sp>
      <p:sp>
        <p:nvSpPr>
          <p:cNvPr id="3" name="Inhaltsplatzhalter 2">
            <a:extLst>
              <a:ext uri="{FF2B5EF4-FFF2-40B4-BE49-F238E27FC236}">
                <a16:creationId xmlns:a16="http://schemas.microsoft.com/office/drawing/2014/main" id="{C59D65FC-8224-6726-8165-B71E64887B1C}"/>
              </a:ext>
            </a:extLst>
          </p:cNvPr>
          <p:cNvSpPr>
            <a:spLocks noGrp="1"/>
          </p:cNvSpPr>
          <p:nvPr>
            <p:ph sz="half" idx="1"/>
          </p:nvPr>
        </p:nvSpPr>
        <p:spPr/>
        <p:txBody>
          <a:bodyPr>
            <a:normAutofit/>
          </a:bodyPr>
          <a:lstStyle/>
          <a:p>
            <a:r>
              <a:rPr lang="en-US" b="1" dirty="0"/>
              <a:t>Description</a:t>
            </a:r>
          </a:p>
          <a:p>
            <a:pPr lvl="1"/>
            <a:r>
              <a:rPr lang="en-US" sz="1600" b="0" i="0" dirty="0">
                <a:solidFill>
                  <a:srgbClr val="1F2328"/>
                </a:solidFill>
                <a:effectLst/>
                <a:latin typeface="-apple-system"/>
              </a:rPr>
              <a:t>A complex query </a:t>
            </a:r>
            <a:r>
              <a:rPr lang="en-US" sz="1600" dirty="0">
                <a:solidFill>
                  <a:srgbClr val="1F2328"/>
                </a:solidFill>
                <a:latin typeface="-apple-system"/>
              </a:rPr>
              <a:t>will be executed 24/7 when users are accessing the web shop</a:t>
            </a:r>
            <a:r>
              <a:rPr lang="en-US" sz="1600" b="0" i="0" dirty="0">
                <a:solidFill>
                  <a:srgbClr val="1F2328"/>
                </a:solidFill>
                <a:effectLst/>
                <a:latin typeface="-apple-system"/>
              </a:rPr>
              <a:t>. This query evaluates a small part of the permission list for the logged in user.</a:t>
            </a:r>
            <a:endParaRPr lang="en-US" sz="1600" b="1" dirty="0"/>
          </a:p>
          <a:p>
            <a:r>
              <a:rPr lang="en-US" b="1" dirty="0"/>
              <a:t>Problem</a:t>
            </a:r>
          </a:p>
          <a:p>
            <a:pPr lvl="1"/>
            <a:r>
              <a:rPr lang="en-US" sz="1600" dirty="0"/>
              <a:t>The query is consuming a lot of resources and especially at the first of a new month lots of new employees are requesting the web shop.</a:t>
            </a:r>
          </a:p>
          <a:p>
            <a:pPr lvl="1"/>
            <a:r>
              <a:rPr lang="en-US" sz="1600" dirty="0"/>
              <a:t>This leads very often to timeouts and bad responding web shop experiences.</a:t>
            </a:r>
          </a:p>
        </p:txBody>
      </p:sp>
      <p:graphicFrame>
        <p:nvGraphicFramePr>
          <p:cNvPr id="7" name="Inhaltsplatzhalter 6">
            <a:extLst>
              <a:ext uri="{FF2B5EF4-FFF2-40B4-BE49-F238E27FC236}">
                <a16:creationId xmlns:a16="http://schemas.microsoft.com/office/drawing/2014/main" id="{4C90D974-D7B7-E20A-B9A2-9C20A68A46D7}"/>
              </a:ext>
            </a:extLst>
          </p:cNvPr>
          <p:cNvGraphicFramePr>
            <a:graphicFrameLocks noGrp="1"/>
          </p:cNvGraphicFramePr>
          <p:nvPr>
            <p:ph sz="half" idx="2"/>
            <p:extLst>
              <p:ext uri="{D42A27DB-BD31-4B8C-83A1-F6EECF244321}">
                <p14:modId xmlns:p14="http://schemas.microsoft.com/office/powerpoint/2010/main" val="3438501346"/>
              </p:ext>
            </p:extLst>
          </p:nvPr>
        </p:nvGraphicFramePr>
        <p:xfrm>
          <a:off x="7428944" y="1665288"/>
          <a:ext cx="4425014" cy="1295400"/>
        </p:xfrm>
        <a:graphic>
          <a:graphicData uri="http://schemas.openxmlformats.org/drawingml/2006/table">
            <a:tbl>
              <a:tblPr firstRow="1" firstCol="1" bandRow="1">
                <a:tableStyleId>{5C22544A-7EE6-4342-B048-85BDC9FD1C3A}</a:tableStyleId>
              </a:tblPr>
              <a:tblGrid>
                <a:gridCol w="1526923">
                  <a:extLst>
                    <a:ext uri="{9D8B030D-6E8A-4147-A177-3AD203B41FA5}">
                      <a16:colId xmlns:a16="http://schemas.microsoft.com/office/drawing/2014/main" val="2608591251"/>
                    </a:ext>
                  </a:extLst>
                </a:gridCol>
                <a:gridCol w="1108797">
                  <a:extLst>
                    <a:ext uri="{9D8B030D-6E8A-4147-A177-3AD203B41FA5}">
                      <a16:colId xmlns:a16="http://schemas.microsoft.com/office/drawing/2014/main" val="2114112737"/>
                    </a:ext>
                  </a:extLst>
                </a:gridCol>
                <a:gridCol w="989556">
                  <a:extLst>
                    <a:ext uri="{9D8B030D-6E8A-4147-A177-3AD203B41FA5}">
                      <a16:colId xmlns:a16="http://schemas.microsoft.com/office/drawing/2014/main" val="3183205547"/>
                    </a:ext>
                  </a:extLst>
                </a:gridCol>
                <a:gridCol w="799738">
                  <a:extLst>
                    <a:ext uri="{9D8B030D-6E8A-4147-A177-3AD203B41FA5}">
                      <a16:colId xmlns:a16="http://schemas.microsoft.com/office/drawing/2014/main" val="2228659088"/>
                    </a:ext>
                  </a:extLst>
                </a:gridCol>
              </a:tblGrid>
              <a:tr h="223203">
                <a:tc gridSpan="4">
                  <a:txBody>
                    <a:bodyPr/>
                    <a:lstStyle/>
                    <a:p>
                      <a:r>
                        <a:rPr lang="en-US" sz="1100" dirty="0" err="1"/>
                        <a:t>dbo.persons</a:t>
                      </a:r>
                      <a:endParaRPr lang="en-US" sz="1100"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639617535"/>
                  </a:ext>
                </a:extLst>
              </a:tr>
              <a:tr h="223203">
                <a:tc>
                  <a:txBody>
                    <a:bodyPr/>
                    <a:lstStyle/>
                    <a:p>
                      <a:r>
                        <a:rPr lang="en-US" sz="1100" b="0" dirty="0" err="1"/>
                        <a:t>uid_person</a:t>
                      </a:r>
                      <a:endParaRPr lang="en-US" sz="1100" b="0" dirty="0"/>
                    </a:p>
                  </a:txBody>
                  <a:tcPr/>
                </a:tc>
                <a:tc>
                  <a:txBody>
                    <a:bodyPr/>
                    <a:lstStyle/>
                    <a:p>
                      <a:r>
                        <a:rPr lang="en-US" sz="1100" dirty="0"/>
                        <a:t>varchar(38)</a:t>
                      </a:r>
                    </a:p>
                  </a:txBody>
                  <a:tcPr/>
                </a:tc>
                <a:tc>
                  <a:txBody>
                    <a:bodyPr/>
                    <a:lstStyle/>
                    <a:p>
                      <a:r>
                        <a:rPr lang="en-US" sz="1100" dirty="0"/>
                        <a:t>NOT NULL</a:t>
                      </a:r>
                    </a:p>
                  </a:txBody>
                  <a:tcPr/>
                </a:tc>
                <a:tc>
                  <a:txBody>
                    <a:bodyPr/>
                    <a:lstStyle/>
                    <a:p>
                      <a:pPr algn="ctr"/>
                      <a:r>
                        <a:rPr lang="en-US" sz="1100" dirty="0"/>
                        <a:t>PK</a:t>
                      </a:r>
                    </a:p>
                  </a:txBody>
                  <a:tcPr/>
                </a:tc>
                <a:extLst>
                  <a:ext uri="{0D108BD9-81ED-4DB2-BD59-A6C34878D82A}">
                    <a16:rowId xmlns:a16="http://schemas.microsoft.com/office/drawing/2014/main" val="3172743677"/>
                  </a:ext>
                </a:extLst>
              </a:tr>
              <a:tr h="223203">
                <a:tc>
                  <a:txBody>
                    <a:bodyPr/>
                    <a:lstStyle/>
                    <a:p>
                      <a:r>
                        <a:rPr lang="en-US" sz="1100" b="0" dirty="0"/>
                        <a:t>…</a:t>
                      </a:r>
                    </a:p>
                  </a:txBody>
                  <a:tcPr/>
                </a:tc>
                <a:tc>
                  <a:txBody>
                    <a:bodyPr/>
                    <a:lstStyle/>
                    <a:p>
                      <a:endParaRPr lang="en-US" sz="1100" dirty="0"/>
                    </a:p>
                  </a:txBody>
                  <a:tcPr/>
                </a:tc>
                <a:tc>
                  <a:txBody>
                    <a:bodyPr/>
                    <a:lstStyle/>
                    <a:p>
                      <a:endParaRPr lang="en-US" sz="1100" dirty="0"/>
                    </a:p>
                  </a:txBody>
                  <a:tcPr/>
                </a:tc>
                <a:tc>
                  <a:txBody>
                    <a:bodyPr/>
                    <a:lstStyle/>
                    <a:p>
                      <a:pPr algn="ctr"/>
                      <a:endParaRPr lang="en-US" sz="1100" dirty="0"/>
                    </a:p>
                  </a:txBody>
                  <a:tcPr/>
                </a:tc>
                <a:extLst>
                  <a:ext uri="{0D108BD9-81ED-4DB2-BD59-A6C34878D82A}">
                    <a16:rowId xmlns:a16="http://schemas.microsoft.com/office/drawing/2014/main" val="186852949"/>
                  </a:ext>
                </a:extLst>
              </a:tr>
              <a:tr h="223203">
                <a:tc>
                  <a:txBody>
                    <a:bodyPr/>
                    <a:lstStyle/>
                    <a:p>
                      <a:r>
                        <a:rPr lang="en-US" sz="1100" b="0" kern="1200" dirty="0" err="1">
                          <a:solidFill>
                            <a:schemeClr val="lt1"/>
                          </a:solidFill>
                          <a:latin typeface="+mn-lt"/>
                          <a:ea typeface="+mn-ea"/>
                          <a:cs typeface="+mn-cs"/>
                        </a:rPr>
                        <a:t>centralsapaccount</a:t>
                      </a:r>
                      <a:endParaRPr lang="en-US" sz="1100" b="0" dirty="0"/>
                    </a:p>
                  </a:txBody>
                  <a:tcPr/>
                </a:tc>
                <a:tc>
                  <a:txBody>
                    <a:bodyPr/>
                    <a:lstStyle/>
                    <a:p>
                      <a:r>
                        <a:rPr lang="en-US" sz="1100" dirty="0"/>
                        <a:t>nvarchar(12)</a:t>
                      </a:r>
                    </a:p>
                  </a:txBody>
                  <a:tcPr/>
                </a:tc>
                <a:tc>
                  <a:txBody>
                    <a:bodyPr/>
                    <a:lstStyle/>
                    <a:p>
                      <a:r>
                        <a:rPr lang="en-US" sz="1100" dirty="0"/>
                        <a:t>NULL</a:t>
                      </a:r>
                    </a:p>
                  </a:txBody>
                  <a:tcPr/>
                </a:tc>
                <a:tc>
                  <a:txBody>
                    <a:bodyPr/>
                    <a:lstStyle/>
                    <a:p>
                      <a:pPr algn="ctr"/>
                      <a:r>
                        <a:rPr lang="en-US" sz="1100" dirty="0"/>
                        <a:t>NCI</a:t>
                      </a:r>
                    </a:p>
                  </a:txBody>
                  <a:tcPr/>
                </a:tc>
                <a:extLst>
                  <a:ext uri="{0D108BD9-81ED-4DB2-BD59-A6C34878D82A}">
                    <a16:rowId xmlns:a16="http://schemas.microsoft.com/office/drawing/2014/main" val="2320892998"/>
                  </a:ext>
                </a:extLst>
              </a:tr>
              <a:tr h="223203">
                <a:tc>
                  <a:txBody>
                    <a:bodyPr/>
                    <a:lstStyle/>
                    <a:p>
                      <a:r>
                        <a:rPr lang="en-US" sz="1100" b="0" dirty="0" err="1"/>
                        <a:t>ccc_aliasname</a:t>
                      </a:r>
                      <a:endParaRPr lang="en-US" sz="1100" b="0" dirty="0"/>
                    </a:p>
                  </a:txBody>
                  <a:tcPr/>
                </a:tc>
                <a:tc>
                  <a:txBody>
                    <a:bodyPr/>
                    <a:lstStyle/>
                    <a:p>
                      <a:r>
                        <a:rPr lang="en-US" sz="1100" dirty="0"/>
                        <a:t>nvarchar(255)</a:t>
                      </a:r>
                    </a:p>
                  </a:txBody>
                  <a:tcPr/>
                </a:tc>
                <a:tc>
                  <a:txBody>
                    <a:bodyPr/>
                    <a:lstStyle/>
                    <a:p>
                      <a:r>
                        <a:rPr lang="en-US" sz="1100" dirty="0"/>
                        <a:t>NULL</a:t>
                      </a:r>
                    </a:p>
                  </a:txBody>
                  <a:tcPr/>
                </a:tc>
                <a:tc>
                  <a:txBody>
                    <a:bodyPr/>
                    <a:lstStyle/>
                    <a:p>
                      <a:pPr algn="ctr"/>
                      <a:endParaRPr lang="en-US" sz="1100" dirty="0"/>
                    </a:p>
                  </a:txBody>
                  <a:tcPr/>
                </a:tc>
                <a:extLst>
                  <a:ext uri="{0D108BD9-81ED-4DB2-BD59-A6C34878D82A}">
                    <a16:rowId xmlns:a16="http://schemas.microsoft.com/office/drawing/2014/main" val="455841324"/>
                  </a:ext>
                </a:extLst>
              </a:tr>
            </a:tbl>
          </a:graphicData>
        </a:graphic>
      </p:graphicFrame>
      <p:graphicFrame>
        <p:nvGraphicFramePr>
          <p:cNvPr id="8" name="Inhaltsplatzhalter 6">
            <a:extLst>
              <a:ext uri="{FF2B5EF4-FFF2-40B4-BE49-F238E27FC236}">
                <a16:creationId xmlns:a16="http://schemas.microsoft.com/office/drawing/2014/main" id="{87585A6A-6224-29F8-DE26-44CD5D41013F}"/>
              </a:ext>
            </a:extLst>
          </p:cNvPr>
          <p:cNvGraphicFramePr>
            <a:graphicFrameLocks/>
          </p:cNvGraphicFramePr>
          <p:nvPr>
            <p:extLst>
              <p:ext uri="{D42A27DB-BD31-4B8C-83A1-F6EECF244321}">
                <p14:modId xmlns:p14="http://schemas.microsoft.com/office/powerpoint/2010/main" val="1934694316"/>
              </p:ext>
            </p:extLst>
          </p:nvPr>
        </p:nvGraphicFramePr>
        <p:xfrm>
          <a:off x="7428944" y="3951288"/>
          <a:ext cx="4425013" cy="1295400"/>
        </p:xfrm>
        <a:graphic>
          <a:graphicData uri="http://schemas.openxmlformats.org/drawingml/2006/table">
            <a:tbl>
              <a:tblPr firstRow="1" firstCol="1" bandRow="1">
                <a:tableStyleId>{5C22544A-7EE6-4342-B048-85BDC9FD1C3A}</a:tableStyleId>
              </a:tblPr>
              <a:tblGrid>
                <a:gridCol w="1526923">
                  <a:extLst>
                    <a:ext uri="{9D8B030D-6E8A-4147-A177-3AD203B41FA5}">
                      <a16:colId xmlns:a16="http://schemas.microsoft.com/office/drawing/2014/main" val="2608591251"/>
                    </a:ext>
                  </a:extLst>
                </a:gridCol>
                <a:gridCol w="1119396">
                  <a:extLst>
                    <a:ext uri="{9D8B030D-6E8A-4147-A177-3AD203B41FA5}">
                      <a16:colId xmlns:a16="http://schemas.microsoft.com/office/drawing/2014/main" val="2114112737"/>
                    </a:ext>
                  </a:extLst>
                </a:gridCol>
                <a:gridCol w="995819">
                  <a:extLst>
                    <a:ext uri="{9D8B030D-6E8A-4147-A177-3AD203B41FA5}">
                      <a16:colId xmlns:a16="http://schemas.microsoft.com/office/drawing/2014/main" val="3183205547"/>
                    </a:ext>
                  </a:extLst>
                </a:gridCol>
                <a:gridCol w="782875">
                  <a:extLst>
                    <a:ext uri="{9D8B030D-6E8A-4147-A177-3AD203B41FA5}">
                      <a16:colId xmlns:a16="http://schemas.microsoft.com/office/drawing/2014/main" val="2228659088"/>
                    </a:ext>
                  </a:extLst>
                </a:gridCol>
              </a:tblGrid>
              <a:tr h="223203">
                <a:tc gridSpan="4">
                  <a:txBody>
                    <a:bodyPr/>
                    <a:lstStyle/>
                    <a:p>
                      <a:r>
                        <a:rPr lang="en-US" sz="1100" dirty="0" err="1"/>
                        <a:t>dbo.sapusers</a:t>
                      </a:r>
                      <a:endParaRPr lang="en-US" sz="1100"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639617535"/>
                  </a:ext>
                </a:extLst>
              </a:tr>
              <a:tr h="223203">
                <a:tc>
                  <a:txBody>
                    <a:bodyPr/>
                    <a:lstStyle/>
                    <a:p>
                      <a:r>
                        <a:rPr lang="en-US" sz="1100" b="0" dirty="0" err="1"/>
                        <a:t>uid_sapuser</a:t>
                      </a:r>
                      <a:endParaRPr lang="en-US" sz="1100" b="0" dirty="0"/>
                    </a:p>
                  </a:txBody>
                  <a:tcPr/>
                </a:tc>
                <a:tc>
                  <a:txBody>
                    <a:bodyPr/>
                    <a:lstStyle/>
                    <a:p>
                      <a:r>
                        <a:rPr lang="en-US" sz="1100" dirty="0"/>
                        <a:t>varchar(38)</a:t>
                      </a:r>
                    </a:p>
                  </a:txBody>
                  <a:tcPr/>
                </a:tc>
                <a:tc>
                  <a:txBody>
                    <a:bodyPr/>
                    <a:lstStyle/>
                    <a:p>
                      <a:r>
                        <a:rPr lang="en-US" sz="1100" dirty="0"/>
                        <a:t>NOT NULL</a:t>
                      </a:r>
                    </a:p>
                  </a:txBody>
                  <a:tcPr/>
                </a:tc>
                <a:tc>
                  <a:txBody>
                    <a:bodyPr/>
                    <a:lstStyle/>
                    <a:p>
                      <a:pPr algn="ctr"/>
                      <a:r>
                        <a:rPr lang="en-US" sz="1100" dirty="0"/>
                        <a:t>PK</a:t>
                      </a:r>
                    </a:p>
                  </a:txBody>
                  <a:tcPr/>
                </a:tc>
                <a:extLst>
                  <a:ext uri="{0D108BD9-81ED-4DB2-BD59-A6C34878D82A}">
                    <a16:rowId xmlns:a16="http://schemas.microsoft.com/office/drawing/2014/main" val="3172743677"/>
                  </a:ext>
                </a:extLst>
              </a:tr>
              <a:tr h="223203">
                <a:tc>
                  <a:txBody>
                    <a:bodyPr/>
                    <a:lstStyle/>
                    <a:p>
                      <a:r>
                        <a:rPr lang="en-US" sz="1100" b="0" dirty="0" err="1"/>
                        <a:t>uid_person</a:t>
                      </a:r>
                      <a:endParaRPr lang="en-US" sz="1100" b="0" dirty="0"/>
                    </a:p>
                  </a:txBody>
                  <a:tcPr/>
                </a:tc>
                <a:tc>
                  <a:txBody>
                    <a:bodyPr/>
                    <a:lstStyle/>
                    <a:p>
                      <a:r>
                        <a:rPr lang="en-US" sz="1100" dirty="0"/>
                        <a:t>varchar(38)</a:t>
                      </a:r>
                    </a:p>
                  </a:txBody>
                  <a:tcPr/>
                </a:tc>
                <a:tc>
                  <a:txBody>
                    <a:bodyPr/>
                    <a:lstStyle/>
                    <a:p>
                      <a:r>
                        <a:rPr lang="en-US" sz="1100" dirty="0"/>
                        <a:t>NULL</a:t>
                      </a:r>
                    </a:p>
                  </a:txBody>
                  <a:tcPr/>
                </a:tc>
                <a:tc>
                  <a:txBody>
                    <a:bodyPr/>
                    <a:lstStyle/>
                    <a:p>
                      <a:pPr algn="ctr"/>
                      <a:endParaRPr lang="en-US" sz="1100" dirty="0"/>
                    </a:p>
                  </a:txBody>
                  <a:tcPr/>
                </a:tc>
                <a:extLst>
                  <a:ext uri="{0D108BD9-81ED-4DB2-BD59-A6C34878D82A}">
                    <a16:rowId xmlns:a16="http://schemas.microsoft.com/office/drawing/2014/main" val="186852949"/>
                  </a:ext>
                </a:extLst>
              </a:tr>
              <a:tr h="223203">
                <a:tc>
                  <a:txBody>
                    <a:bodyPr/>
                    <a:lstStyle/>
                    <a:p>
                      <a:r>
                        <a:rPr lang="en-US" sz="1100" b="0" kern="1200" dirty="0" err="1">
                          <a:solidFill>
                            <a:schemeClr val="lt1"/>
                          </a:solidFill>
                          <a:latin typeface="+mn-lt"/>
                          <a:ea typeface="+mn-ea"/>
                          <a:cs typeface="+mn-cs"/>
                        </a:rPr>
                        <a:t>accnt</a:t>
                      </a:r>
                      <a:endParaRPr lang="en-US" sz="1100" b="0" dirty="0"/>
                    </a:p>
                  </a:txBody>
                  <a:tcPr/>
                </a:tc>
                <a:tc>
                  <a:txBody>
                    <a:bodyPr/>
                    <a:lstStyle/>
                    <a:p>
                      <a:r>
                        <a:rPr lang="en-US" sz="1100" dirty="0"/>
                        <a:t>nvarchar(38)</a:t>
                      </a:r>
                    </a:p>
                  </a:txBody>
                  <a:tcPr/>
                </a:tc>
                <a:tc>
                  <a:txBody>
                    <a:bodyPr/>
                    <a:lstStyle/>
                    <a:p>
                      <a:r>
                        <a:rPr lang="en-US" sz="1100" dirty="0"/>
                        <a:t>NULL</a:t>
                      </a:r>
                    </a:p>
                  </a:txBody>
                  <a:tcPr/>
                </a:tc>
                <a:tc>
                  <a:txBody>
                    <a:bodyPr/>
                    <a:lstStyle/>
                    <a:p>
                      <a:pPr algn="ctr"/>
                      <a:r>
                        <a:rPr lang="en-US" sz="1100" dirty="0"/>
                        <a:t>NCI</a:t>
                      </a:r>
                    </a:p>
                  </a:txBody>
                  <a:tcPr/>
                </a:tc>
                <a:extLst>
                  <a:ext uri="{0D108BD9-81ED-4DB2-BD59-A6C34878D82A}">
                    <a16:rowId xmlns:a16="http://schemas.microsoft.com/office/drawing/2014/main" val="2320892998"/>
                  </a:ext>
                </a:extLst>
              </a:tr>
              <a:tr h="223203">
                <a:tc>
                  <a:txBody>
                    <a:bodyPr/>
                    <a:lstStyle/>
                    <a:p>
                      <a:r>
                        <a:rPr lang="en-US" sz="1100" b="0" dirty="0" err="1"/>
                        <a:t>ccc_aliasname</a:t>
                      </a:r>
                      <a:endParaRPr lang="en-US" sz="1100" b="0" dirty="0"/>
                    </a:p>
                  </a:txBody>
                  <a:tcPr/>
                </a:tc>
                <a:tc>
                  <a:txBody>
                    <a:bodyPr/>
                    <a:lstStyle/>
                    <a:p>
                      <a:r>
                        <a:rPr lang="en-US" sz="1100" dirty="0"/>
                        <a:t>nvarchar(255)</a:t>
                      </a:r>
                    </a:p>
                  </a:txBody>
                  <a:tcPr/>
                </a:tc>
                <a:tc>
                  <a:txBody>
                    <a:bodyPr/>
                    <a:lstStyle/>
                    <a:p>
                      <a:r>
                        <a:rPr lang="en-US" sz="1100" dirty="0"/>
                        <a:t>NULL</a:t>
                      </a:r>
                    </a:p>
                  </a:txBody>
                  <a:tcPr/>
                </a:tc>
                <a:tc>
                  <a:txBody>
                    <a:bodyPr/>
                    <a:lstStyle/>
                    <a:p>
                      <a:pPr algn="ctr"/>
                      <a:endParaRPr lang="en-US" sz="1100" dirty="0"/>
                    </a:p>
                  </a:txBody>
                  <a:tcPr/>
                </a:tc>
                <a:extLst>
                  <a:ext uri="{0D108BD9-81ED-4DB2-BD59-A6C34878D82A}">
                    <a16:rowId xmlns:a16="http://schemas.microsoft.com/office/drawing/2014/main" val="455841324"/>
                  </a:ext>
                </a:extLst>
              </a:tr>
            </a:tbl>
          </a:graphicData>
        </a:graphic>
      </p:graphicFrame>
      <p:sp>
        <p:nvSpPr>
          <p:cNvPr id="11" name="Rechteck 10">
            <a:extLst>
              <a:ext uri="{FF2B5EF4-FFF2-40B4-BE49-F238E27FC236}">
                <a16:creationId xmlns:a16="http://schemas.microsoft.com/office/drawing/2014/main" id="{29A57739-CE77-5D05-BA3A-B334850CDA03}"/>
              </a:ext>
            </a:extLst>
          </p:cNvPr>
          <p:cNvSpPr/>
          <p:nvPr/>
        </p:nvSpPr>
        <p:spPr>
          <a:xfrm>
            <a:off x="7296411" y="2461364"/>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a:extLst>
              <a:ext uri="{FF2B5EF4-FFF2-40B4-BE49-F238E27FC236}">
                <a16:creationId xmlns:a16="http://schemas.microsoft.com/office/drawing/2014/main" id="{37BC7A41-EB7E-E52A-1A57-FF62E599BDDF}"/>
              </a:ext>
            </a:extLst>
          </p:cNvPr>
          <p:cNvSpPr/>
          <p:nvPr/>
        </p:nvSpPr>
        <p:spPr>
          <a:xfrm>
            <a:off x="7296411" y="2705622"/>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a:extLst>
              <a:ext uri="{FF2B5EF4-FFF2-40B4-BE49-F238E27FC236}">
                <a16:creationId xmlns:a16="http://schemas.microsoft.com/office/drawing/2014/main" id="{C1D9D0D8-9172-BE6C-ED90-944E3A5D56C7}"/>
              </a:ext>
            </a:extLst>
          </p:cNvPr>
          <p:cNvSpPr/>
          <p:nvPr/>
        </p:nvSpPr>
        <p:spPr>
          <a:xfrm>
            <a:off x="7296410" y="4741102"/>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Verbinder: gewinkelt 30">
            <a:extLst>
              <a:ext uri="{FF2B5EF4-FFF2-40B4-BE49-F238E27FC236}">
                <a16:creationId xmlns:a16="http://schemas.microsoft.com/office/drawing/2014/main" id="{8AD52D07-9329-DAA6-BBD9-ED93BB865B52}"/>
              </a:ext>
            </a:extLst>
          </p:cNvPr>
          <p:cNvCxnSpPr>
            <a:stCxn id="13" idx="1"/>
            <a:endCxn id="12" idx="1"/>
          </p:cNvCxnSpPr>
          <p:nvPr/>
        </p:nvCxnSpPr>
        <p:spPr>
          <a:xfrm rot="10800000" flipH="1">
            <a:off x="7296409" y="2827751"/>
            <a:ext cx="1" cy="2035480"/>
          </a:xfrm>
          <a:prstGeom prst="bentConnector3">
            <a:avLst>
              <a:gd name="adj1" fmla="val -22860000000"/>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winkelt 32">
            <a:extLst>
              <a:ext uri="{FF2B5EF4-FFF2-40B4-BE49-F238E27FC236}">
                <a16:creationId xmlns:a16="http://schemas.microsoft.com/office/drawing/2014/main" id="{49054147-1D09-8A23-C94A-DD73517C7910}"/>
              </a:ext>
            </a:extLst>
          </p:cNvPr>
          <p:cNvCxnSpPr>
            <a:cxnSpLocks/>
            <a:stCxn id="13" idx="3"/>
            <a:endCxn id="11" idx="1"/>
          </p:cNvCxnSpPr>
          <p:nvPr/>
        </p:nvCxnSpPr>
        <p:spPr>
          <a:xfrm flipH="1" flipV="1">
            <a:off x="7296411" y="2583493"/>
            <a:ext cx="132532" cy="2279738"/>
          </a:xfrm>
          <a:prstGeom prst="bentConnector5">
            <a:avLst>
              <a:gd name="adj1" fmla="val 630876"/>
              <a:gd name="adj2" fmla="val 50000"/>
              <a:gd name="adj3" fmla="val 631637"/>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4B58AF32-9980-86AF-B968-24283776015A}"/>
              </a:ext>
            </a:extLst>
          </p:cNvPr>
          <p:cNvSpPr txBox="1"/>
          <p:nvPr/>
        </p:nvSpPr>
        <p:spPr>
          <a:xfrm>
            <a:off x="6588690" y="3429000"/>
            <a:ext cx="494773" cy="276999"/>
          </a:xfrm>
          <a:prstGeom prst="rect">
            <a:avLst/>
          </a:prstGeom>
          <a:noFill/>
        </p:spPr>
        <p:txBody>
          <a:bodyPr wrap="square" rtlCol="0">
            <a:spAutoFit/>
          </a:bodyPr>
          <a:lstStyle/>
          <a:p>
            <a:pPr algn="ctr"/>
            <a:r>
              <a:rPr lang="en-US" sz="1200" dirty="0"/>
              <a:t>OR</a:t>
            </a:r>
          </a:p>
        </p:txBody>
      </p:sp>
    </p:spTree>
    <p:extLst>
      <p:ext uri="{BB962C8B-B14F-4D97-AF65-F5344CB8AC3E}">
        <p14:creationId xmlns:p14="http://schemas.microsoft.com/office/powerpoint/2010/main" val="653442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E7784-2C83-551A-3914-DAA2801CD3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A7B31B-51CB-B477-B2E2-8EB46ACCE5EF}"/>
              </a:ext>
            </a:extLst>
          </p:cNvPr>
          <p:cNvSpPr>
            <a:spLocks noGrp="1"/>
          </p:cNvSpPr>
          <p:nvPr>
            <p:ph type="title"/>
          </p:nvPr>
        </p:nvSpPr>
        <p:spPr/>
        <p:txBody>
          <a:bodyPr/>
          <a:lstStyle/>
          <a:p>
            <a:r>
              <a:rPr lang="en-US" dirty="0"/>
              <a:t>Scenario 3 - Preparation</a:t>
            </a:r>
          </a:p>
        </p:txBody>
      </p:sp>
      <p:sp>
        <p:nvSpPr>
          <p:cNvPr id="3" name="Inhaltsplatzhalter 2">
            <a:extLst>
              <a:ext uri="{FF2B5EF4-FFF2-40B4-BE49-F238E27FC236}">
                <a16:creationId xmlns:a16="http://schemas.microsoft.com/office/drawing/2014/main" id="{ED40C9EC-951A-8100-AD1B-EB8F8E41094F}"/>
              </a:ext>
            </a:extLst>
          </p:cNvPr>
          <p:cNvSpPr>
            <a:spLocks noGrp="1"/>
          </p:cNvSpPr>
          <p:nvPr>
            <p:ph idx="1"/>
          </p:nvPr>
        </p:nvSpPr>
        <p:spPr/>
        <p:txBody>
          <a:bodyPr/>
          <a:lstStyle/>
          <a:p>
            <a:r>
              <a:rPr lang="en-US" b="1" dirty="0"/>
              <a:t>Demo Configuration</a:t>
            </a:r>
          </a:p>
          <a:p>
            <a:pPr lvl="1"/>
            <a:r>
              <a:rPr lang="en-US" dirty="0"/>
              <a:t>To demonstrate the problem, two tables (</a:t>
            </a:r>
            <a:r>
              <a:rPr lang="en-US" b="1" dirty="0"/>
              <a:t>[</a:t>
            </a:r>
            <a:r>
              <a:rPr lang="en-US" b="1" dirty="0" err="1"/>
              <a:t>dbo</a:t>
            </a:r>
            <a:r>
              <a:rPr lang="en-US" b="1" dirty="0"/>
              <a:t>].[persons] </a:t>
            </a:r>
            <a:r>
              <a:rPr lang="en-US" dirty="0"/>
              <a:t>and </a:t>
            </a:r>
            <a:r>
              <a:rPr lang="en-US" b="1" dirty="0"/>
              <a:t>[</a:t>
            </a:r>
            <a:r>
              <a:rPr lang="en-US" b="1" dirty="0" err="1"/>
              <a:t>dbo</a:t>
            </a:r>
            <a:r>
              <a:rPr lang="en-US" b="1" dirty="0"/>
              <a:t>].[</a:t>
            </a:r>
            <a:r>
              <a:rPr lang="en-US" b="1" dirty="0" err="1"/>
              <a:t>sapusers</a:t>
            </a:r>
            <a:r>
              <a:rPr lang="en-US" b="1" dirty="0"/>
              <a:t>]</a:t>
            </a:r>
            <a:r>
              <a:rPr lang="en-US" dirty="0"/>
              <a:t>) are used.</a:t>
            </a:r>
          </a:p>
          <a:p>
            <a:pPr lvl="1"/>
            <a:r>
              <a:rPr lang="en-US" dirty="0"/>
              <a:t>A stored procedure </a:t>
            </a:r>
            <a:r>
              <a:rPr lang="en-US" b="1" dirty="0"/>
              <a:t>[</a:t>
            </a:r>
            <a:r>
              <a:rPr lang="en-US" b="1" dirty="0" err="1"/>
              <a:t>dbo</a:t>
            </a:r>
            <a:r>
              <a:rPr lang="en-US" b="1" dirty="0"/>
              <a:t>].[</a:t>
            </a:r>
            <a:r>
              <a:rPr lang="en-US" b="1" dirty="0" err="1"/>
              <a:t>dbo.stress_query</a:t>
            </a:r>
            <a:r>
              <a:rPr lang="en-US" b="1" dirty="0"/>
              <a:t>]</a:t>
            </a:r>
            <a:r>
              <a:rPr lang="en-US" dirty="0"/>
              <a:t> is used to stress the database.</a:t>
            </a:r>
          </a:p>
          <a:p>
            <a:r>
              <a:rPr lang="en-US" b="1" dirty="0"/>
              <a:t>Demo Setup</a:t>
            </a:r>
          </a:p>
          <a:p>
            <a:pPr lvl="1"/>
            <a:r>
              <a:rPr lang="en-US" dirty="0"/>
              <a:t>execute the script </a:t>
            </a:r>
            <a:r>
              <a:rPr lang="en-US" sz="2000" b="1" dirty="0">
                <a:solidFill>
                  <a:schemeClr val="accent5"/>
                </a:solidFill>
                <a:latin typeface="Lucida Console" panose="020B0609040504020204" pitchFamily="49" charset="0"/>
              </a:rPr>
              <a:t>01 - scenario 03 – </a:t>
            </a:r>
            <a:r>
              <a:rPr lang="en-US" sz="2000" b="1" dirty="0" err="1">
                <a:solidFill>
                  <a:schemeClr val="accent5"/>
                </a:solidFill>
                <a:latin typeface="Lucida Console" panose="020B0609040504020204" pitchFamily="49" charset="0"/>
              </a:rPr>
              <a:t>preparation.sql</a:t>
            </a:r>
            <a:r>
              <a:rPr lang="en-US" sz="2000" dirty="0"/>
              <a:t> </a:t>
            </a:r>
            <a:r>
              <a:rPr lang="en-US" dirty="0"/>
              <a:t>to prepare all table objects.</a:t>
            </a:r>
          </a:p>
          <a:p>
            <a:pPr lvl="1"/>
            <a:r>
              <a:rPr lang="en-US" dirty="0"/>
              <a:t>execute the script </a:t>
            </a:r>
            <a:r>
              <a:rPr lang="en-US" sz="2000" b="1" dirty="0">
                <a:solidFill>
                  <a:schemeClr val="accent5"/>
                </a:solidFill>
                <a:latin typeface="Lucida Console" panose="020B0609040504020204" pitchFamily="49" charset="0"/>
              </a:rPr>
              <a:t>02 - scenario 03 – stress </a:t>
            </a:r>
            <a:r>
              <a:rPr lang="en-US" sz="2000" b="1" dirty="0" err="1">
                <a:solidFill>
                  <a:schemeClr val="accent5"/>
                </a:solidFill>
                <a:latin typeface="Lucida Console" panose="020B0609040504020204" pitchFamily="49" charset="0"/>
              </a:rPr>
              <a:t>query.sql</a:t>
            </a:r>
            <a:r>
              <a:rPr lang="en-US" sz="2000" b="1" dirty="0">
                <a:solidFill>
                  <a:schemeClr val="accent5"/>
                </a:solidFill>
                <a:latin typeface="Lucida Console" panose="020B0609040504020204" pitchFamily="49" charset="0"/>
              </a:rPr>
              <a:t> </a:t>
            </a:r>
            <a:r>
              <a:rPr lang="en-US" dirty="0"/>
              <a:t>to create the stored procedure.</a:t>
            </a:r>
          </a:p>
        </p:txBody>
      </p:sp>
    </p:spTree>
    <p:extLst>
      <p:ext uri="{BB962C8B-B14F-4D97-AF65-F5344CB8AC3E}">
        <p14:creationId xmlns:p14="http://schemas.microsoft.com/office/powerpoint/2010/main" val="2669480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B7F6-CB84-3212-F880-3068A29E65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ACF8F10-B84C-6951-4C45-C936927915D6}"/>
              </a:ext>
            </a:extLst>
          </p:cNvPr>
          <p:cNvSpPr>
            <a:spLocks noGrp="1"/>
          </p:cNvSpPr>
          <p:nvPr>
            <p:ph type="title"/>
          </p:nvPr>
        </p:nvSpPr>
        <p:spPr/>
        <p:txBody>
          <a:bodyPr/>
          <a:lstStyle/>
          <a:p>
            <a:r>
              <a:rPr lang="en-US" dirty="0"/>
              <a:t>Scenario 3 - Findings </a:t>
            </a:r>
          </a:p>
        </p:txBody>
      </p:sp>
      <p:sp>
        <p:nvSpPr>
          <p:cNvPr id="4" name="Inhaltsplatzhalter 3">
            <a:extLst>
              <a:ext uri="{FF2B5EF4-FFF2-40B4-BE49-F238E27FC236}">
                <a16:creationId xmlns:a16="http://schemas.microsoft.com/office/drawing/2014/main" id="{1E62805F-7A38-2E10-940D-774E2D786B38}"/>
              </a:ext>
            </a:extLst>
          </p:cNvPr>
          <p:cNvSpPr>
            <a:spLocks noGrp="1"/>
          </p:cNvSpPr>
          <p:nvPr>
            <p:ph sz="half" idx="1"/>
          </p:nvPr>
        </p:nvSpPr>
        <p:spPr/>
        <p:txBody>
          <a:bodyPr/>
          <a:lstStyle/>
          <a:p>
            <a:r>
              <a:rPr lang="en-US" dirty="0"/>
              <a:t>Avoid creating too deep nesting with SUB-Selects. They are difficult to read and may not be ideally optimized by the Query Optimizer.</a:t>
            </a:r>
          </a:p>
          <a:p>
            <a:r>
              <a:rPr lang="en-US" dirty="0"/>
              <a:t>OR statements on different attributes </a:t>
            </a:r>
            <a:r>
              <a:rPr lang="en-US" b="1" dirty="0"/>
              <a:t>cannot</a:t>
            </a:r>
            <a:r>
              <a:rPr lang="en-US" dirty="0"/>
              <a:t> always be used optimally by the query optimizer, despite both attributes being indexed. This is especially true if the attributes have a similar selectivity (cardinality).</a:t>
            </a:r>
          </a:p>
          <a:p>
            <a:r>
              <a:rPr lang="en-US" dirty="0"/>
              <a:t>To use the indexes on the attributes efficiently, it is better to use </a:t>
            </a:r>
            <a:r>
              <a:rPr lang="en-US" b="1" dirty="0">
                <a:solidFill>
                  <a:schemeClr val="accent6">
                    <a:lumMod val="75000"/>
                  </a:schemeClr>
                </a:solidFill>
              </a:rPr>
              <a:t>UNION ALL </a:t>
            </a:r>
            <a:r>
              <a:rPr lang="en-US" dirty="0"/>
              <a:t>instead of </a:t>
            </a:r>
            <a:r>
              <a:rPr lang="en-US" b="1" dirty="0">
                <a:solidFill>
                  <a:srgbClr val="FF0000"/>
                </a:solidFill>
              </a:rPr>
              <a:t>OR</a:t>
            </a:r>
            <a:r>
              <a:rPr lang="en-US" dirty="0"/>
              <a:t>.</a:t>
            </a:r>
          </a:p>
        </p:txBody>
      </p:sp>
      <p:sp>
        <p:nvSpPr>
          <p:cNvPr id="8" name="Inhaltsplatzhalter 7">
            <a:extLst>
              <a:ext uri="{FF2B5EF4-FFF2-40B4-BE49-F238E27FC236}">
                <a16:creationId xmlns:a16="http://schemas.microsoft.com/office/drawing/2014/main" id="{E33CCBC1-62DB-6250-D640-681F470CC8B1}"/>
              </a:ext>
            </a:extLst>
          </p:cNvPr>
          <p:cNvSpPr>
            <a:spLocks noGrp="1"/>
          </p:cNvSpPr>
          <p:nvPr>
            <p:ph sz="half" idx="2"/>
          </p:nvPr>
        </p:nvSpPr>
        <p:spPr/>
        <p:txBody>
          <a:bodyPr/>
          <a:lstStyle/>
          <a:p>
            <a:endParaRPr lang="en-US"/>
          </a:p>
        </p:txBody>
      </p:sp>
      <p:pic>
        <p:nvPicPr>
          <p:cNvPr id="9" name="Inhaltsplatzhalter 5">
            <a:extLst>
              <a:ext uri="{FF2B5EF4-FFF2-40B4-BE49-F238E27FC236}">
                <a16:creationId xmlns:a16="http://schemas.microsoft.com/office/drawing/2014/main" id="{A3DF15B4-123B-2B04-8388-EE8EB01E06FF}"/>
              </a:ext>
            </a:extLst>
          </p:cNvPr>
          <p:cNvPicPr>
            <a:picLocks noChangeAspect="1"/>
          </p:cNvPicPr>
          <p:nvPr/>
        </p:nvPicPr>
        <p:blipFill>
          <a:blip r:embed="rId2"/>
          <a:stretch>
            <a:fillRect/>
          </a:stretch>
        </p:blipFill>
        <p:spPr>
          <a:xfrm>
            <a:off x="6778625" y="1665288"/>
            <a:ext cx="4572000" cy="4572000"/>
          </a:xfrm>
          <a:prstGeom prst="rect">
            <a:avLst/>
          </a:prstGeom>
        </p:spPr>
      </p:pic>
    </p:spTree>
    <p:extLst>
      <p:ext uri="{BB962C8B-B14F-4D97-AF65-F5344CB8AC3E}">
        <p14:creationId xmlns:p14="http://schemas.microsoft.com/office/powerpoint/2010/main" val="241859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ACC6-96EA-C153-2A83-E5AA993A8EE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B9EC098-F5FA-5FFD-BEB9-6DD20A2F5715}"/>
              </a:ext>
            </a:extLst>
          </p:cNvPr>
          <p:cNvSpPr>
            <a:spLocks noGrp="1"/>
          </p:cNvSpPr>
          <p:nvPr>
            <p:ph type="ctrTitle"/>
          </p:nvPr>
        </p:nvSpPr>
        <p:spPr/>
        <p:txBody>
          <a:bodyPr/>
          <a:lstStyle/>
          <a:p>
            <a:r>
              <a:rPr lang="en-US" dirty="0"/>
              <a:t>Scenario #4</a:t>
            </a:r>
          </a:p>
        </p:txBody>
      </p:sp>
      <p:sp>
        <p:nvSpPr>
          <p:cNvPr id="5" name="Untertitel 4">
            <a:extLst>
              <a:ext uri="{FF2B5EF4-FFF2-40B4-BE49-F238E27FC236}">
                <a16:creationId xmlns:a16="http://schemas.microsoft.com/office/drawing/2014/main" id="{BFA39534-FBA4-0E59-40BD-47079A6B5866}"/>
              </a:ext>
            </a:extLst>
          </p:cNvPr>
          <p:cNvSpPr>
            <a:spLocks noGrp="1"/>
          </p:cNvSpPr>
          <p:nvPr>
            <p:ph type="subTitle" idx="1"/>
          </p:nvPr>
        </p:nvSpPr>
        <p:spPr/>
        <p:txBody>
          <a:bodyPr/>
          <a:lstStyle/>
          <a:p>
            <a:r>
              <a:rPr lang="en-US" dirty="0"/>
              <a:t>Triggers, Functions, Deadlocks - Exodus!</a:t>
            </a:r>
          </a:p>
        </p:txBody>
      </p:sp>
    </p:spTree>
    <p:extLst>
      <p:ext uri="{BB962C8B-B14F-4D97-AF65-F5344CB8AC3E}">
        <p14:creationId xmlns:p14="http://schemas.microsoft.com/office/powerpoint/2010/main" val="3891852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1164A-D2EA-1B0B-265C-E3F16968197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B1828B6-3939-99CA-2F44-2AEEE9A30733}"/>
              </a:ext>
            </a:extLst>
          </p:cNvPr>
          <p:cNvSpPr>
            <a:spLocks noGrp="1"/>
          </p:cNvSpPr>
          <p:nvPr>
            <p:ph type="title"/>
          </p:nvPr>
        </p:nvSpPr>
        <p:spPr/>
        <p:txBody>
          <a:bodyPr/>
          <a:lstStyle/>
          <a:p>
            <a:r>
              <a:rPr lang="en-US" dirty="0"/>
              <a:t>Scenario 4 – Problem Description</a:t>
            </a:r>
          </a:p>
        </p:txBody>
      </p:sp>
      <p:sp>
        <p:nvSpPr>
          <p:cNvPr id="3" name="Inhaltsplatzhalter 2">
            <a:extLst>
              <a:ext uri="{FF2B5EF4-FFF2-40B4-BE49-F238E27FC236}">
                <a16:creationId xmlns:a16="http://schemas.microsoft.com/office/drawing/2014/main" id="{EBC3E07B-61DF-F752-9D8D-5CAC0C512635}"/>
              </a:ext>
            </a:extLst>
          </p:cNvPr>
          <p:cNvSpPr>
            <a:spLocks noGrp="1"/>
          </p:cNvSpPr>
          <p:nvPr>
            <p:ph sz="half" idx="1"/>
          </p:nvPr>
        </p:nvSpPr>
        <p:spPr/>
        <p:txBody>
          <a:bodyPr>
            <a:normAutofit/>
          </a:bodyPr>
          <a:lstStyle/>
          <a:p>
            <a:r>
              <a:rPr lang="en-US" b="1" dirty="0"/>
              <a:t>Description</a:t>
            </a:r>
          </a:p>
          <a:p>
            <a:pPr lvl="1"/>
            <a:r>
              <a:rPr lang="en-US" sz="1600" b="0" i="0" dirty="0">
                <a:solidFill>
                  <a:srgbClr val="1F2328"/>
                </a:solidFill>
                <a:effectLst/>
                <a:latin typeface="-apple-system"/>
              </a:rPr>
              <a:t>A customer's web shop runs without any complaints from customers during "normal" days.</a:t>
            </a:r>
          </a:p>
          <a:p>
            <a:pPr lvl="1"/>
            <a:r>
              <a:rPr lang="en-US" sz="1600" b="0" i="0" dirty="0">
                <a:solidFill>
                  <a:srgbClr val="1F2328"/>
                </a:solidFill>
                <a:effectLst/>
                <a:latin typeface="-apple-system"/>
              </a:rPr>
              <a:t>As soon as special sales promotions are started (e.g. Black Friday, fire sale, ...), the system's performance collapses and customers complain that it takes a long time for placing an order in the system.</a:t>
            </a:r>
            <a:endParaRPr lang="en-US" sz="1600" b="1" dirty="0"/>
          </a:p>
          <a:p>
            <a:r>
              <a:rPr lang="en-US" b="1" dirty="0"/>
              <a:t>Problem</a:t>
            </a:r>
          </a:p>
          <a:p>
            <a:pPr lvl="1"/>
            <a:r>
              <a:rPr lang="en-US" sz="1600" dirty="0"/>
              <a:t>During peak times, the system reacts very slowly and cannot be used in some cases.</a:t>
            </a:r>
          </a:p>
          <a:p>
            <a:pPr lvl="1"/>
            <a:r>
              <a:rPr lang="en-US" sz="1600" dirty="0"/>
              <a:t>Customers often abandon their purchase attempts in frustration.</a:t>
            </a:r>
          </a:p>
        </p:txBody>
      </p:sp>
      <p:pic>
        <p:nvPicPr>
          <p:cNvPr id="9" name="Inhaltsplatzhalter 8">
            <a:extLst>
              <a:ext uri="{FF2B5EF4-FFF2-40B4-BE49-F238E27FC236}">
                <a16:creationId xmlns:a16="http://schemas.microsoft.com/office/drawing/2014/main" id="{44A8B1D8-8824-2686-9778-7AA1E8AE5B65}"/>
              </a:ext>
            </a:extLst>
          </p:cNvPr>
          <p:cNvPicPr>
            <a:picLocks noGrp="1" noChangeAspect="1"/>
          </p:cNvPicPr>
          <p:nvPr>
            <p:ph sz="half" idx="2"/>
          </p:nvPr>
        </p:nvPicPr>
        <p:blipFill>
          <a:blip r:embed="rId2"/>
          <a:stretch>
            <a:fillRect/>
          </a:stretch>
        </p:blipFill>
        <p:spPr>
          <a:xfrm>
            <a:off x="6778625" y="1665288"/>
            <a:ext cx="4572000" cy="4572000"/>
          </a:xfrm>
        </p:spPr>
      </p:pic>
      <p:sp>
        <p:nvSpPr>
          <p:cNvPr id="11" name="Rechteck 10">
            <a:extLst>
              <a:ext uri="{FF2B5EF4-FFF2-40B4-BE49-F238E27FC236}">
                <a16:creationId xmlns:a16="http://schemas.microsoft.com/office/drawing/2014/main" id="{4332928D-6136-A674-3230-8BFBCF2BC251}"/>
              </a:ext>
            </a:extLst>
          </p:cNvPr>
          <p:cNvSpPr/>
          <p:nvPr/>
        </p:nvSpPr>
        <p:spPr>
          <a:xfrm>
            <a:off x="7296411" y="2461364"/>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hteck 11">
            <a:extLst>
              <a:ext uri="{FF2B5EF4-FFF2-40B4-BE49-F238E27FC236}">
                <a16:creationId xmlns:a16="http://schemas.microsoft.com/office/drawing/2014/main" id="{F28A3C57-CE27-5266-E999-4F1C3B69D7D2}"/>
              </a:ext>
            </a:extLst>
          </p:cNvPr>
          <p:cNvSpPr/>
          <p:nvPr/>
        </p:nvSpPr>
        <p:spPr>
          <a:xfrm>
            <a:off x="7296411" y="2705622"/>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hteck 12">
            <a:extLst>
              <a:ext uri="{FF2B5EF4-FFF2-40B4-BE49-F238E27FC236}">
                <a16:creationId xmlns:a16="http://schemas.microsoft.com/office/drawing/2014/main" id="{37886DAF-7384-928D-1CE6-D1247437628B}"/>
              </a:ext>
            </a:extLst>
          </p:cNvPr>
          <p:cNvSpPr/>
          <p:nvPr/>
        </p:nvSpPr>
        <p:spPr>
          <a:xfrm>
            <a:off x="7296410" y="4741102"/>
            <a:ext cx="132533" cy="244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feld 42">
            <a:extLst>
              <a:ext uri="{FF2B5EF4-FFF2-40B4-BE49-F238E27FC236}">
                <a16:creationId xmlns:a16="http://schemas.microsoft.com/office/drawing/2014/main" id="{68547F13-A422-D977-F94C-E9CED9F6599B}"/>
              </a:ext>
            </a:extLst>
          </p:cNvPr>
          <p:cNvSpPr txBox="1"/>
          <p:nvPr/>
        </p:nvSpPr>
        <p:spPr>
          <a:xfrm>
            <a:off x="6588690" y="3429000"/>
            <a:ext cx="494773" cy="276999"/>
          </a:xfrm>
          <a:prstGeom prst="rect">
            <a:avLst/>
          </a:prstGeom>
          <a:noFill/>
        </p:spPr>
        <p:txBody>
          <a:bodyPr wrap="square" rtlCol="0">
            <a:spAutoFit/>
          </a:bodyPr>
          <a:lstStyle/>
          <a:p>
            <a:pPr algn="ctr"/>
            <a:r>
              <a:rPr lang="en-US" sz="1200" dirty="0"/>
              <a:t>OR</a:t>
            </a:r>
          </a:p>
        </p:txBody>
      </p:sp>
    </p:spTree>
    <p:extLst>
      <p:ext uri="{BB962C8B-B14F-4D97-AF65-F5344CB8AC3E}">
        <p14:creationId xmlns:p14="http://schemas.microsoft.com/office/powerpoint/2010/main" val="2903032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BDF256-CDD1-1B1C-1B64-A3E95A6822AB}"/>
              </a:ext>
            </a:extLst>
          </p:cNvPr>
          <p:cNvSpPr>
            <a:spLocks noGrp="1"/>
          </p:cNvSpPr>
          <p:nvPr>
            <p:ph type="title"/>
          </p:nvPr>
        </p:nvSpPr>
        <p:spPr/>
        <p:txBody>
          <a:bodyPr/>
          <a:lstStyle/>
          <a:p>
            <a:r>
              <a:rPr lang="en-US" dirty="0"/>
              <a:t>Scenario 4 - Workload</a:t>
            </a:r>
          </a:p>
        </p:txBody>
      </p:sp>
      <p:pic>
        <p:nvPicPr>
          <p:cNvPr id="1026" name="Picture 2" descr="webshop icon Stock-Illustration | Adobe Stock">
            <a:extLst>
              <a:ext uri="{FF2B5EF4-FFF2-40B4-BE49-F238E27FC236}">
                <a16:creationId xmlns:a16="http://schemas.microsoft.com/office/drawing/2014/main" id="{E0C6257F-7582-F72B-7CFD-D9F097FF02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73" t="2753" r="4145" b="3081"/>
          <a:stretch/>
        </p:blipFill>
        <p:spPr bwMode="auto">
          <a:xfrm>
            <a:off x="334965" y="1665288"/>
            <a:ext cx="873903" cy="9064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office vector icon. vector filled flat symbol for mobile concept and  web design. Black filled glyph icon. Isolated sign, logo illustration.  Vector graphics. Stock-Vektorgrafik | Adobe Stock">
            <a:extLst>
              <a:ext uri="{FF2B5EF4-FFF2-40B4-BE49-F238E27FC236}">
                <a16:creationId xmlns:a16="http://schemas.microsoft.com/office/drawing/2014/main" id="{C4702702-2E15-5A6D-4C10-6B05B5B8B5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492" t="18790" r="21155" b="4945"/>
          <a:stretch/>
        </p:blipFill>
        <p:spPr bwMode="auto">
          <a:xfrm>
            <a:off x="334965" y="3429000"/>
            <a:ext cx="1023580" cy="1320811"/>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uppieren 25">
            <a:extLst>
              <a:ext uri="{FF2B5EF4-FFF2-40B4-BE49-F238E27FC236}">
                <a16:creationId xmlns:a16="http://schemas.microsoft.com/office/drawing/2014/main" id="{1190687F-6CA6-1E99-C290-A97D4EAB6056}"/>
              </a:ext>
            </a:extLst>
          </p:cNvPr>
          <p:cNvGrpSpPr/>
          <p:nvPr/>
        </p:nvGrpSpPr>
        <p:grpSpPr>
          <a:xfrm>
            <a:off x="2607042" y="2571750"/>
            <a:ext cx="1117873" cy="1379277"/>
            <a:chOff x="3535090" y="2571750"/>
            <a:chExt cx="1117873" cy="1379277"/>
          </a:xfrm>
        </p:grpSpPr>
        <p:pic>
          <p:nvPicPr>
            <p:cNvPr id="1030" name="Picture 6" descr="web server - Openclipart">
              <a:extLst>
                <a:ext uri="{FF2B5EF4-FFF2-40B4-BE49-F238E27FC236}">
                  <a16:creationId xmlns:a16="http://schemas.microsoft.com/office/drawing/2014/main" id="{2ADD5814-D3E2-4B15-2953-78BFAEAAF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5090" y="2571750"/>
              <a:ext cx="1074762" cy="1379277"/>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5EA3BE2A-4CE1-C18C-483A-45DE85F1DF05}"/>
                </a:ext>
              </a:extLst>
            </p:cNvPr>
            <p:cNvSpPr/>
            <p:nvPr/>
          </p:nvSpPr>
          <p:spPr>
            <a:xfrm>
              <a:off x="4572000" y="2571750"/>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hteck 8">
              <a:extLst>
                <a:ext uri="{FF2B5EF4-FFF2-40B4-BE49-F238E27FC236}">
                  <a16:creationId xmlns:a16="http://schemas.microsoft.com/office/drawing/2014/main" id="{BC915240-6448-FC65-A18E-2A7002150CE8}"/>
                </a:ext>
              </a:extLst>
            </p:cNvPr>
            <p:cNvSpPr/>
            <p:nvPr/>
          </p:nvSpPr>
          <p:spPr>
            <a:xfrm>
              <a:off x="4569370" y="3824821"/>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eck 10">
              <a:extLst>
                <a:ext uri="{FF2B5EF4-FFF2-40B4-BE49-F238E27FC236}">
                  <a16:creationId xmlns:a16="http://schemas.microsoft.com/office/drawing/2014/main" id="{31014F3C-3F60-3D08-6DEC-89A467399346}"/>
                </a:ext>
              </a:extLst>
            </p:cNvPr>
            <p:cNvSpPr/>
            <p:nvPr/>
          </p:nvSpPr>
          <p:spPr>
            <a:xfrm>
              <a:off x="4572000" y="3191409"/>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uppieren 26">
            <a:extLst>
              <a:ext uri="{FF2B5EF4-FFF2-40B4-BE49-F238E27FC236}">
                <a16:creationId xmlns:a16="http://schemas.microsoft.com/office/drawing/2014/main" id="{CF16A1FD-2681-D7E8-7A64-E44D606F326B}"/>
              </a:ext>
            </a:extLst>
          </p:cNvPr>
          <p:cNvGrpSpPr/>
          <p:nvPr/>
        </p:nvGrpSpPr>
        <p:grpSpPr>
          <a:xfrm>
            <a:off x="7978348" y="2571750"/>
            <a:ext cx="968206" cy="1379277"/>
            <a:chOff x="7978348" y="2571750"/>
            <a:chExt cx="968206" cy="1379277"/>
          </a:xfrm>
        </p:grpSpPr>
        <p:sp>
          <p:nvSpPr>
            <p:cNvPr id="6" name="Zylinder 5">
              <a:extLst>
                <a:ext uri="{FF2B5EF4-FFF2-40B4-BE49-F238E27FC236}">
                  <a16:creationId xmlns:a16="http://schemas.microsoft.com/office/drawing/2014/main" id="{49B466F3-BB53-B2C3-3373-E5F7AFA2B5A2}"/>
                </a:ext>
              </a:extLst>
            </p:cNvPr>
            <p:cNvSpPr/>
            <p:nvPr/>
          </p:nvSpPr>
          <p:spPr>
            <a:xfrm>
              <a:off x="8072651" y="2571750"/>
              <a:ext cx="873903" cy="1379277"/>
            </a:xfrm>
            <a:prstGeom prst="can">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SQL</a:t>
              </a:r>
            </a:p>
          </p:txBody>
        </p:sp>
        <p:sp>
          <p:nvSpPr>
            <p:cNvPr id="12" name="Rechteck 11">
              <a:extLst>
                <a:ext uri="{FF2B5EF4-FFF2-40B4-BE49-F238E27FC236}">
                  <a16:creationId xmlns:a16="http://schemas.microsoft.com/office/drawing/2014/main" id="{E927C664-CCE1-11EC-2A54-6B8566CE6D57}"/>
                </a:ext>
              </a:extLst>
            </p:cNvPr>
            <p:cNvSpPr/>
            <p:nvPr/>
          </p:nvSpPr>
          <p:spPr>
            <a:xfrm>
              <a:off x="7980978" y="2571750"/>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a:extLst>
                <a:ext uri="{FF2B5EF4-FFF2-40B4-BE49-F238E27FC236}">
                  <a16:creationId xmlns:a16="http://schemas.microsoft.com/office/drawing/2014/main" id="{462A0E80-15BC-A5EE-6B34-447A1000BC72}"/>
                </a:ext>
              </a:extLst>
            </p:cNvPr>
            <p:cNvSpPr/>
            <p:nvPr/>
          </p:nvSpPr>
          <p:spPr>
            <a:xfrm>
              <a:off x="7978348" y="3824821"/>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hteck 13">
              <a:extLst>
                <a:ext uri="{FF2B5EF4-FFF2-40B4-BE49-F238E27FC236}">
                  <a16:creationId xmlns:a16="http://schemas.microsoft.com/office/drawing/2014/main" id="{3F6DE8CC-010A-477A-AC6B-4AD8A53D1372}"/>
                </a:ext>
              </a:extLst>
            </p:cNvPr>
            <p:cNvSpPr/>
            <p:nvPr/>
          </p:nvSpPr>
          <p:spPr>
            <a:xfrm>
              <a:off x="7980978" y="3191409"/>
              <a:ext cx="80963" cy="126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Gerade Verbindung mit Pfeil 15">
            <a:extLst>
              <a:ext uri="{FF2B5EF4-FFF2-40B4-BE49-F238E27FC236}">
                <a16:creationId xmlns:a16="http://schemas.microsoft.com/office/drawing/2014/main" id="{BFF62822-DC5A-C836-D7D6-A11088200D31}"/>
              </a:ext>
            </a:extLst>
          </p:cNvPr>
          <p:cNvCxnSpPr>
            <a:stCxn id="8" idx="3"/>
            <a:endCxn id="12" idx="1"/>
          </p:cNvCxnSpPr>
          <p:nvPr/>
        </p:nvCxnSpPr>
        <p:spPr>
          <a:xfrm>
            <a:off x="3724915" y="2634853"/>
            <a:ext cx="4256063"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B0D7BFA6-19C3-77CE-7E52-4DAC75D28D2D}"/>
              </a:ext>
            </a:extLst>
          </p:cNvPr>
          <p:cNvCxnSpPr>
            <a:cxnSpLocks/>
            <a:stCxn id="11" idx="3"/>
            <a:endCxn id="14" idx="1"/>
          </p:cNvCxnSpPr>
          <p:nvPr/>
        </p:nvCxnSpPr>
        <p:spPr>
          <a:xfrm>
            <a:off x="3724915" y="3254512"/>
            <a:ext cx="4256063"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17B558C1-4854-42EA-B917-A97B429E12A3}"/>
              </a:ext>
            </a:extLst>
          </p:cNvPr>
          <p:cNvCxnSpPr>
            <a:cxnSpLocks/>
            <a:stCxn id="9" idx="3"/>
          </p:cNvCxnSpPr>
          <p:nvPr/>
        </p:nvCxnSpPr>
        <p:spPr>
          <a:xfrm flipV="1">
            <a:off x="3722285" y="3874170"/>
            <a:ext cx="4242723" cy="13754"/>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120FC17E-37AC-0FB3-2667-B12E40E4091D}"/>
              </a:ext>
            </a:extLst>
          </p:cNvPr>
          <p:cNvSpPr txBox="1"/>
          <p:nvPr/>
        </p:nvSpPr>
        <p:spPr>
          <a:xfrm>
            <a:off x="3735625" y="2316748"/>
            <a:ext cx="4242723" cy="307777"/>
          </a:xfrm>
          <a:prstGeom prst="rect">
            <a:avLst/>
          </a:prstGeom>
          <a:noFill/>
        </p:spPr>
        <p:txBody>
          <a:bodyPr wrap="square" rtlCol="0">
            <a:spAutoFit/>
          </a:bodyPr>
          <a:lstStyle/>
          <a:p>
            <a:pPr algn="ctr"/>
            <a:r>
              <a:rPr lang="en-US" sz="1400" dirty="0" err="1">
                <a:latin typeface="Lucida Console" panose="020B0609040504020204" pitchFamily="49" charset="0"/>
              </a:rPr>
              <a:t>webshop.insert_order_record</a:t>
            </a:r>
            <a:endParaRPr lang="en-US" sz="1400" dirty="0">
              <a:latin typeface="Lucida Console" panose="020B0609040504020204" pitchFamily="49" charset="0"/>
            </a:endParaRPr>
          </a:p>
        </p:txBody>
      </p:sp>
      <p:sp>
        <p:nvSpPr>
          <p:cNvPr id="24" name="Textfeld 23">
            <a:extLst>
              <a:ext uri="{FF2B5EF4-FFF2-40B4-BE49-F238E27FC236}">
                <a16:creationId xmlns:a16="http://schemas.microsoft.com/office/drawing/2014/main" id="{27BA4003-7B39-2668-1289-D3803DDD0D1F}"/>
              </a:ext>
            </a:extLst>
          </p:cNvPr>
          <p:cNvSpPr txBox="1"/>
          <p:nvPr/>
        </p:nvSpPr>
        <p:spPr>
          <a:xfrm>
            <a:off x="3735625" y="2946735"/>
            <a:ext cx="4242723" cy="307777"/>
          </a:xfrm>
          <a:prstGeom prst="rect">
            <a:avLst/>
          </a:prstGeom>
          <a:noFill/>
        </p:spPr>
        <p:txBody>
          <a:bodyPr wrap="square" rtlCol="0">
            <a:spAutoFit/>
          </a:bodyPr>
          <a:lstStyle/>
          <a:p>
            <a:pPr algn="ctr"/>
            <a:r>
              <a:rPr lang="en-US" sz="1400" dirty="0" err="1">
                <a:latin typeface="Lucida Console" panose="020B0609040504020204" pitchFamily="49" charset="0"/>
              </a:rPr>
              <a:t>webshop.update_order_record</a:t>
            </a:r>
            <a:endParaRPr lang="en-US" sz="1400" dirty="0">
              <a:latin typeface="Lucida Console" panose="020B0609040504020204" pitchFamily="49" charset="0"/>
            </a:endParaRPr>
          </a:p>
        </p:txBody>
      </p:sp>
      <p:sp>
        <p:nvSpPr>
          <p:cNvPr id="25" name="Textfeld 24">
            <a:extLst>
              <a:ext uri="{FF2B5EF4-FFF2-40B4-BE49-F238E27FC236}">
                <a16:creationId xmlns:a16="http://schemas.microsoft.com/office/drawing/2014/main" id="{28B5EBFC-076E-B1E9-A1D0-BAD4AC891F1D}"/>
              </a:ext>
            </a:extLst>
          </p:cNvPr>
          <p:cNvSpPr txBox="1"/>
          <p:nvPr/>
        </p:nvSpPr>
        <p:spPr>
          <a:xfrm>
            <a:off x="3735625" y="3576722"/>
            <a:ext cx="4242723" cy="307777"/>
          </a:xfrm>
          <a:prstGeom prst="rect">
            <a:avLst/>
          </a:prstGeom>
          <a:noFill/>
        </p:spPr>
        <p:txBody>
          <a:bodyPr wrap="square" rtlCol="0">
            <a:spAutoFit/>
          </a:bodyPr>
          <a:lstStyle/>
          <a:p>
            <a:pPr algn="ctr"/>
            <a:r>
              <a:rPr lang="en-US" sz="1400" dirty="0" err="1">
                <a:latin typeface="Lucida Console" panose="020B0609040504020204" pitchFamily="49" charset="0"/>
              </a:rPr>
              <a:t>webshop.delete_order_record</a:t>
            </a:r>
            <a:endParaRPr lang="en-US" sz="1400" dirty="0">
              <a:latin typeface="Lucida Console" panose="020B0609040504020204" pitchFamily="49" charset="0"/>
            </a:endParaRPr>
          </a:p>
        </p:txBody>
      </p:sp>
      <p:cxnSp>
        <p:nvCxnSpPr>
          <p:cNvPr id="30" name="Verbinder: gewinkelt 29">
            <a:extLst>
              <a:ext uri="{FF2B5EF4-FFF2-40B4-BE49-F238E27FC236}">
                <a16:creationId xmlns:a16="http://schemas.microsoft.com/office/drawing/2014/main" id="{1E1C9D0E-7E83-CF29-8923-1C89559DB028}"/>
              </a:ext>
            </a:extLst>
          </p:cNvPr>
          <p:cNvCxnSpPr>
            <a:stCxn id="1026" idx="3"/>
            <a:endCxn id="1030" idx="1"/>
          </p:cNvCxnSpPr>
          <p:nvPr/>
        </p:nvCxnSpPr>
        <p:spPr>
          <a:xfrm>
            <a:off x="1208868" y="2118519"/>
            <a:ext cx="1398174" cy="1142870"/>
          </a:xfrm>
          <a:prstGeom prst="bentConnector3">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winkelt 31">
            <a:extLst>
              <a:ext uri="{FF2B5EF4-FFF2-40B4-BE49-F238E27FC236}">
                <a16:creationId xmlns:a16="http://schemas.microsoft.com/office/drawing/2014/main" id="{A72182EF-87EF-45E1-2A22-CE50DAC523E0}"/>
              </a:ext>
            </a:extLst>
          </p:cNvPr>
          <p:cNvCxnSpPr>
            <a:stCxn id="1028" idx="3"/>
            <a:endCxn id="1030" idx="1"/>
          </p:cNvCxnSpPr>
          <p:nvPr/>
        </p:nvCxnSpPr>
        <p:spPr>
          <a:xfrm flipV="1">
            <a:off x="1358545" y="3261389"/>
            <a:ext cx="1248497" cy="828017"/>
          </a:xfrm>
          <a:prstGeom prst="bentConnector3">
            <a:avLst>
              <a:gd name="adj1" fmla="val 43988"/>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032" name="Picture 8" descr="Microsoft SQL Server Agent im Data Warehouse Umfeld">
            <a:extLst>
              <a:ext uri="{FF2B5EF4-FFF2-40B4-BE49-F238E27FC236}">
                <a16:creationId xmlns:a16="http://schemas.microsoft.com/office/drawing/2014/main" id="{E49690CA-FF87-AB7A-FC91-DBAB21C0C42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447" r="31905"/>
          <a:stretch/>
        </p:blipFill>
        <p:spPr bwMode="auto">
          <a:xfrm>
            <a:off x="9372600" y="4158444"/>
            <a:ext cx="1442113" cy="1352550"/>
          </a:xfrm>
          <a:prstGeom prst="rect">
            <a:avLst/>
          </a:prstGeom>
          <a:noFill/>
          <a:extLst>
            <a:ext uri="{909E8E84-426E-40DD-AFC4-6F175D3DCCD1}">
              <a14:hiddenFill xmlns:a14="http://schemas.microsoft.com/office/drawing/2010/main">
                <a:solidFill>
                  <a:srgbClr val="FFFFFF"/>
                </a:solidFill>
              </a14:hiddenFill>
            </a:ext>
          </a:extLst>
        </p:spPr>
      </p:pic>
      <p:sp>
        <p:nvSpPr>
          <p:cNvPr id="34" name="Textfeld 33">
            <a:extLst>
              <a:ext uri="{FF2B5EF4-FFF2-40B4-BE49-F238E27FC236}">
                <a16:creationId xmlns:a16="http://schemas.microsoft.com/office/drawing/2014/main" id="{4F690970-2A06-B07B-6B2C-D2482B37E1A8}"/>
              </a:ext>
            </a:extLst>
          </p:cNvPr>
          <p:cNvSpPr txBox="1"/>
          <p:nvPr/>
        </p:nvSpPr>
        <p:spPr>
          <a:xfrm>
            <a:off x="9372600" y="5575110"/>
            <a:ext cx="1442113" cy="369332"/>
          </a:xfrm>
          <a:prstGeom prst="rect">
            <a:avLst/>
          </a:prstGeom>
          <a:noFill/>
        </p:spPr>
        <p:txBody>
          <a:bodyPr wrap="square" rtlCol="0">
            <a:spAutoFit/>
          </a:bodyPr>
          <a:lstStyle/>
          <a:p>
            <a:pPr algn="ctr"/>
            <a:r>
              <a:rPr lang="en-US" dirty="0"/>
              <a:t>Job Server</a:t>
            </a:r>
          </a:p>
        </p:txBody>
      </p:sp>
      <p:graphicFrame>
        <p:nvGraphicFramePr>
          <p:cNvPr id="35" name="Tabelle 34">
            <a:extLst>
              <a:ext uri="{FF2B5EF4-FFF2-40B4-BE49-F238E27FC236}">
                <a16:creationId xmlns:a16="http://schemas.microsoft.com/office/drawing/2014/main" id="{E5233D8E-CE11-6A7F-A6BC-B66825FD44EC}"/>
              </a:ext>
            </a:extLst>
          </p:cNvPr>
          <p:cNvGraphicFramePr>
            <a:graphicFrameLocks noGrp="1"/>
          </p:cNvGraphicFramePr>
          <p:nvPr>
            <p:extLst>
              <p:ext uri="{D42A27DB-BD31-4B8C-83A1-F6EECF244321}">
                <p14:modId xmlns:p14="http://schemas.microsoft.com/office/powerpoint/2010/main" val="1820352475"/>
              </p:ext>
            </p:extLst>
          </p:nvPr>
        </p:nvGraphicFramePr>
        <p:xfrm>
          <a:off x="9372600" y="2568325"/>
          <a:ext cx="2484438" cy="1352550"/>
        </p:xfrm>
        <a:graphic>
          <a:graphicData uri="http://schemas.openxmlformats.org/drawingml/2006/table">
            <a:tbl>
              <a:tblPr>
                <a:tableStyleId>{5C22544A-7EE6-4342-B048-85BDC9FD1C3A}</a:tableStyleId>
              </a:tblPr>
              <a:tblGrid>
                <a:gridCol w="2484438">
                  <a:extLst>
                    <a:ext uri="{9D8B030D-6E8A-4147-A177-3AD203B41FA5}">
                      <a16:colId xmlns:a16="http://schemas.microsoft.com/office/drawing/2014/main" val="2795893339"/>
                    </a:ext>
                  </a:extLst>
                </a:gridCol>
              </a:tblGrid>
              <a:tr h="450850">
                <a:tc>
                  <a:txBody>
                    <a:bodyPr/>
                    <a:lstStyle/>
                    <a:p>
                      <a:r>
                        <a:rPr lang="en-US" sz="1400" dirty="0" err="1">
                          <a:latin typeface="Lucida Console" panose="020B0609040504020204" pitchFamily="49" charset="0"/>
                        </a:rPr>
                        <a:t>webshop.customers</a:t>
                      </a:r>
                      <a:endParaRPr lang="en-US" sz="1400" dirty="0">
                        <a:latin typeface="Lucida Console" panose="020B0609040504020204" pitchFamily="49" charset="0"/>
                      </a:endParaRPr>
                    </a:p>
                  </a:txBody>
                  <a:tcPr/>
                </a:tc>
                <a:extLst>
                  <a:ext uri="{0D108BD9-81ED-4DB2-BD59-A6C34878D82A}">
                    <a16:rowId xmlns:a16="http://schemas.microsoft.com/office/drawing/2014/main" val="1176011783"/>
                  </a:ext>
                </a:extLst>
              </a:tr>
              <a:tr h="450850">
                <a:tc>
                  <a:txBody>
                    <a:bodyPr/>
                    <a:lstStyle/>
                    <a:p>
                      <a:r>
                        <a:rPr lang="en-US" sz="1400" dirty="0" err="1">
                          <a:latin typeface="Lucida Console" panose="020B0609040504020204" pitchFamily="49" charset="0"/>
                        </a:rPr>
                        <a:t>webshop.orders</a:t>
                      </a:r>
                      <a:endParaRPr lang="en-US" sz="1400" dirty="0">
                        <a:latin typeface="Lucida Console" panose="020B0609040504020204" pitchFamily="49" charset="0"/>
                      </a:endParaRPr>
                    </a:p>
                  </a:txBody>
                  <a:tcPr/>
                </a:tc>
                <a:extLst>
                  <a:ext uri="{0D108BD9-81ED-4DB2-BD59-A6C34878D82A}">
                    <a16:rowId xmlns:a16="http://schemas.microsoft.com/office/drawing/2014/main" val="3354992137"/>
                  </a:ext>
                </a:extLst>
              </a:tr>
              <a:tr h="450850">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sz="1400" dirty="0" err="1">
                          <a:latin typeface="Lucida Console" panose="020B0609040504020204" pitchFamily="49" charset="0"/>
                        </a:rPr>
                        <a:t>webshop.lineitems</a:t>
                      </a:r>
                      <a:endParaRPr lang="en-US" sz="1400" dirty="0">
                        <a:latin typeface="Lucida Console" panose="020B0609040504020204" pitchFamily="49" charset="0"/>
                      </a:endParaRPr>
                    </a:p>
                  </a:txBody>
                  <a:tcPr/>
                </a:tc>
                <a:extLst>
                  <a:ext uri="{0D108BD9-81ED-4DB2-BD59-A6C34878D82A}">
                    <a16:rowId xmlns:a16="http://schemas.microsoft.com/office/drawing/2014/main" val="2073885871"/>
                  </a:ext>
                </a:extLst>
              </a:tr>
            </a:tbl>
          </a:graphicData>
        </a:graphic>
      </p:graphicFrame>
    </p:spTree>
    <p:extLst>
      <p:ext uri="{BB962C8B-B14F-4D97-AF65-F5344CB8AC3E}">
        <p14:creationId xmlns:p14="http://schemas.microsoft.com/office/powerpoint/2010/main" val="197504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859812-683F-5BCC-2F2E-B395BCC97FAA}"/>
              </a:ext>
            </a:extLst>
          </p:cNvPr>
          <p:cNvSpPr>
            <a:spLocks noGrp="1"/>
          </p:cNvSpPr>
          <p:nvPr>
            <p:ph type="title"/>
          </p:nvPr>
        </p:nvSpPr>
        <p:spPr/>
        <p:txBody>
          <a:bodyPr/>
          <a:lstStyle/>
          <a:p>
            <a:r>
              <a:rPr lang="en-US" dirty="0"/>
              <a:t>Scenario 4 - simulation</a:t>
            </a:r>
          </a:p>
        </p:txBody>
      </p:sp>
      <p:sp>
        <p:nvSpPr>
          <p:cNvPr id="3" name="Textfeld 2">
            <a:extLst>
              <a:ext uri="{FF2B5EF4-FFF2-40B4-BE49-F238E27FC236}">
                <a16:creationId xmlns:a16="http://schemas.microsoft.com/office/drawing/2014/main" id="{645989F9-5836-EBB4-1F0B-CBC1050166E3}"/>
              </a:ext>
            </a:extLst>
          </p:cNvPr>
          <p:cNvSpPr txBox="1"/>
          <p:nvPr/>
        </p:nvSpPr>
        <p:spPr>
          <a:xfrm>
            <a:off x="334966" y="1955615"/>
            <a:ext cx="5761034" cy="369332"/>
          </a:xfrm>
          <a:prstGeom prst="rect">
            <a:avLst/>
          </a:prstGeom>
          <a:noFill/>
        </p:spPr>
        <p:txBody>
          <a:bodyPr wrap="square" rtlCol="0">
            <a:spAutoFit/>
          </a:bodyPr>
          <a:lstStyle/>
          <a:p>
            <a:pPr>
              <a:buNone/>
            </a:pPr>
            <a:r>
              <a:rPr lang="en-US" sz="1800" dirty="0">
                <a:solidFill>
                  <a:srgbClr val="0000FF"/>
                </a:solidFill>
                <a:effectLst/>
                <a:latin typeface="Cascadia Mono" panose="020B0609020000020004" pitchFamily="49" charset="0"/>
              </a:rPr>
              <a:t>EXEC</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webshop</a:t>
            </a:r>
            <a:r>
              <a:rPr lang="en-US" sz="1800" dirty="0" err="1">
                <a:solidFill>
                  <a:srgbClr val="808080"/>
                </a:solidFill>
                <a:effectLst/>
                <a:latin typeface="Cascadia Mono" panose="020B0609020000020004" pitchFamily="49" charset="0"/>
              </a:rPr>
              <a:t>.</a:t>
            </a:r>
            <a:r>
              <a:rPr lang="en-US" sz="1800" dirty="0" err="1">
                <a:solidFill>
                  <a:srgbClr val="000000"/>
                </a:solidFill>
                <a:effectLst/>
                <a:latin typeface="Cascadia Mono" panose="020B0609020000020004" pitchFamily="49" charset="0"/>
              </a:rPr>
              <a:t>insert_order_record</a:t>
            </a:r>
            <a:r>
              <a:rPr lang="en-US" sz="1800" dirty="0">
                <a:solidFill>
                  <a:srgbClr val="808080"/>
                </a:solidFill>
                <a:effectLst/>
                <a:latin typeface="Cascadia Mono" panose="020B0609020000020004" pitchFamily="49" charset="0"/>
              </a:rPr>
              <a:t>;</a:t>
            </a:r>
            <a:endParaRPr lang="en-US" sz="1800" dirty="0">
              <a:solidFill>
                <a:srgbClr val="000000"/>
              </a:solidFill>
              <a:effectLst/>
              <a:latin typeface="Cascadia Mono" panose="020B0609020000020004" pitchFamily="49" charset="0"/>
            </a:endParaRPr>
          </a:p>
        </p:txBody>
      </p:sp>
      <p:sp>
        <p:nvSpPr>
          <p:cNvPr id="4" name="Textfeld 3">
            <a:extLst>
              <a:ext uri="{FF2B5EF4-FFF2-40B4-BE49-F238E27FC236}">
                <a16:creationId xmlns:a16="http://schemas.microsoft.com/office/drawing/2014/main" id="{49687EB7-54C8-E618-A0E8-E90D94AE9131}"/>
              </a:ext>
            </a:extLst>
          </p:cNvPr>
          <p:cNvSpPr txBox="1"/>
          <p:nvPr/>
        </p:nvSpPr>
        <p:spPr>
          <a:xfrm>
            <a:off x="334963" y="2983480"/>
            <a:ext cx="5761037" cy="369332"/>
          </a:xfrm>
          <a:prstGeom prst="rect">
            <a:avLst/>
          </a:prstGeom>
          <a:noFill/>
        </p:spPr>
        <p:txBody>
          <a:bodyPr wrap="square" rtlCol="0">
            <a:spAutoFit/>
          </a:bodyPr>
          <a:lstStyle/>
          <a:p>
            <a:r>
              <a:rPr lang="en-US" dirty="0"/>
              <a:t>01: Insert data into </a:t>
            </a:r>
            <a:r>
              <a:rPr lang="en-US" dirty="0" err="1"/>
              <a:t>webshop.orders</a:t>
            </a:r>
            <a:endParaRPr lang="en-US" dirty="0"/>
          </a:p>
        </p:txBody>
      </p:sp>
      <p:sp>
        <p:nvSpPr>
          <p:cNvPr id="5" name="Textfeld 4">
            <a:extLst>
              <a:ext uri="{FF2B5EF4-FFF2-40B4-BE49-F238E27FC236}">
                <a16:creationId xmlns:a16="http://schemas.microsoft.com/office/drawing/2014/main" id="{A087EC59-8F0C-C9DF-6FD3-5AA54FC0C56C}"/>
              </a:ext>
            </a:extLst>
          </p:cNvPr>
          <p:cNvSpPr txBox="1"/>
          <p:nvPr/>
        </p:nvSpPr>
        <p:spPr>
          <a:xfrm>
            <a:off x="334962" y="4163722"/>
            <a:ext cx="5761037" cy="369332"/>
          </a:xfrm>
          <a:prstGeom prst="rect">
            <a:avLst/>
          </a:prstGeom>
          <a:noFill/>
        </p:spPr>
        <p:txBody>
          <a:bodyPr wrap="square" rtlCol="0">
            <a:spAutoFit/>
          </a:bodyPr>
          <a:lstStyle/>
          <a:p>
            <a:r>
              <a:rPr lang="en-US" dirty="0"/>
              <a:t>05: Insert data into </a:t>
            </a:r>
            <a:r>
              <a:rPr lang="en-US" dirty="0" err="1"/>
              <a:t>webshop.lineitems</a:t>
            </a:r>
            <a:endParaRPr lang="en-US" dirty="0"/>
          </a:p>
        </p:txBody>
      </p:sp>
      <p:sp>
        <p:nvSpPr>
          <p:cNvPr id="6" name="Textfeld 5">
            <a:extLst>
              <a:ext uri="{FF2B5EF4-FFF2-40B4-BE49-F238E27FC236}">
                <a16:creationId xmlns:a16="http://schemas.microsoft.com/office/drawing/2014/main" id="{89B74418-70F7-76FC-2D20-624F1A86452B}"/>
              </a:ext>
            </a:extLst>
          </p:cNvPr>
          <p:cNvSpPr txBox="1"/>
          <p:nvPr/>
        </p:nvSpPr>
        <p:spPr>
          <a:xfrm>
            <a:off x="8363088" y="4165959"/>
            <a:ext cx="3183715" cy="646331"/>
          </a:xfrm>
          <a:prstGeom prst="rect">
            <a:avLst/>
          </a:prstGeom>
          <a:noFill/>
        </p:spPr>
        <p:txBody>
          <a:bodyPr wrap="square" rtlCol="0">
            <a:spAutoFit/>
          </a:bodyPr>
          <a:lstStyle/>
          <a:p>
            <a:r>
              <a:rPr lang="en-US" dirty="0"/>
              <a:t>04: Update data in </a:t>
            </a:r>
            <a:r>
              <a:rPr lang="en-US" dirty="0" err="1"/>
              <a:t>webshop.customers</a:t>
            </a:r>
            <a:endParaRPr lang="en-US" dirty="0"/>
          </a:p>
        </p:txBody>
      </p:sp>
      <p:sp>
        <p:nvSpPr>
          <p:cNvPr id="7" name="Textfeld 6">
            <a:extLst>
              <a:ext uri="{FF2B5EF4-FFF2-40B4-BE49-F238E27FC236}">
                <a16:creationId xmlns:a16="http://schemas.microsoft.com/office/drawing/2014/main" id="{4A87539F-0BB8-EF25-0D5C-54073CB9334F}"/>
              </a:ext>
            </a:extLst>
          </p:cNvPr>
          <p:cNvSpPr txBox="1"/>
          <p:nvPr/>
        </p:nvSpPr>
        <p:spPr>
          <a:xfrm>
            <a:off x="3917904" y="3429000"/>
            <a:ext cx="1782071" cy="369332"/>
          </a:xfrm>
          <a:prstGeom prst="rect">
            <a:avLst/>
          </a:prstGeom>
          <a:noFill/>
        </p:spPr>
        <p:txBody>
          <a:bodyPr wrap="square" rtlCol="0">
            <a:spAutoFit/>
          </a:bodyPr>
          <a:lstStyle/>
          <a:p>
            <a:r>
              <a:rPr lang="en-US" dirty="0"/>
              <a:t>02: Calls trigger</a:t>
            </a:r>
          </a:p>
        </p:txBody>
      </p:sp>
      <p:sp>
        <p:nvSpPr>
          <p:cNvPr id="8" name="Textfeld 7">
            <a:extLst>
              <a:ext uri="{FF2B5EF4-FFF2-40B4-BE49-F238E27FC236}">
                <a16:creationId xmlns:a16="http://schemas.microsoft.com/office/drawing/2014/main" id="{2D5D60E5-E7D4-BB0A-4C7B-93F9F77C39DF}"/>
              </a:ext>
            </a:extLst>
          </p:cNvPr>
          <p:cNvSpPr txBox="1"/>
          <p:nvPr/>
        </p:nvSpPr>
        <p:spPr>
          <a:xfrm>
            <a:off x="6096001" y="3429000"/>
            <a:ext cx="2879724" cy="369332"/>
          </a:xfrm>
          <a:prstGeom prst="rect">
            <a:avLst/>
          </a:prstGeom>
          <a:noFill/>
        </p:spPr>
        <p:txBody>
          <a:bodyPr wrap="square" rtlCol="0">
            <a:spAutoFit/>
          </a:bodyPr>
          <a:lstStyle/>
          <a:p>
            <a:r>
              <a:rPr lang="en-US" dirty="0"/>
              <a:t>03: Calls function</a:t>
            </a:r>
          </a:p>
        </p:txBody>
      </p:sp>
      <p:cxnSp>
        <p:nvCxnSpPr>
          <p:cNvPr id="10" name="Gerade Verbindung mit Pfeil 9">
            <a:extLst>
              <a:ext uri="{FF2B5EF4-FFF2-40B4-BE49-F238E27FC236}">
                <a16:creationId xmlns:a16="http://schemas.microsoft.com/office/drawing/2014/main" id="{00144B79-5D66-0891-2FF3-6906DDC2C352}"/>
              </a:ext>
            </a:extLst>
          </p:cNvPr>
          <p:cNvCxnSpPr>
            <a:stCxn id="3" idx="2"/>
            <a:endCxn id="4" idx="0"/>
          </p:cNvCxnSpPr>
          <p:nvPr/>
        </p:nvCxnSpPr>
        <p:spPr>
          <a:xfrm flipH="1">
            <a:off x="3215482" y="2324947"/>
            <a:ext cx="1" cy="65853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Verbinder: gewinkelt 11">
            <a:extLst>
              <a:ext uri="{FF2B5EF4-FFF2-40B4-BE49-F238E27FC236}">
                <a16:creationId xmlns:a16="http://schemas.microsoft.com/office/drawing/2014/main" id="{57060656-2FAF-15D9-2FFF-5B10CECE7636}"/>
              </a:ext>
            </a:extLst>
          </p:cNvPr>
          <p:cNvCxnSpPr>
            <a:cxnSpLocks/>
            <a:stCxn id="4" idx="2"/>
            <a:endCxn id="7" idx="1"/>
          </p:cNvCxnSpPr>
          <p:nvPr/>
        </p:nvCxnSpPr>
        <p:spPr>
          <a:xfrm rot="16200000" flipH="1">
            <a:off x="3436266" y="3132028"/>
            <a:ext cx="260854" cy="702422"/>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75F2C748-F3EA-7F0F-B27E-F50AD7720FCB}"/>
              </a:ext>
            </a:extLst>
          </p:cNvPr>
          <p:cNvCxnSpPr>
            <a:cxnSpLocks/>
            <a:stCxn id="7" idx="3"/>
            <a:endCxn id="8" idx="1"/>
          </p:cNvCxnSpPr>
          <p:nvPr/>
        </p:nvCxnSpPr>
        <p:spPr>
          <a:xfrm>
            <a:off x="5699975" y="3613666"/>
            <a:ext cx="3960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Verbinder: gewinkelt 17">
            <a:extLst>
              <a:ext uri="{FF2B5EF4-FFF2-40B4-BE49-F238E27FC236}">
                <a16:creationId xmlns:a16="http://schemas.microsoft.com/office/drawing/2014/main" id="{F9B6A10C-6392-5C62-57F6-6232CD5702B2}"/>
              </a:ext>
            </a:extLst>
          </p:cNvPr>
          <p:cNvCxnSpPr>
            <a:cxnSpLocks/>
            <a:stCxn id="8" idx="2"/>
            <a:endCxn id="6" idx="1"/>
          </p:cNvCxnSpPr>
          <p:nvPr/>
        </p:nvCxnSpPr>
        <p:spPr>
          <a:xfrm rot="16200000" flipH="1">
            <a:off x="7604079" y="3730115"/>
            <a:ext cx="690793" cy="827225"/>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0C277BDF-9A76-F357-E73A-85C42E5BCF8D}"/>
              </a:ext>
            </a:extLst>
          </p:cNvPr>
          <p:cNvCxnSpPr>
            <a:stCxn id="4" idx="2"/>
            <a:endCxn id="5" idx="0"/>
          </p:cNvCxnSpPr>
          <p:nvPr/>
        </p:nvCxnSpPr>
        <p:spPr>
          <a:xfrm flipH="1">
            <a:off x="3215481" y="3352812"/>
            <a:ext cx="1" cy="81091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78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C26A-8A7A-1FFF-4572-38AAB1302A5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C4229B2-210D-3A1A-65D3-BD6640016A6D}"/>
              </a:ext>
            </a:extLst>
          </p:cNvPr>
          <p:cNvSpPr>
            <a:spLocks noGrp="1"/>
          </p:cNvSpPr>
          <p:nvPr>
            <p:ph type="title"/>
          </p:nvPr>
        </p:nvSpPr>
        <p:spPr/>
        <p:txBody>
          <a:bodyPr/>
          <a:lstStyle/>
          <a:p>
            <a:r>
              <a:rPr lang="en-US" dirty="0"/>
              <a:t>Scenario 4 - Findings </a:t>
            </a:r>
          </a:p>
        </p:txBody>
      </p:sp>
      <p:sp>
        <p:nvSpPr>
          <p:cNvPr id="4" name="Inhaltsplatzhalter 3">
            <a:extLst>
              <a:ext uri="{FF2B5EF4-FFF2-40B4-BE49-F238E27FC236}">
                <a16:creationId xmlns:a16="http://schemas.microsoft.com/office/drawing/2014/main" id="{29E9247A-0494-7C3B-171F-710B40AFE029}"/>
              </a:ext>
            </a:extLst>
          </p:cNvPr>
          <p:cNvSpPr>
            <a:spLocks noGrp="1"/>
          </p:cNvSpPr>
          <p:nvPr>
            <p:ph sz="half" idx="1"/>
          </p:nvPr>
        </p:nvSpPr>
        <p:spPr/>
        <p:txBody>
          <a:bodyPr/>
          <a:lstStyle/>
          <a:p>
            <a:r>
              <a:rPr lang="en-US" dirty="0"/>
              <a:t>When deadlocks occur, try first to increase performance to hold locks for a </a:t>
            </a:r>
            <a:r>
              <a:rPr lang="en-US"/>
              <a:t>short time!</a:t>
            </a:r>
            <a:endParaRPr lang="en-US" dirty="0"/>
          </a:p>
          <a:p>
            <a:r>
              <a:rPr lang="en-US" dirty="0"/>
              <a:t>Scalar Functions should return a value without using table variables because this leads to heavy usage of TempDB (System Database).</a:t>
            </a:r>
          </a:p>
          <a:p>
            <a:r>
              <a:rPr lang="en-US" dirty="0"/>
              <a:t>If triggers are required, you should avoid cursors which are processing the affected data “row by row”.</a:t>
            </a:r>
          </a:p>
          <a:p>
            <a:r>
              <a:rPr lang="en-US" dirty="0"/>
              <a:t>If possible, remove triggers by replacing them with an effective user defined function or create a view which is doing the math of the triggers.</a:t>
            </a:r>
          </a:p>
        </p:txBody>
      </p:sp>
      <p:sp>
        <p:nvSpPr>
          <p:cNvPr id="8" name="Inhaltsplatzhalter 7">
            <a:extLst>
              <a:ext uri="{FF2B5EF4-FFF2-40B4-BE49-F238E27FC236}">
                <a16:creationId xmlns:a16="http://schemas.microsoft.com/office/drawing/2014/main" id="{3BB014F5-A117-4E76-077E-7D2F875042F1}"/>
              </a:ext>
            </a:extLst>
          </p:cNvPr>
          <p:cNvSpPr>
            <a:spLocks noGrp="1"/>
          </p:cNvSpPr>
          <p:nvPr>
            <p:ph sz="half" idx="2"/>
          </p:nvPr>
        </p:nvSpPr>
        <p:spPr/>
        <p:txBody>
          <a:bodyPr/>
          <a:lstStyle/>
          <a:p>
            <a:endParaRPr lang="en-US"/>
          </a:p>
        </p:txBody>
      </p:sp>
      <p:pic>
        <p:nvPicPr>
          <p:cNvPr id="9" name="Inhaltsplatzhalter 5">
            <a:extLst>
              <a:ext uri="{FF2B5EF4-FFF2-40B4-BE49-F238E27FC236}">
                <a16:creationId xmlns:a16="http://schemas.microsoft.com/office/drawing/2014/main" id="{6DAF0724-8554-0A5E-ABBC-44C10DC2CC24}"/>
              </a:ext>
            </a:extLst>
          </p:cNvPr>
          <p:cNvPicPr>
            <a:picLocks noChangeAspect="1"/>
          </p:cNvPicPr>
          <p:nvPr/>
        </p:nvPicPr>
        <p:blipFill>
          <a:blip r:embed="rId2"/>
          <a:stretch>
            <a:fillRect/>
          </a:stretch>
        </p:blipFill>
        <p:spPr>
          <a:xfrm>
            <a:off x="6778625" y="1665288"/>
            <a:ext cx="4572000" cy="4572000"/>
          </a:xfrm>
          <a:prstGeom prst="rect">
            <a:avLst/>
          </a:prstGeom>
        </p:spPr>
      </p:pic>
    </p:spTree>
    <p:extLst>
      <p:ext uri="{BB962C8B-B14F-4D97-AF65-F5344CB8AC3E}">
        <p14:creationId xmlns:p14="http://schemas.microsoft.com/office/powerpoint/2010/main" val="71853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3"/>
          <p:cNvSpPr>
            <a:spLocks noGrp="1"/>
          </p:cNvSpPr>
          <p:nvPr>
            <p:ph type="ctrTitle"/>
          </p:nvPr>
        </p:nvSpPr>
        <p:spPr/>
        <p:txBody>
          <a:bodyPr/>
          <a:lstStyle/>
          <a:p>
            <a:r>
              <a:rPr lang="en-US" dirty="0"/>
              <a:t>THANK YOU!</a:t>
            </a:r>
          </a:p>
        </p:txBody>
      </p:sp>
      <p:sp>
        <p:nvSpPr>
          <p:cNvPr id="8195" name="Untertitel 4"/>
          <p:cNvSpPr>
            <a:spLocks noGrp="1"/>
          </p:cNvSpPr>
          <p:nvPr>
            <p:ph type="subTitle" idx="1"/>
          </p:nvPr>
        </p:nvSpPr>
        <p:spPr/>
        <p:txBody>
          <a:bodyPr/>
          <a:lstStyle/>
          <a:p>
            <a:r>
              <a:rPr lang="en-US" dirty="0"/>
              <a:t>Uwe Ricken</a:t>
            </a:r>
            <a:endParaRPr lang="en-US" sz="6400" dirty="0"/>
          </a:p>
          <a:p>
            <a:endParaRPr lang="en-US" dirty="0"/>
          </a:p>
        </p:txBody>
      </p:sp>
      <p:sp>
        <p:nvSpPr>
          <p:cNvPr id="2" name="Textfeld 1"/>
          <p:cNvSpPr txBox="1"/>
          <p:nvPr/>
        </p:nvSpPr>
        <p:spPr>
          <a:xfrm>
            <a:off x="2135561" y="1340771"/>
            <a:ext cx="7777163" cy="1200329"/>
          </a:xfrm>
          <a:prstGeom prst="rect">
            <a:avLst/>
          </a:prstGeom>
          <a:noFill/>
        </p:spPr>
        <p:txBody>
          <a:bodyPr wrap="square" lIns="91440" tIns="45720" rIns="91440" bIns="45720" rtlCol="0">
            <a:spAutoFit/>
          </a:bodyPr>
          <a:lstStyle/>
          <a:p>
            <a:pPr algn="ctr"/>
            <a:r>
              <a:rPr lang="en-US" sz="3600" dirty="0">
                <a:latin typeface="Segoe UI Light" panose="020B0502040204020203" pitchFamily="34" charset="0"/>
                <a:cs typeface="Segoe UI Light" panose="020B0502040204020203" pitchFamily="34" charset="0"/>
              </a:rPr>
              <a:t>I am looking forward for your feedback!</a:t>
            </a:r>
          </a:p>
        </p:txBody>
      </p:sp>
    </p:spTree>
    <p:extLst>
      <p:ext uri="{BB962C8B-B14F-4D97-AF65-F5344CB8AC3E}">
        <p14:creationId xmlns:p14="http://schemas.microsoft.com/office/powerpoint/2010/main" val="155588543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C4ED62F4-FF02-8033-B81D-87560AD48DB2}"/>
              </a:ext>
            </a:extLst>
          </p:cNvPr>
          <p:cNvSpPr txBox="1"/>
          <p:nvPr/>
        </p:nvSpPr>
        <p:spPr>
          <a:xfrm>
            <a:off x="1400783" y="1546698"/>
            <a:ext cx="184731" cy="369332"/>
          </a:xfrm>
          <a:prstGeom prst="rect">
            <a:avLst/>
          </a:prstGeom>
          <a:noFill/>
        </p:spPr>
        <p:txBody>
          <a:bodyPr wrap="none" rtlCol="0">
            <a:spAutoFit/>
          </a:bodyPr>
          <a:lstStyle/>
          <a:p>
            <a:endParaRPr lang="pl-PL" dirty="0"/>
          </a:p>
        </p:txBody>
      </p:sp>
      <p:pic>
        <p:nvPicPr>
          <p:cNvPr id="9" name="Obraz 8">
            <a:extLst>
              <a:ext uri="{FF2B5EF4-FFF2-40B4-BE49-F238E27FC236}">
                <a16:creationId xmlns:a16="http://schemas.microsoft.com/office/drawing/2014/main" id="{2AB527FB-1B6F-3C01-DAD6-8334BBD6744E}"/>
              </a:ext>
            </a:extLst>
          </p:cNvPr>
          <p:cNvPicPr>
            <a:picLocks noChangeAspect="1"/>
          </p:cNvPicPr>
          <p:nvPr/>
        </p:nvPicPr>
        <p:blipFill>
          <a:blip r:embed="rId2"/>
          <a:stretch>
            <a:fillRect/>
          </a:stretch>
        </p:blipFill>
        <p:spPr>
          <a:xfrm>
            <a:off x="0" y="0"/>
            <a:ext cx="6858000" cy="6858000"/>
          </a:xfrm>
          <a:prstGeom prst="rect">
            <a:avLst/>
          </a:prstGeom>
        </p:spPr>
      </p:pic>
    </p:spTree>
    <p:extLst>
      <p:ext uri="{BB962C8B-B14F-4D97-AF65-F5344CB8AC3E}">
        <p14:creationId xmlns:p14="http://schemas.microsoft.com/office/powerpoint/2010/main" val="1657546940"/>
      </p:ext>
    </p:extLst>
  </p:cSld>
  <p:clrMapOvr>
    <a:masterClrMapping/>
  </p:clrMapOvr>
</p:sld>
</file>

<file path=ppt/theme/theme1.xml><?xml version="1.0" encoding="utf-8"?>
<a:theme xmlns:a="http://schemas.openxmlformats.org/drawingml/2006/main" name="db-berater">
  <a:themeElements>
    <a:clrScheme name="Larissa">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2">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db-berater" id="{85827739-E950-40BB-86D2-00AF6F3C8C72}" vid="{2B923C9B-446A-4E3F-A7F9-000C93CCE4ED}"/>
    </a:ext>
  </a:extLst>
</a:theme>
</file>

<file path=ppt/theme/theme2.xml><?xml version="1.0" encoding="utf-8"?>
<a:theme xmlns:a="http://schemas.openxmlformats.org/drawingml/2006/main" name="1_db-berater">
  <a:themeElements>
    <a:clrScheme name="Larissa">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2">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db-berater" id="{A415B4FD-AA9B-4461-AC2B-36ED5617A0E3}" vid="{018F950C-F5FA-4D6B-B0C1-0DCF0BD0511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db-berater</Template>
  <TotalTime>0</TotalTime>
  <Words>2418</Words>
  <Application>Microsoft Office PowerPoint</Application>
  <PresentationFormat>Breitbild</PresentationFormat>
  <Paragraphs>284</Paragraphs>
  <Slides>40</Slides>
  <Notes>1</Notes>
  <HiddenSlides>0</HiddenSlides>
  <MMClips>0</MMClips>
  <ScaleCrop>false</ScaleCrop>
  <HeadingPairs>
    <vt:vector size="6" baseType="variant">
      <vt:variant>
        <vt:lpstr>Verwendete Schriftarten</vt:lpstr>
      </vt:variant>
      <vt:variant>
        <vt:i4>10</vt:i4>
      </vt:variant>
      <vt:variant>
        <vt:lpstr>Design</vt:lpstr>
      </vt:variant>
      <vt:variant>
        <vt:i4>2</vt:i4>
      </vt:variant>
      <vt:variant>
        <vt:lpstr>Folientitel</vt:lpstr>
      </vt:variant>
      <vt:variant>
        <vt:i4>40</vt:i4>
      </vt:variant>
    </vt:vector>
  </HeadingPairs>
  <TitlesOfParts>
    <vt:vector size="52" baseType="lpstr">
      <vt:lpstr>-apple-system</vt:lpstr>
      <vt:lpstr>Aptos</vt:lpstr>
      <vt:lpstr>Aptos Display</vt:lpstr>
      <vt:lpstr>Arial</vt:lpstr>
      <vt:lpstr>Calibri</vt:lpstr>
      <vt:lpstr>Cascadia Mono</vt:lpstr>
      <vt:lpstr>Consolas</vt:lpstr>
      <vt:lpstr>Lucida Console</vt:lpstr>
      <vt:lpstr>Segoe UI</vt:lpstr>
      <vt:lpstr>Segoe UI Light</vt:lpstr>
      <vt:lpstr>db-berater</vt:lpstr>
      <vt:lpstr>1_db-berater</vt:lpstr>
      <vt:lpstr>Performance optimization of badly written SQL code Enhancing Database Efficiency for Faster, More Scalable Applications</vt:lpstr>
      <vt:lpstr>PowerPoint-Präsentation</vt:lpstr>
      <vt:lpstr>Uwe Ricken db Berater GmbH</vt:lpstr>
      <vt:lpstr>Challenge SQL Server real world scenarios</vt:lpstr>
      <vt:lpstr>SQL Server for Juniors, Managers &amp; Consultants</vt:lpstr>
      <vt:lpstr>Break Times</vt:lpstr>
      <vt:lpstr>Action List</vt:lpstr>
      <vt:lpstr>Make your SQL Code fast again</vt:lpstr>
      <vt:lpstr>Make your SQL Code fast again</vt:lpstr>
      <vt:lpstr>Key Topics</vt:lpstr>
      <vt:lpstr>Tools ans Best Practices</vt:lpstr>
      <vt:lpstr>Tools and best practices</vt:lpstr>
      <vt:lpstr>Query Store</vt:lpstr>
      <vt:lpstr>Query Store – Microsoft SQL Server</vt:lpstr>
      <vt:lpstr>Query Store – Recommended Settings</vt:lpstr>
      <vt:lpstr>Query Store – Hands On/Demo</vt:lpstr>
      <vt:lpstr>Performance Monitor Windows Admin Center</vt:lpstr>
      <vt:lpstr>Windows Admin Center vs. PerfMon</vt:lpstr>
      <vt:lpstr>Windows Admin Center – Hands On/Demo</vt:lpstr>
      <vt:lpstr>Scenario #1</vt:lpstr>
      <vt:lpstr>Scenario 1 - Problem Description</vt:lpstr>
      <vt:lpstr>Scenario 1 - Preparation</vt:lpstr>
      <vt:lpstr>Scenario 01 – Test Environment</vt:lpstr>
      <vt:lpstr>Scenario 1 - Findings </vt:lpstr>
      <vt:lpstr>Scenario #2</vt:lpstr>
      <vt:lpstr>Scenario 2 – Problem Description</vt:lpstr>
      <vt:lpstr>Scenario 2 - Workflow</vt:lpstr>
      <vt:lpstr>Scenario 2 - Preparation</vt:lpstr>
      <vt:lpstr>Scenario 2 - Findings </vt:lpstr>
      <vt:lpstr>Scenario #3</vt:lpstr>
      <vt:lpstr>Scenario 3 - Problem Description</vt:lpstr>
      <vt:lpstr>Scenario 3 - Preparation</vt:lpstr>
      <vt:lpstr>Scenario 3 - Findings </vt:lpstr>
      <vt:lpstr>Scenario #4</vt:lpstr>
      <vt:lpstr>Scenario 4 – Problem Description</vt:lpstr>
      <vt:lpstr>Scenario 4 - Workload</vt:lpstr>
      <vt:lpstr>Scenario 4 - simulation</vt:lpstr>
      <vt:lpstr>Scenario 4 - Findings </vt:lpstr>
      <vt:lpstr>THANK YOU!</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Uwe Ricken</dc:creator>
  <cp:lastModifiedBy>Uwe Ricken</cp:lastModifiedBy>
  <cp:revision>9</cp:revision>
  <dcterms:created xsi:type="dcterms:W3CDTF">2024-11-09T16:26:01Z</dcterms:created>
  <dcterms:modified xsi:type="dcterms:W3CDTF">2026-09-24T05:27:19Z</dcterms:modified>
</cp:coreProperties>
</file>