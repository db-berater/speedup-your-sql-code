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1" r:id="rId2"/>
  </p:sldMasterIdLst>
  <p:notesMasterIdLst>
    <p:notesMasterId r:id="rId35"/>
  </p:notesMasterIdLst>
  <p:sldIdLst>
    <p:sldId id="334" r:id="rId3"/>
    <p:sldId id="335" r:id="rId4"/>
    <p:sldId id="297" r:id="rId5"/>
    <p:sldId id="349" r:id="rId6"/>
    <p:sldId id="256" r:id="rId7"/>
    <p:sldId id="336" r:id="rId8"/>
    <p:sldId id="337" r:id="rId9"/>
    <p:sldId id="338" r:id="rId10"/>
    <p:sldId id="342" r:id="rId11"/>
    <p:sldId id="339" r:id="rId12"/>
    <p:sldId id="340" r:id="rId13"/>
    <p:sldId id="341" r:id="rId14"/>
    <p:sldId id="343" r:id="rId15"/>
    <p:sldId id="344" r:id="rId16"/>
    <p:sldId id="350" r:id="rId17"/>
    <p:sldId id="345" r:id="rId18"/>
    <p:sldId id="346" r:id="rId19"/>
    <p:sldId id="347" r:id="rId20"/>
    <p:sldId id="390" r:id="rId21"/>
    <p:sldId id="351" r:id="rId22"/>
    <p:sldId id="352" r:id="rId23"/>
    <p:sldId id="353" r:id="rId24"/>
    <p:sldId id="355" r:id="rId25"/>
    <p:sldId id="354" r:id="rId26"/>
    <p:sldId id="356" r:id="rId27"/>
    <p:sldId id="357" r:id="rId28"/>
    <p:sldId id="358" r:id="rId29"/>
    <p:sldId id="359" r:id="rId30"/>
    <p:sldId id="388" r:id="rId31"/>
    <p:sldId id="389" r:id="rId32"/>
    <p:sldId id="387" r:id="rId33"/>
    <p:sldId id="391" r:id="rId34"/>
  </p:sldIdLst>
  <p:sldSz cx="12192000" cy="6858000"/>
  <p:notesSz cx="6858000" cy="9144000"/>
  <p:defaultTextStyle>
    <a:defPPr>
      <a:defRPr lang="de-DE"/>
    </a:defPPr>
    <a:lvl1pPr marL="0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8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2F929E2-2F38-4667-BA7A-90B36F7C61D2}" v="12" dt="2026-05-27T17:48:24.6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7" autoAdjust="0"/>
    <p:restoredTop sz="94643" autoAdjust="0"/>
  </p:normalViewPr>
  <p:slideViewPr>
    <p:cSldViewPr snapToGrid="0">
      <p:cViewPr varScale="1">
        <p:scale>
          <a:sx n="82" d="100"/>
          <a:sy n="82" d="100"/>
        </p:scale>
        <p:origin x="384" y="55"/>
      </p:cViewPr>
      <p:guideLst/>
    </p:cSldViewPr>
  </p:slideViewPr>
  <p:outlineViewPr>
    <p:cViewPr>
      <p:scale>
        <a:sx n="33" d="100"/>
        <a:sy n="33" d="100"/>
      </p:scale>
      <p:origin x="0" y="-43716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tableStyles" Target="tableStyle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we Ricken" userId="f02567aecbed924b" providerId="LiveId" clId="{E77B627B-1F43-41A9-9F24-D4BB31BF6050}"/>
    <pc:docChg chg="undo custSel addSld delSld modSld">
      <pc:chgData name="Uwe Ricken" userId="f02567aecbed924b" providerId="LiveId" clId="{E77B627B-1F43-41A9-9F24-D4BB31BF6050}" dt="2026-05-27T17:48:24.688" v="225"/>
      <pc:docMkLst>
        <pc:docMk/>
      </pc:docMkLst>
      <pc:sldChg chg="modSp mod">
        <pc:chgData name="Uwe Ricken" userId="f02567aecbed924b" providerId="LiveId" clId="{E77B627B-1F43-41A9-9F24-D4BB31BF6050}" dt="2026-05-27T14:20:15.862" v="7" actId="20577"/>
        <pc:sldMkLst>
          <pc:docMk/>
          <pc:sldMk cId="3652038028" sldId="345"/>
        </pc:sldMkLst>
        <pc:spChg chg="mod">
          <ac:chgData name="Uwe Ricken" userId="f02567aecbed924b" providerId="LiveId" clId="{E77B627B-1F43-41A9-9F24-D4BB31BF6050}" dt="2026-05-27T14:20:15.862" v="7" actId="20577"/>
          <ac:spMkLst>
            <pc:docMk/>
            <pc:sldMk cId="3652038028" sldId="345"/>
            <ac:spMk id="5" creationId="{0F6657EA-C526-1DA9-88E9-04AC462B1B78}"/>
          </ac:spMkLst>
        </pc:spChg>
      </pc:sldChg>
      <pc:sldChg chg="modSp mod">
        <pc:chgData name="Uwe Ricken" userId="f02567aecbed924b" providerId="LiveId" clId="{E77B627B-1F43-41A9-9F24-D4BB31BF6050}" dt="2026-05-27T16:59:32.868" v="14" actId="1076"/>
        <pc:sldMkLst>
          <pc:docMk/>
          <pc:sldMk cId="1275382174" sldId="346"/>
        </pc:sldMkLst>
        <pc:spChg chg="mod">
          <ac:chgData name="Uwe Ricken" userId="f02567aecbed924b" providerId="LiveId" clId="{E77B627B-1F43-41A9-9F24-D4BB31BF6050}" dt="2026-05-27T16:59:32.868" v="14" actId="1076"/>
          <ac:spMkLst>
            <pc:docMk/>
            <pc:sldMk cId="1275382174" sldId="346"/>
            <ac:spMk id="2" creationId="{116EB023-6951-7EFF-FE4D-2047F18A9DF8}"/>
          </ac:spMkLst>
        </pc:spChg>
        <pc:spChg chg="mod">
          <ac:chgData name="Uwe Ricken" userId="f02567aecbed924b" providerId="LiveId" clId="{E77B627B-1F43-41A9-9F24-D4BB31BF6050}" dt="2026-05-27T14:21:53.787" v="9" actId="20577"/>
          <ac:spMkLst>
            <pc:docMk/>
            <pc:sldMk cId="1275382174" sldId="346"/>
            <ac:spMk id="3" creationId="{3A8154F0-962D-21DD-4A9F-7CFF4A489FD1}"/>
          </ac:spMkLst>
        </pc:spChg>
      </pc:sldChg>
      <pc:sldChg chg="modSp mod">
        <pc:chgData name="Uwe Ricken" userId="f02567aecbed924b" providerId="LiveId" clId="{E77B627B-1F43-41A9-9F24-D4BB31BF6050}" dt="2026-05-27T14:22:32.365" v="12" actId="20577"/>
        <pc:sldMkLst>
          <pc:docMk/>
          <pc:sldMk cId="2156939699" sldId="347"/>
        </pc:sldMkLst>
        <pc:spChg chg="mod">
          <ac:chgData name="Uwe Ricken" userId="f02567aecbed924b" providerId="LiveId" clId="{E77B627B-1F43-41A9-9F24-D4BB31BF6050}" dt="2026-05-27T14:22:32.365" v="12" actId="20577"/>
          <ac:spMkLst>
            <pc:docMk/>
            <pc:sldMk cId="2156939699" sldId="347"/>
            <ac:spMk id="3" creationId="{3157281D-DF73-5D1C-793E-C5F1FC480217}"/>
          </ac:spMkLst>
        </pc:spChg>
      </pc:sldChg>
      <pc:sldChg chg="del">
        <pc:chgData name="Uwe Ricken" userId="f02567aecbed924b" providerId="LiveId" clId="{E77B627B-1F43-41A9-9F24-D4BB31BF6050}" dt="2026-05-27T17:28:27.288" v="15" actId="2696"/>
        <pc:sldMkLst>
          <pc:docMk/>
          <pc:sldMk cId="149338758" sldId="360"/>
        </pc:sldMkLst>
      </pc:sldChg>
      <pc:sldChg chg="del">
        <pc:chgData name="Uwe Ricken" userId="f02567aecbed924b" providerId="LiveId" clId="{E77B627B-1F43-41A9-9F24-D4BB31BF6050}" dt="2026-05-27T17:28:27.288" v="15" actId="2696"/>
        <pc:sldMkLst>
          <pc:docMk/>
          <pc:sldMk cId="1302213217" sldId="361"/>
        </pc:sldMkLst>
      </pc:sldChg>
      <pc:sldChg chg="del">
        <pc:chgData name="Uwe Ricken" userId="f02567aecbed924b" providerId="LiveId" clId="{E77B627B-1F43-41A9-9F24-D4BB31BF6050}" dt="2026-05-27T17:28:27.288" v="15" actId="2696"/>
        <pc:sldMkLst>
          <pc:docMk/>
          <pc:sldMk cId="300652429" sldId="362"/>
        </pc:sldMkLst>
      </pc:sldChg>
      <pc:sldChg chg="del">
        <pc:chgData name="Uwe Ricken" userId="f02567aecbed924b" providerId="LiveId" clId="{E77B627B-1F43-41A9-9F24-D4BB31BF6050}" dt="2026-05-27T17:28:27.288" v="15" actId="2696"/>
        <pc:sldMkLst>
          <pc:docMk/>
          <pc:sldMk cId="2594430820" sldId="363"/>
        </pc:sldMkLst>
      </pc:sldChg>
      <pc:sldChg chg="del">
        <pc:chgData name="Uwe Ricken" userId="f02567aecbed924b" providerId="LiveId" clId="{E77B627B-1F43-41A9-9F24-D4BB31BF6050}" dt="2026-05-27T17:28:27.288" v="15" actId="2696"/>
        <pc:sldMkLst>
          <pc:docMk/>
          <pc:sldMk cId="3908561497" sldId="364"/>
        </pc:sldMkLst>
      </pc:sldChg>
      <pc:sldChg chg="del">
        <pc:chgData name="Uwe Ricken" userId="f02567aecbed924b" providerId="LiveId" clId="{E77B627B-1F43-41A9-9F24-D4BB31BF6050}" dt="2026-05-27T17:28:27.288" v="15" actId="2696"/>
        <pc:sldMkLst>
          <pc:docMk/>
          <pc:sldMk cId="3644587536" sldId="365"/>
        </pc:sldMkLst>
      </pc:sldChg>
      <pc:sldChg chg="del">
        <pc:chgData name="Uwe Ricken" userId="f02567aecbed924b" providerId="LiveId" clId="{E77B627B-1F43-41A9-9F24-D4BB31BF6050}" dt="2026-05-27T17:28:27.288" v="15" actId="2696"/>
        <pc:sldMkLst>
          <pc:docMk/>
          <pc:sldMk cId="4271110123" sldId="366"/>
        </pc:sldMkLst>
      </pc:sldChg>
      <pc:sldChg chg="del">
        <pc:chgData name="Uwe Ricken" userId="f02567aecbed924b" providerId="LiveId" clId="{E77B627B-1F43-41A9-9F24-D4BB31BF6050}" dt="2026-05-27T17:28:27.288" v="15" actId="2696"/>
        <pc:sldMkLst>
          <pc:docMk/>
          <pc:sldMk cId="1515760421" sldId="367"/>
        </pc:sldMkLst>
      </pc:sldChg>
      <pc:sldChg chg="del">
        <pc:chgData name="Uwe Ricken" userId="f02567aecbed924b" providerId="LiveId" clId="{E77B627B-1F43-41A9-9F24-D4BB31BF6050}" dt="2026-05-27T17:28:27.288" v="15" actId="2696"/>
        <pc:sldMkLst>
          <pc:docMk/>
          <pc:sldMk cId="3194235068" sldId="368"/>
        </pc:sldMkLst>
      </pc:sldChg>
      <pc:sldChg chg="del">
        <pc:chgData name="Uwe Ricken" userId="f02567aecbed924b" providerId="LiveId" clId="{E77B627B-1F43-41A9-9F24-D4BB31BF6050}" dt="2026-05-27T17:28:27.288" v="15" actId="2696"/>
        <pc:sldMkLst>
          <pc:docMk/>
          <pc:sldMk cId="3791215495" sldId="369"/>
        </pc:sldMkLst>
      </pc:sldChg>
      <pc:sldChg chg="del">
        <pc:chgData name="Uwe Ricken" userId="f02567aecbed924b" providerId="LiveId" clId="{E77B627B-1F43-41A9-9F24-D4BB31BF6050}" dt="2026-05-27T17:28:27.288" v="15" actId="2696"/>
        <pc:sldMkLst>
          <pc:docMk/>
          <pc:sldMk cId="845285008" sldId="370"/>
        </pc:sldMkLst>
      </pc:sldChg>
      <pc:sldChg chg="del">
        <pc:chgData name="Uwe Ricken" userId="f02567aecbed924b" providerId="LiveId" clId="{E77B627B-1F43-41A9-9F24-D4BB31BF6050}" dt="2026-05-27T17:28:27.288" v="15" actId="2696"/>
        <pc:sldMkLst>
          <pc:docMk/>
          <pc:sldMk cId="124401768" sldId="371"/>
        </pc:sldMkLst>
      </pc:sldChg>
      <pc:sldChg chg="del">
        <pc:chgData name="Uwe Ricken" userId="f02567aecbed924b" providerId="LiveId" clId="{E77B627B-1F43-41A9-9F24-D4BB31BF6050}" dt="2026-05-27T17:28:27.288" v="15" actId="2696"/>
        <pc:sldMkLst>
          <pc:docMk/>
          <pc:sldMk cId="1307778200" sldId="372"/>
        </pc:sldMkLst>
      </pc:sldChg>
      <pc:sldChg chg="del">
        <pc:chgData name="Uwe Ricken" userId="f02567aecbed924b" providerId="LiveId" clId="{E77B627B-1F43-41A9-9F24-D4BB31BF6050}" dt="2026-05-27T17:28:27.288" v="15" actId="2696"/>
        <pc:sldMkLst>
          <pc:docMk/>
          <pc:sldMk cId="3618388199" sldId="373"/>
        </pc:sldMkLst>
      </pc:sldChg>
      <pc:sldChg chg="del">
        <pc:chgData name="Uwe Ricken" userId="f02567aecbed924b" providerId="LiveId" clId="{E77B627B-1F43-41A9-9F24-D4BB31BF6050}" dt="2026-05-27T17:28:27.288" v="15" actId="2696"/>
        <pc:sldMkLst>
          <pc:docMk/>
          <pc:sldMk cId="2685282423" sldId="374"/>
        </pc:sldMkLst>
      </pc:sldChg>
      <pc:sldChg chg="del">
        <pc:chgData name="Uwe Ricken" userId="f02567aecbed924b" providerId="LiveId" clId="{E77B627B-1F43-41A9-9F24-D4BB31BF6050}" dt="2026-05-27T17:28:27.288" v="15" actId="2696"/>
        <pc:sldMkLst>
          <pc:docMk/>
          <pc:sldMk cId="3896721346" sldId="375"/>
        </pc:sldMkLst>
      </pc:sldChg>
      <pc:sldChg chg="del">
        <pc:chgData name="Uwe Ricken" userId="f02567aecbed924b" providerId="LiveId" clId="{E77B627B-1F43-41A9-9F24-D4BB31BF6050}" dt="2026-05-27T17:28:27.288" v="15" actId="2696"/>
        <pc:sldMkLst>
          <pc:docMk/>
          <pc:sldMk cId="2284248756" sldId="376"/>
        </pc:sldMkLst>
      </pc:sldChg>
      <pc:sldChg chg="del">
        <pc:chgData name="Uwe Ricken" userId="f02567aecbed924b" providerId="LiveId" clId="{E77B627B-1F43-41A9-9F24-D4BB31BF6050}" dt="2026-05-27T17:28:27.288" v="15" actId="2696"/>
        <pc:sldMkLst>
          <pc:docMk/>
          <pc:sldMk cId="3622975896" sldId="377"/>
        </pc:sldMkLst>
      </pc:sldChg>
      <pc:sldChg chg="del">
        <pc:chgData name="Uwe Ricken" userId="f02567aecbed924b" providerId="LiveId" clId="{E77B627B-1F43-41A9-9F24-D4BB31BF6050}" dt="2026-05-27T17:28:27.288" v="15" actId="2696"/>
        <pc:sldMkLst>
          <pc:docMk/>
          <pc:sldMk cId="1148597228" sldId="378"/>
        </pc:sldMkLst>
      </pc:sldChg>
      <pc:sldChg chg="del">
        <pc:chgData name="Uwe Ricken" userId="f02567aecbed924b" providerId="LiveId" clId="{E77B627B-1F43-41A9-9F24-D4BB31BF6050}" dt="2026-05-27T17:28:27.288" v="15" actId="2696"/>
        <pc:sldMkLst>
          <pc:docMk/>
          <pc:sldMk cId="2575939865" sldId="379"/>
        </pc:sldMkLst>
      </pc:sldChg>
      <pc:sldChg chg="del">
        <pc:chgData name="Uwe Ricken" userId="f02567aecbed924b" providerId="LiveId" clId="{E77B627B-1F43-41A9-9F24-D4BB31BF6050}" dt="2026-05-27T17:28:27.288" v="15" actId="2696"/>
        <pc:sldMkLst>
          <pc:docMk/>
          <pc:sldMk cId="1156099314" sldId="380"/>
        </pc:sldMkLst>
      </pc:sldChg>
      <pc:sldChg chg="del">
        <pc:chgData name="Uwe Ricken" userId="f02567aecbed924b" providerId="LiveId" clId="{E77B627B-1F43-41A9-9F24-D4BB31BF6050}" dt="2026-05-27T17:28:27.288" v="15" actId="2696"/>
        <pc:sldMkLst>
          <pc:docMk/>
          <pc:sldMk cId="367171445" sldId="381"/>
        </pc:sldMkLst>
      </pc:sldChg>
      <pc:sldChg chg="del">
        <pc:chgData name="Uwe Ricken" userId="f02567aecbed924b" providerId="LiveId" clId="{E77B627B-1F43-41A9-9F24-D4BB31BF6050}" dt="2026-05-27T17:28:27.288" v="15" actId="2696"/>
        <pc:sldMkLst>
          <pc:docMk/>
          <pc:sldMk cId="2003074078" sldId="382"/>
        </pc:sldMkLst>
      </pc:sldChg>
      <pc:sldChg chg="del">
        <pc:chgData name="Uwe Ricken" userId="f02567aecbed924b" providerId="LiveId" clId="{E77B627B-1F43-41A9-9F24-D4BB31BF6050}" dt="2026-05-27T17:28:27.288" v="15" actId="2696"/>
        <pc:sldMkLst>
          <pc:docMk/>
          <pc:sldMk cId="3799856774" sldId="383"/>
        </pc:sldMkLst>
      </pc:sldChg>
      <pc:sldChg chg="del">
        <pc:chgData name="Uwe Ricken" userId="f02567aecbed924b" providerId="LiveId" clId="{E77B627B-1F43-41A9-9F24-D4BB31BF6050}" dt="2026-05-27T17:28:27.288" v="15" actId="2696"/>
        <pc:sldMkLst>
          <pc:docMk/>
          <pc:sldMk cId="367371729" sldId="384"/>
        </pc:sldMkLst>
      </pc:sldChg>
      <pc:sldChg chg="del">
        <pc:chgData name="Uwe Ricken" userId="f02567aecbed924b" providerId="LiveId" clId="{E77B627B-1F43-41A9-9F24-D4BB31BF6050}" dt="2026-05-27T17:28:27.288" v="15" actId="2696"/>
        <pc:sldMkLst>
          <pc:docMk/>
          <pc:sldMk cId="784247027" sldId="385"/>
        </pc:sldMkLst>
      </pc:sldChg>
      <pc:sldChg chg="del">
        <pc:chgData name="Uwe Ricken" userId="f02567aecbed924b" providerId="LiveId" clId="{E77B627B-1F43-41A9-9F24-D4BB31BF6050}" dt="2026-05-27T17:28:27.288" v="15" actId="2696"/>
        <pc:sldMkLst>
          <pc:docMk/>
          <pc:sldMk cId="3574118892" sldId="386"/>
        </pc:sldMkLst>
      </pc:sldChg>
      <pc:sldChg chg="modSp mod">
        <pc:chgData name="Uwe Ricken" userId="f02567aecbed924b" providerId="LiveId" clId="{E77B627B-1F43-41A9-9F24-D4BB31BF6050}" dt="2026-05-27T17:38:15.654" v="38" actId="20577"/>
        <pc:sldMkLst>
          <pc:docMk/>
          <pc:sldMk cId="197504835" sldId="387"/>
        </pc:sldMkLst>
        <pc:spChg chg="mod">
          <ac:chgData name="Uwe Ricken" userId="f02567aecbed924b" providerId="LiveId" clId="{E77B627B-1F43-41A9-9F24-D4BB31BF6050}" dt="2026-05-27T17:38:02.722" v="22" actId="20577"/>
          <ac:spMkLst>
            <pc:docMk/>
            <pc:sldMk cId="197504835" sldId="387"/>
            <ac:spMk id="23" creationId="{120FC17E-37AC-0FB3-2667-B12E40E4091D}"/>
          </ac:spMkLst>
        </pc:spChg>
        <pc:spChg chg="mod">
          <ac:chgData name="Uwe Ricken" userId="f02567aecbed924b" providerId="LiveId" clId="{E77B627B-1F43-41A9-9F24-D4BB31BF6050}" dt="2026-05-27T17:38:12.240" v="31" actId="20577"/>
          <ac:spMkLst>
            <pc:docMk/>
            <pc:sldMk cId="197504835" sldId="387"/>
            <ac:spMk id="24" creationId="{27BA4003-7B39-2668-1289-D3803DDD0D1F}"/>
          </ac:spMkLst>
        </pc:spChg>
        <pc:spChg chg="mod">
          <ac:chgData name="Uwe Ricken" userId="f02567aecbed924b" providerId="LiveId" clId="{E77B627B-1F43-41A9-9F24-D4BB31BF6050}" dt="2026-05-27T17:38:15.654" v="38" actId="20577"/>
          <ac:spMkLst>
            <pc:docMk/>
            <pc:sldMk cId="197504835" sldId="387"/>
            <ac:spMk id="25" creationId="{28B5EBFC-076E-B1E9-A1D0-BAD4AC891F1D}"/>
          </ac:spMkLst>
        </pc:spChg>
      </pc:sldChg>
      <pc:sldChg chg="addSp delSp modSp new mod modAnim">
        <pc:chgData name="Uwe Ricken" userId="f02567aecbed924b" providerId="LiveId" clId="{E77B627B-1F43-41A9-9F24-D4BB31BF6050}" dt="2026-05-27T17:48:24.688" v="225"/>
        <pc:sldMkLst>
          <pc:docMk/>
          <pc:sldMk cId="571783422" sldId="391"/>
        </pc:sldMkLst>
        <pc:spChg chg="mod">
          <ac:chgData name="Uwe Ricken" userId="f02567aecbed924b" providerId="LiveId" clId="{E77B627B-1F43-41A9-9F24-D4BB31BF6050}" dt="2026-05-27T17:41:08.932" v="76" actId="20577"/>
          <ac:spMkLst>
            <pc:docMk/>
            <pc:sldMk cId="571783422" sldId="391"/>
            <ac:spMk id="2" creationId="{E8859812-683F-5BCC-2F2E-B395BCC97FAA}"/>
          </ac:spMkLst>
        </pc:spChg>
        <pc:spChg chg="add mod">
          <ac:chgData name="Uwe Ricken" userId="f02567aecbed924b" providerId="LiveId" clId="{E77B627B-1F43-41A9-9F24-D4BB31BF6050}" dt="2026-05-27T17:42:03.311" v="79" actId="14100"/>
          <ac:spMkLst>
            <pc:docMk/>
            <pc:sldMk cId="571783422" sldId="391"/>
            <ac:spMk id="3" creationId="{645989F9-5836-EBB4-1F0B-CBC1050166E3}"/>
          </ac:spMkLst>
        </pc:spChg>
        <pc:spChg chg="add mod">
          <ac:chgData name="Uwe Ricken" userId="f02567aecbed924b" providerId="LiveId" clId="{E77B627B-1F43-41A9-9F24-D4BB31BF6050}" dt="2026-05-27T17:47:03.616" v="197" actId="20577"/>
          <ac:spMkLst>
            <pc:docMk/>
            <pc:sldMk cId="571783422" sldId="391"/>
            <ac:spMk id="4" creationId="{49687EB7-54C8-E618-A0E8-E90D94AE9131}"/>
          </ac:spMkLst>
        </pc:spChg>
        <pc:spChg chg="add mod">
          <ac:chgData name="Uwe Ricken" userId="f02567aecbed924b" providerId="LiveId" clId="{E77B627B-1F43-41A9-9F24-D4BB31BF6050}" dt="2026-05-27T17:47:34.141" v="219" actId="20577"/>
          <ac:spMkLst>
            <pc:docMk/>
            <pc:sldMk cId="571783422" sldId="391"/>
            <ac:spMk id="5" creationId="{A087EC59-8F0C-C9DF-6FD3-5AA54FC0C56C}"/>
          </ac:spMkLst>
        </pc:spChg>
        <pc:spChg chg="add mod">
          <ac:chgData name="Uwe Ricken" userId="f02567aecbed924b" providerId="LiveId" clId="{E77B627B-1F43-41A9-9F24-D4BB31BF6050}" dt="2026-05-27T17:47:28.026" v="215" actId="20577"/>
          <ac:spMkLst>
            <pc:docMk/>
            <pc:sldMk cId="571783422" sldId="391"/>
            <ac:spMk id="6" creationId="{89B74418-70F7-76FC-2D20-624F1A86452B}"/>
          </ac:spMkLst>
        </pc:spChg>
        <pc:spChg chg="add mod">
          <ac:chgData name="Uwe Ricken" userId="f02567aecbed924b" providerId="LiveId" clId="{E77B627B-1F43-41A9-9F24-D4BB31BF6050}" dt="2026-05-27T17:47:11.659" v="202" actId="14100"/>
          <ac:spMkLst>
            <pc:docMk/>
            <pc:sldMk cId="571783422" sldId="391"/>
            <ac:spMk id="7" creationId="{4A87539F-0BB8-EF25-0D5C-54073CB9334F}"/>
          </ac:spMkLst>
        </pc:spChg>
        <pc:spChg chg="add mod">
          <ac:chgData name="Uwe Ricken" userId="f02567aecbed924b" providerId="LiveId" clId="{E77B627B-1F43-41A9-9F24-D4BB31BF6050}" dt="2026-05-27T17:47:22.224" v="211" actId="14100"/>
          <ac:spMkLst>
            <pc:docMk/>
            <pc:sldMk cId="571783422" sldId="391"/>
            <ac:spMk id="8" creationId="{2D5D60E5-E7D4-BB0A-4C7B-93F9F77C39DF}"/>
          </ac:spMkLst>
        </pc:spChg>
        <pc:cxnChg chg="add">
          <ac:chgData name="Uwe Ricken" userId="f02567aecbed924b" providerId="LiveId" clId="{E77B627B-1F43-41A9-9F24-D4BB31BF6050}" dt="2026-05-27T17:45:08.566" v="177" actId="11529"/>
          <ac:cxnSpMkLst>
            <pc:docMk/>
            <pc:sldMk cId="571783422" sldId="391"/>
            <ac:cxnSpMk id="10" creationId="{00144B79-5D66-0891-2FF3-6906DDC2C352}"/>
          </ac:cxnSpMkLst>
        </pc:cxnChg>
        <pc:cxnChg chg="add mod">
          <ac:chgData name="Uwe Ricken" userId="f02567aecbed924b" providerId="LiveId" clId="{E77B627B-1F43-41A9-9F24-D4BB31BF6050}" dt="2026-05-27T17:47:11.659" v="202" actId="14100"/>
          <ac:cxnSpMkLst>
            <pc:docMk/>
            <pc:sldMk cId="571783422" sldId="391"/>
            <ac:cxnSpMk id="12" creationId="{57060656-2FAF-15D9-2FFF-5B10CECE7636}"/>
          </ac:cxnSpMkLst>
        </pc:cxnChg>
        <pc:cxnChg chg="add mod">
          <ac:chgData name="Uwe Ricken" userId="f02567aecbed924b" providerId="LiveId" clId="{E77B627B-1F43-41A9-9F24-D4BB31BF6050}" dt="2026-05-27T17:47:22.224" v="211" actId="14100"/>
          <ac:cxnSpMkLst>
            <pc:docMk/>
            <pc:sldMk cId="571783422" sldId="391"/>
            <ac:cxnSpMk id="14" creationId="{75F2C748-F3EA-7F0F-B27E-F50AD7720FCB}"/>
          </ac:cxnSpMkLst>
        </pc:cxnChg>
        <pc:cxnChg chg="add del mod">
          <ac:chgData name="Uwe Ricken" userId="f02567aecbed924b" providerId="LiveId" clId="{E77B627B-1F43-41A9-9F24-D4BB31BF6050}" dt="2026-05-27T17:45:40.597" v="181" actId="478"/>
          <ac:cxnSpMkLst>
            <pc:docMk/>
            <pc:sldMk cId="571783422" sldId="391"/>
            <ac:cxnSpMk id="16" creationId="{6C9EE262-077B-5BCE-450B-E8EF7D4996E9}"/>
          </ac:cxnSpMkLst>
        </pc:cxnChg>
        <pc:cxnChg chg="add mod">
          <ac:chgData name="Uwe Ricken" userId="f02567aecbed924b" providerId="LiveId" clId="{E77B627B-1F43-41A9-9F24-D4BB31BF6050}" dt="2026-05-27T17:47:22.224" v="211" actId="14100"/>
          <ac:cxnSpMkLst>
            <pc:docMk/>
            <pc:sldMk cId="571783422" sldId="391"/>
            <ac:cxnSpMk id="18" creationId="{F9B6A10C-6392-5C62-57F6-6232CD5702B2}"/>
          </ac:cxnSpMkLst>
        </pc:cxnChg>
        <pc:cxnChg chg="add">
          <ac:chgData name="Uwe Ricken" userId="f02567aecbed924b" providerId="LiveId" clId="{E77B627B-1F43-41A9-9F24-D4BB31BF6050}" dt="2026-05-27T17:46:25.125" v="189" actId="11529"/>
          <ac:cxnSpMkLst>
            <pc:docMk/>
            <pc:sldMk cId="571783422" sldId="391"/>
            <ac:cxnSpMk id="24" creationId="{0C277BDF-9A76-F357-E73A-85C42E5BCF8D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B63C78-F46A-42B2-BCDE-B4D920D39058}" type="datetimeFigureOut">
              <a:rPr lang="de-DE" smtClean="0"/>
              <a:t>27.05.2026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D5F965-EADC-41B6-9D17-C184A12BE1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04491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F3F98B-DCFC-47FF-B222-63D8297F3274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341658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344245" y="1665289"/>
            <a:ext cx="11510683" cy="1763712"/>
          </a:xfrm>
        </p:spPr>
        <p:txBody>
          <a:bodyPr anchor="b">
            <a:normAutofit/>
          </a:bodyPr>
          <a:lstStyle>
            <a:lvl1pPr algn="ctr">
              <a:defRPr sz="4000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344245" y="3602042"/>
            <a:ext cx="11510683" cy="201195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55" indent="0" algn="ctr">
              <a:buNone/>
              <a:defRPr sz="2000"/>
            </a:lvl2pPr>
            <a:lvl3pPr marL="914309" indent="0" algn="ctr">
              <a:buNone/>
              <a:defRPr sz="1867"/>
            </a:lvl3pPr>
            <a:lvl4pPr marL="1371464" indent="0" algn="ctr">
              <a:buNone/>
              <a:defRPr sz="1600"/>
            </a:lvl4pPr>
            <a:lvl5pPr marL="1828618" indent="0" algn="ctr">
              <a:buNone/>
              <a:defRPr sz="1600"/>
            </a:lvl5pPr>
            <a:lvl6pPr marL="2285774" indent="0" algn="ctr">
              <a:buNone/>
              <a:defRPr sz="1600"/>
            </a:lvl6pPr>
            <a:lvl7pPr marL="2742926" indent="0" algn="ctr">
              <a:buNone/>
              <a:defRPr sz="1600"/>
            </a:lvl7pPr>
            <a:lvl8pPr marL="3200080" indent="0" algn="ctr">
              <a:buNone/>
              <a:defRPr sz="1600"/>
            </a:lvl8pPr>
            <a:lvl9pPr marL="3657235" indent="0" algn="ctr">
              <a:buNone/>
              <a:defRPr sz="1600"/>
            </a:lvl9pPr>
          </a:lstStyle>
          <a:p>
            <a:r>
              <a:rPr lang="de-DE" noProof="0"/>
              <a:t>Master-Untertitelformat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68652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2">
          <p15:clr>
            <a:srgbClr val="FBAE40"/>
          </p15:clr>
        </p15:guide>
        <p15:guide id="2" pos="2880">
          <p15:clr>
            <a:srgbClr val="FBAE40"/>
          </p15:clr>
        </p15:guide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4" y="441325"/>
            <a:ext cx="9037636" cy="1116014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34964" y="1665288"/>
            <a:ext cx="11522075" cy="457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284625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5" y="441325"/>
            <a:ext cx="9037635" cy="1116014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334964" y="1665288"/>
            <a:ext cx="5581743" cy="457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271708" y="1665290"/>
            <a:ext cx="5585331" cy="4571999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243305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5" y="441325"/>
            <a:ext cx="8640761" cy="1116013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875614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b Berater - Coding Examp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368065" y="1678741"/>
            <a:ext cx="6488975" cy="4558548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latin typeface="Lucida Console" panose="020B0609040504020204" pitchFamily="49" charset="0"/>
              </a:defRPr>
            </a:lvl1pPr>
            <a:lvl2pPr marL="457166" indent="0">
              <a:buNone/>
              <a:defRPr sz="1600">
                <a:latin typeface="Lucida Console" panose="020B0609040504020204" pitchFamily="49" charset="0"/>
              </a:defRPr>
            </a:lvl2pPr>
            <a:lvl3pPr marL="914330" indent="0">
              <a:buNone/>
              <a:defRPr sz="1600">
                <a:latin typeface="Lucida Console" panose="020B0609040504020204" pitchFamily="49" charset="0"/>
              </a:defRPr>
            </a:lvl3pPr>
            <a:lvl4pPr marL="1371496" indent="0">
              <a:buNone/>
              <a:defRPr sz="1600">
                <a:latin typeface="Lucida Console" panose="020B0609040504020204" pitchFamily="49" charset="0"/>
              </a:defRPr>
            </a:lvl4pPr>
            <a:lvl5pPr marL="1828664" indent="0">
              <a:buNone/>
              <a:defRPr sz="1600">
                <a:latin typeface="Lucida Console" panose="020B0609040504020204" pitchFamily="49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334964" y="1678741"/>
            <a:ext cx="5033101" cy="4558548"/>
          </a:xfrm>
        </p:spPr>
        <p:txBody>
          <a:bodyPr/>
          <a:lstStyle>
            <a:lvl1pPr marL="228594" indent="-228594">
              <a:buFont typeface="Arial" panose="020B0604020202020204" pitchFamily="34" charset="0"/>
              <a:buChar char="•"/>
              <a:defRPr sz="1600"/>
            </a:lvl1pPr>
            <a:lvl2pPr marL="457155" indent="0">
              <a:buNone/>
              <a:defRPr sz="1467"/>
            </a:lvl2pPr>
            <a:lvl3pPr marL="914309" indent="0">
              <a:buNone/>
              <a:defRPr sz="1200"/>
            </a:lvl3pPr>
            <a:lvl4pPr marL="1371464" indent="0">
              <a:buNone/>
              <a:defRPr sz="1067"/>
            </a:lvl4pPr>
            <a:lvl5pPr marL="1828618" indent="0">
              <a:buNone/>
              <a:defRPr sz="1067"/>
            </a:lvl5pPr>
            <a:lvl6pPr marL="2285774" indent="0">
              <a:buNone/>
              <a:defRPr sz="1067"/>
            </a:lvl6pPr>
            <a:lvl7pPr marL="2742926" indent="0">
              <a:buNone/>
              <a:defRPr sz="1067"/>
            </a:lvl7pPr>
            <a:lvl8pPr marL="3200080" indent="0">
              <a:buNone/>
              <a:defRPr sz="1067"/>
            </a:lvl8pPr>
            <a:lvl9pPr marL="3657235" indent="0">
              <a:buNone/>
              <a:defRPr sz="1067"/>
            </a:lvl9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A12C8F18-4741-03DA-3F19-FC0858FBF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2" y="441325"/>
            <a:ext cx="9037637" cy="1116014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150195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Zwei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5361" y="449032"/>
            <a:ext cx="9037240" cy="1108306"/>
          </a:xfrm>
          <a:prstGeom prst="rect">
            <a:avLst/>
          </a:prstGeom>
        </p:spPr>
        <p:txBody>
          <a:bodyPr anchor="ctr"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335360" y="1665288"/>
            <a:ext cx="5664629" cy="464403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92011" y="1665288"/>
            <a:ext cx="5664629" cy="464403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762135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344245" y="1665289"/>
            <a:ext cx="11510683" cy="1763712"/>
          </a:xfrm>
        </p:spPr>
        <p:txBody>
          <a:bodyPr anchor="b">
            <a:normAutofit/>
          </a:bodyPr>
          <a:lstStyle>
            <a:lvl1pPr algn="ctr">
              <a:defRPr sz="4000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344245" y="3602044"/>
            <a:ext cx="11510683" cy="201195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43" indent="0" algn="ctr">
              <a:buNone/>
              <a:defRPr sz="2000"/>
            </a:lvl2pPr>
            <a:lvl3pPr marL="914286" indent="0" algn="ctr">
              <a:buNone/>
              <a:defRPr sz="1867"/>
            </a:lvl3pPr>
            <a:lvl4pPr marL="1371430" indent="0" algn="ctr">
              <a:buNone/>
              <a:defRPr sz="1600"/>
            </a:lvl4pPr>
            <a:lvl5pPr marL="1828573" indent="0" algn="ctr">
              <a:buNone/>
              <a:defRPr sz="1600"/>
            </a:lvl5pPr>
            <a:lvl6pPr marL="2285718" indent="0" algn="ctr">
              <a:buNone/>
              <a:defRPr sz="1600"/>
            </a:lvl6pPr>
            <a:lvl7pPr marL="2742858" indent="0" algn="ctr">
              <a:buNone/>
              <a:defRPr sz="1600"/>
            </a:lvl7pPr>
            <a:lvl8pPr marL="3200000" indent="0" algn="ctr">
              <a:buNone/>
              <a:defRPr sz="1600"/>
            </a:lvl8pPr>
            <a:lvl9pPr marL="3657143" indent="0" algn="ctr">
              <a:buNone/>
              <a:defRPr sz="1600"/>
            </a:lvl9pPr>
          </a:lstStyle>
          <a:p>
            <a:r>
              <a:rPr lang="de-DE" noProof="0"/>
              <a:t>Master-Untertitelformat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279409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880">
          <p15:clr>
            <a:srgbClr val="FBAE40"/>
          </p15:clr>
        </p15:guide>
        <p15:guide id="5" orient="horz" pos="232">
          <p15:clr>
            <a:srgbClr val="FBAE40"/>
          </p15:clr>
        </p15:guide>
        <p15:guide id="6" orient="horz" pos="2160">
          <p15:clr>
            <a:srgbClr val="FBAE40"/>
          </p15:clr>
        </p15:guide>
        <p15:guide id="7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5" y="441326"/>
            <a:ext cx="9037636" cy="1116015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34965" y="1665288"/>
            <a:ext cx="11522075" cy="457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600777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5" y="441326"/>
            <a:ext cx="9037635" cy="1116015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334966" y="1665288"/>
            <a:ext cx="5581743" cy="457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271709" y="1665291"/>
            <a:ext cx="5585331" cy="4571999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340067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6" y="441326"/>
            <a:ext cx="8640761" cy="1116013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07787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b Berater - Coding Examp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368066" y="1678742"/>
            <a:ext cx="6488975" cy="4558548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latin typeface="Lucida Console" panose="020B0609040504020204" pitchFamily="49" charset="0"/>
              </a:defRPr>
            </a:lvl1pPr>
            <a:lvl2pPr marL="457155" indent="0">
              <a:buNone/>
              <a:defRPr sz="1600">
                <a:latin typeface="Lucida Console" panose="020B0609040504020204" pitchFamily="49" charset="0"/>
              </a:defRPr>
            </a:lvl2pPr>
            <a:lvl3pPr marL="914308" indent="0">
              <a:buNone/>
              <a:defRPr sz="1600">
                <a:latin typeface="Lucida Console" panose="020B0609040504020204" pitchFamily="49" charset="0"/>
              </a:defRPr>
            </a:lvl3pPr>
            <a:lvl4pPr marL="1371462" indent="0">
              <a:buNone/>
              <a:defRPr sz="1600">
                <a:latin typeface="Lucida Console" panose="020B0609040504020204" pitchFamily="49" charset="0"/>
              </a:defRPr>
            </a:lvl4pPr>
            <a:lvl5pPr marL="1828618" indent="0">
              <a:buNone/>
              <a:defRPr sz="1600">
                <a:latin typeface="Lucida Console" panose="020B0609040504020204" pitchFamily="49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334964" y="1678742"/>
            <a:ext cx="5033101" cy="4558548"/>
          </a:xfrm>
        </p:spPr>
        <p:txBody>
          <a:bodyPr/>
          <a:lstStyle>
            <a:lvl1pPr marL="228589" indent="-228589">
              <a:buFont typeface="Arial" panose="020B0604020202020204" pitchFamily="34" charset="0"/>
              <a:buChar char="•"/>
              <a:defRPr sz="1600"/>
            </a:lvl1pPr>
            <a:lvl2pPr marL="457143" indent="0">
              <a:buNone/>
              <a:defRPr sz="1467"/>
            </a:lvl2pPr>
            <a:lvl3pPr marL="914286" indent="0">
              <a:buNone/>
              <a:defRPr sz="1200"/>
            </a:lvl3pPr>
            <a:lvl4pPr marL="1371430" indent="0">
              <a:buNone/>
              <a:defRPr sz="1067"/>
            </a:lvl4pPr>
            <a:lvl5pPr marL="1828573" indent="0">
              <a:buNone/>
              <a:defRPr sz="1067"/>
            </a:lvl5pPr>
            <a:lvl6pPr marL="2285718" indent="0">
              <a:buNone/>
              <a:defRPr sz="1067"/>
            </a:lvl6pPr>
            <a:lvl7pPr marL="2742858" indent="0">
              <a:buNone/>
              <a:defRPr sz="1067"/>
            </a:lvl7pPr>
            <a:lvl8pPr marL="3200000" indent="0">
              <a:buNone/>
              <a:defRPr sz="1067"/>
            </a:lvl8pPr>
            <a:lvl9pPr marL="3657143" indent="0">
              <a:buNone/>
              <a:defRPr sz="1067"/>
            </a:lvl9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A12C8F18-4741-03DA-3F19-FC0858FBF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441326"/>
            <a:ext cx="9037637" cy="1116015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2493056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Zwei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5361" y="449032"/>
            <a:ext cx="9037240" cy="1108307"/>
          </a:xfrm>
          <a:prstGeom prst="rect">
            <a:avLst/>
          </a:prstGeom>
        </p:spPr>
        <p:txBody>
          <a:bodyPr anchor="ctr"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335360" y="1665288"/>
            <a:ext cx="5664629" cy="464403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92012" y="1665288"/>
            <a:ext cx="5664629" cy="464403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4013542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hyperlink" Target="http://www.db-berater.de/" TargetMode="External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hyperlink" Target="http://www.db-berater.de/" TargetMode="External"/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54107" y="450850"/>
            <a:ext cx="9018492" cy="1102353"/>
          </a:xfrm>
          <a:prstGeom prst="rect">
            <a:avLst/>
          </a:prstGeom>
        </p:spPr>
        <p:txBody>
          <a:bodyPr vert="horz" lIns="68579" tIns="34289" rIns="68579" bIns="34289" rtlCol="0" anchor="ctr">
            <a:normAutofit/>
          </a:bodyPr>
          <a:lstStyle/>
          <a:p>
            <a:r>
              <a:rPr lang="en-US" noProof="0" dirty="0" err="1"/>
              <a:t>Titelmasterformat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54106" y="1665288"/>
            <a:ext cx="11490063" cy="4571999"/>
          </a:xfrm>
          <a:prstGeom prst="rect">
            <a:avLst/>
          </a:prstGeom>
        </p:spPr>
        <p:txBody>
          <a:bodyPr vert="horz" lIns="68579" tIns="34289" rIns="68579" bIns="34289" rtlCol="0">
            <a:normAutofit/>
          </a:bodyPr>
          <a:lstStyle/>
          <a:p>
            <a:pPr lvl="0"/>
            <a:r>
              <a:rPr lang="en-US" noProof="0" dirty="0" err="1"/>
              <a:t>Textmasterformat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</a:t>
            </a:r>
            <a:r>
              <a:rPr lang="en-US" noProof="0" dirty="0"/>
              <a:t> Ebene</a:t>
            </a:r>
          </a:p>
          <a:p>
            <a:pPr lvl="2"/>
            <a:r>
              <a:rPr lang="en-US" noProof="0" dirty="0" err="1"/>
              <a:t>Dritte</a:t>
            </a:r>
            <a:r>
              <a:rPr lang="en-US" noProof="0" dirty="0"/>
              <a:t> Ebene</a:t>
            </a:r>
          </a:p>
          <a:p>
            <a:pPr lvl="3"/>
            <a:r>
              <a:rPr lang="en-US" noProof="0" dirty="0" err="1"/>
              <a:t>Vierte</a:t>
            </a:r>
            <a:r>
              <a:rPr lang="en-US" noProof="0" dirty="0"/>
              <a:t> Ebene</a:t>
            </a:r>
          </a:p>
          <a:p>
            <a:pPr lvl="4"/>
            <a:r>
              <a:rPr lang="en-US" noProof="0" dirty="0" err="1"/>
              <a:t>Fünfte</a:t>
            </a:r>
            <a:r>
              <a:rPr lang="en-US" noProof="0" dirty="0"/>
              <a:t> Ebene</a:t>
            </a:r>
          </a:p>
        </p:txBody>
      </p:sp>
      <p:sp>
        <p:nvSpPr>
          <p:cNvPr id="4" name="Textfeld 3"/>
          <p:cNvSpPr txBox="1"/>
          <p:nvPr/>
        </p:nvSpPr>
        <p:spPr>
          <a:xfrm>
            <a:off x="9372600" y="450848"/>
            <a:ext cx="2471568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noProof="0" dirty="0">
                <a:solidFill>
                  <a:schemeClr val="accent1"/>
                </a:solidFill>
                <a:latin typeface="Calibri" panose="020F0502020204030204" pitchFamily="34" charset="0"/>
              </a:rPr>
              <a:t>db </a:t>
            </a:r>
            <a:r>
              <a:rPr lang="en-US" sz="2400" b="1" noProof="0" dirty="0">
                <a:latin typeface="Calibri" panose="020F0502020204030204" pitchFamily="34" charset="0"/>
              </a:rPr>
              <a:t>Berater GmbH</a:t>
            </a:r>
          </a:p>
          <a:p>
            <a:pPr algn="r"/>
            <a:r>
              <a:rPr lang="en-US" sz="1000" b="1" noProof="0" dirty="0" err="1"/>
              <a:t>Planung</a:t>
            </a:r>
            <a:r>
              <a:rPr lang="en-US" sz="1000" b="1" noProof="0" dirty="0"/>
              <a:t> – Installation</a:t>
            </a:r>
            <a:r>
              <a:rPr lang="en-US" sz="1000" b="1" baseline="0" noProof="0" dirty="0"/>
              <a:t> – </a:t>
            </a:r>
            <a:r>
              <a:rPr lang="en-US" sz="1000" b="1" baseline="0" noProof="0" dirty="0" err="1"/>
              <a:t>Optimierung</a:t>
            </a:r>
            <a:br>
              <a:rPr lang="en-US" sz="1000" b="1" baseline="0" noProof="0" dirty="0"/>
            </a:br>
            <a:br>
              <a:rPr lang="en-US" sz="1000" b="1" baseline="0" noProof="0" dirty="0"/>
            </a:br>
            <a:endParaRPr lang="en-US" sz="1000" b="1" noProof="0" dirty="0"/>
          </a:p>
          <a:p>
            <a:pPr algn="r"/>
            <a:r>
              <a:rPr lang="en-US" sz="1000" b="1" noProof="0" dirty="0">
                <a:hlinkClick r:id="rId8"/>
              </a:rPr>
              <a:t>http://www.db-berater.de</a:t>
            </a:r>
            <a:endParaRPr lang="en-US" sz="1000" b="1" noProof="0" dirty="0"/>
          </a:p>
          <a:p>
            <a:pPr algn="r"/>
            <a:r>
              <a:rPr lang="en-US" sz="1000" b="1" noProof="0" dirty="0"/>
              <a:t>info@db-berater.de</a:t>
            </a:r>
          </a:p>
        </p:txBody>
      </p:sp>
      <p:cxnSp>
        <p:nvCxnSpPr>
          <p:cNvPr id="6" name="Gerader Verbinder 5"/>
          <p:cNvCxnSpPr/>
          <p:nvPr/>
        </p:nvCxnSpPr>
        <p:spPr>
          <a:xfrm>
            <a:off x="354106" y="6303981"/>
            <a:ext cx="11490063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feld 6"/>
          <p:cNvSpPr txBox="1"/>
          <p:nvPr/>
        </p:nvSpPr>
        <p:spPr>
          <a:xfrm>
            <a:off x="354106" y="6390043"/>
            <a:ext cx="21416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>
                <a:solidFill>
                  <a:schemeClr val="accent1"/>
                </a:solidFill>
              </a:rPr>
              <a:t>Author: </a:t>
            </a:r>
            <a:r>
              <a:rPr lang="en-US" sz="1200" b="1" noProof="0" dirty="0"/>
              <a:t>Uwe Ricken</a:t>
            </a:r>
          </a:p>
        </p:txBody>
      </p:sp>
      <p:sp>
        <p:nvSpPr>
          <p:cNvPr id="8" name="Textfeld 7"/>
          <p:cNvSpPr txBox="1"/>
          <p:nvPr/>
        </p:nvSpPr>
        <p:spPr>
          <a:xfrm>
            <a:off x="8971879" y="6390043"/>
            <a:ext cx="28722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b="1" noProof="0" dirty="0">
                <a:solidFill>
                  <a:schemeClr val="accent1"/>
                </a:solidFill>
              </a:rPr>
              <a:t>© </a:t>
            </a:r>
            <a:r>
              <a:rPr lang="en-US" sz="1200" b="1" noProof="0" dirty="0"/>
              <a:t>db</a:t>
            </a:r>
            <a:r>
              <a:rPr lang="en-US" sz="1200" b="1" baseline="0" noProof="0" dirty="0"/>
              <a:t> Berater GmbH (2025)</a:t>
            </a:r>
            <a:endParaRPr lang="en-US" sz="1200" b="1" noProof="0" dirty="0"/>
          </a:p>
        </p:txBody>
      </p:sp>
    </p:spTree>
    <p:extLst>
      <p:ext uri="{BB962C8B-B14F-4D97-AF65-F5344CB8AC3E}">
        <p14:creationId xmlns:p14="http://schemas.microsoft.com/office/powerpoint/2010/main" val="1627837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</p:sldLayoutIdLst>
  <p:txStyles>
    <p:titleStyle>
      <a:lvl1pPr algn="l" defTabSz="914332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rgbClr val="5B9BD5"/>
          </a:solidFill>
          <a:latin typeface="+mj-lt"/>
          <a:ea typeface="+mj-ea"/>
          <a:cs typeface="+mj-cs"/>
        </a:defRPr>
      </a:lvl1pPr>
    </p:titleStyle>
    <p:bodyStyle>
      <a:lvl1pPr marL="228584" indent="-228584" algn="l" defTabSz="91433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5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14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08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47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12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6pPr>
      <a:lvl7pPr marL="2971578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7pPr>
      <a:lvl8pPr marL="3428744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8pPr>
      <a:lvl9pPr marL="388591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32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167" algn="l" defTabSz="914332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914332" algn="l" defTabSz="914332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3pPr>
      <a:lvl4pPr marL="1371498" algn="l" defTabSz="914332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4pPr>
      <a:lvl5pPr marL="1828664" algn="l" defTabSz="914332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5pPr>
      <a:lvl6pPr marL="2285830" algn="l" defTabSz="914332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6pPr>
      <a:lvl7pPr marL="2742994" algn="l" defTabSz="914332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7pPr>
      <a:lvl8pPr marL="3200160" algn="l" defTabSz="914332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8pPr>
      <a:lvl9pPr marL="3657327" algn="l" defTabSz="914332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78">
          <p15:clr>
            <a:srgbClr val="F26B43"/>
          </p15:clr>
        </p15:guide>
        <p15:guide id="2" pos="3840">
          <p15:clr>
            <a:srgbClr val="F26B43"/>
          </p15:clr>
        </p15:guide>
        <p15:guide id="4" orient="horz" pos="1049">
          <p15:clr>
            <a:srgbClr val="F26B43"/>
          </p15:clr>
        </p15:guide>
        <p15:guide id="5" orient="horz" pos="3929">
          <p15:clr>
            <a:srgbClr val="F26B43"/>
          </p15:clr>
        </p15:guide>
        <p15:guide id="7" pos="7469">
          <p15:clr>
            <a:srgbClr val="F26B43"/>
          </p15:clr>
        </p15:guide>
        <p15:guide id="8" pos="5904">
          <p15:clr>
            <a:srgbClr val="F26B43"/>
          </p15:clr>
        </p15:guide>
        <p15:guide id="9" orient="horz" pos="210" userDrawn="1">
          <p15:clr>
            <a:srgbClr val="F26B43"/>
          </p15:clr>
        </p15:guide>
        <p15:guide id="10" pos="211" userDrawn="1">
          <p15:clr>
            <a:srgbClr val="F26B43"/>
          </p15:clr>
        </p15:guide>
        <p15:guide id="11" pos="5654" userDrawn="1">
          <p15:clr>
            <a:srgbClr val="F26B43"/>
          </p15:clr>
        </p15:guide>
        <p15:guide id="12" orient="horz" pos="981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54107" y="450852"/>
            <a:ext cx="9018492" cy="1102353"/>
          </a:xfrm>
          <a:prstGeom prst="rect">
            <a:avLst/>
          </a:prstGeom>
        </p:spPr>
        <p:txBody>
          <a:bodyPr vert="horz" lIns="68579" tIns="34289" rIns="68579" bIns="34289" rtlCol="0" anchor="ctr">
            <a:normAutofit/>
          </a:bodyPr>
          <a:lstStyle/>
          <a:p>
            <a:r>
              <a:rPr lang="en-US" noProof="0" dirty="0" err="1"/>
              <a:t>Titelmasterformat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54107" y="1665290"/>
            <a:ext cx="11490063" cy="4571999"/>
          </a:xfrm>
          <a:prstGeom prst="rect">
            <a:avLst/>
          </a:prstGeom>
        </p:spPr>
        <p:txBody>
          <a:bodyPr vert="horz" lIns="68579" tIns="34289" rIns="68579" bIns="34289" rtlCol="0">
            <a:normAutofit/>
          </a:bodyPr>
          <a:lstStyle/>
          <a:p>
            <a:pPr lvl="0"/>
            <a:r>
              <a:rPr lang="en-US" noProof="0" dirty="0" err="1"/>
              <a:t>Textmasterformat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</a:t>
            </a:r>
            <a:r>
              <a:rPr lang="en-US" noProof="0" dirty="0"/>
              <a:t> Ebene</a:t>
            </a:r>
          </a:p>
          <a:p>
            <a:pPr lvl="2"/>
            <a:r>
              <a:rPr lang="en-US" noProof="0" dirty="0" err="1"/>
              <a:t>Dritte</a:t>
            </a:r>
            <a:r>
              <a:rPr lang="en-US" noProof="0" dirty="0"/>
              <a:t> Ebene</a:t>
            </a:r>
          </a:p>
          <a:p>
            <a:pPr lvl="3"/>
            <a:r>
              <a:rPr lang="en-US" noProof="0" dirty="0" err="1"/>
              <a:t>Vierte</a:t>
            </a:r>
            <a:r>
              <a:rPr lang="en-US" noProof="0" dirty="0"/>
              <a:t> Ebene</a:t>
            </a:r>
          </a:p>
          <a:p>
            <a:pPr lvl="4"/>
            <a:r>
              <a:rPr lang="en-US" noProof="0" dirty="0" err="1"/>
              <a:t>Fünfte</a:t>
            </a:r>
            <a:r>
              <a:rPr lang="en-US" noProof="0" dirty="0"/>
              <a:t> Ebene</a:t>
            </a:r>
          </a:p>
        </p:txBody>
      </p:sp>
      <p:sp>
        <p:nvSpPr>
          <p:cNvPr id="4" name="Textfeld 3"/>
          <p:cNvSpPr txBox="1"/>
          <p:nvPr/>
        </p:nvSpPr>
        <p:spPr>
          <a:xfrm>
            <a:off x="9372600" y="450848"/>
            <a:ext cx="2471568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noProof="0" dirty="0">
                <a:solidFill>
                  <a:schemeClr val="accent1"/>
                </a:solidFill>
                <a:latin typeface="Calibri" panose="020F0502020204030204" pitchFamily="34" charset="0"/>
              </a:rPr>
              <a:t>db </a:t>
            </a:r>
            <a:r>
              <a:rPr lang="en-US" sz="2400" b="1" noProof="0" dirty="0">
                <a:latin typeface="Calibri" panose="020F0502020204030204" pitchFamily="34" charset="0"/>
              </a:rPr>
              <a:t>Berater GmbH</a:t>
            </a:r>
          </a:p>
          <a:p>
            <a:pPr algn="r"/>
            <a:r>
              <a:rPr lang="en-US" sz="1000" b="1" noProof="0" dirty="0" err="1"/>
              <a:t>Planung</a:t>
            </a:r>
            <a:r>
              <a:rPr lang="en-US" sz="1000" b="1" noProof="0" dirty="0"/>
              <a:t> – Installation</a:t>
            </a:r>
            <a:r>
              <a:rPr lang="en-US" sz="1000" b="1" baseline="0" noProof="0" dirty="0"/>
              <a:t> – </a:t>
            </a:r>
            <a:r>
              <a:rPr lang="en-US" sz="1000" b="1" baseline="0" noProof="0" dirty="0" err="1"/>
              <a:t>Optimierung</a:t>
            </a:r>
            <a:br>
              <a:rPr lang="en-US" sz="1000" b="1" baseline="0" noProof="0" dirty="0"/>
            </a:br>
            <a:br>
              <a:rPr lang="en-US" sz="1000" b="1" baseline="0" noProof="0" dirty="0"/>
            </a:br>
            <a:endParaRPr lang="en-US" sz="1000" b="1" noProof="0" dirty="0"/>
          </a:p>
          <a:p>
            <a:pPr algn="r"/>
            <a:r>
              <a:rPr lang="en-US" sz="1000" b="1" noProof="0" dirty="0">
                <a:hlinkClick r:id="rId8"/>
              </a:rPr>
              <a:t>http://www.db-berater.de</a:t>
            </a:r>
            <a:endParaRPr lang="en-US" sz="1000" b="1" noProof="0" dirty="0"/>
          </a:p>
          <a:p>
            <a:pPr algn="r"/>
            <a:r>
              <a:rPr lang="en-US" sz="1000" b="1" noProof="0" dirty="0"/>
              <a:t>info@db-berater.de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E3090C9-CD56-60CA-9231-B8662A341995}"/>
              </a:ext>
            </a:extLst>
          </p:cNvPr>
          <p:cNvSpPr/>
          <p:nvPr/>
        </p:nvSpPr>
        <p:spPr>
          <a:xfrm>
            <a:off x="0" y="6309320"/>
            <a:ext cx="12192000" cy="548680"/>
          </a:xfrm>
          <a:prstGeom prst="rect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8" name="Textfeld 7"/>
          <p:cNvSpPr txBox="1"/>
          <p:nvPr/>
        </p:nvSpPr>
        <p:spPr>
          <a:xfrm>
            <a:off x="9648395" y="6429773"/>
            <a:ext cx="22962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b="1" noProof="0" dirty="0">
                <a:solidFill>
                  <a:schemeClr val="bg1"/>
                </a:solidFill>
              </a:rPr>
              <a:t>© db</a:t>
            </a:r>
            <a:r>
              <a:rPr lang="en-US" sz="1200" b="1" baseline="0" noProof="0" dirty="0">
                <a:solidFill>
                  <a:schemeClr val="bg1"/>
                </a:solidFill>
              </a:rPr>
              <a:t> Berater GmbH (</a:t>
            </a:r>
            <a:fld id="{918F7804-3F46-47BC-B8F6-F601438D5C89}" type="datetimeyyyy">
              <a:rPr lang="en-US" sz="1200" b="1" baseline="0" noProof="0" smtClean="0">
                <a:solidFill>
                  <a:schemeClr val="bg1"/>
                </a:solidFill>
              </a:rPr>
              <a:t>2026</a:t>
            </a:fld>
            <a:r>
              <a:rPr lang="en-US" sz="1200" b="1" baseline="0" noProof="0" dirty="0">
                <a:solidFill>
                  <a:schemeClr val="bg1"/>
                </a:solidFill>
              </a:rPr>
              <a:t>)</a:t>
            </a:r>
            <a:endParaRPr lang="en-US" sz="1200" b="1" noProof="0" dirty="0">
              <a:solidFill>
                <a:schemeClr val="bg1"/>
              </a:solidFill>
            </a:endParaRPr>
          </a:p>
        </p:txBody>
      </p:sp>
      <p:sp>
        <p:nvSpPr>
          <p:cNvPr id="7" name="Textfeld 6"/>
          <p:cNvSpPr txBox="1"/>
          <p:nvPr/>
        </p:nvSpPr>
        <p:spPr>
          <a:xfrm>
            <a:off x="290584" y="6429773"/>
            <a:ext cx="48453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>
                <a:solidFill>
                  <a:schemeClr val="bg2"/>
                </a:solidFill>
              </a:rPr>
              <a:t>Author</a:t>
            </a:r>
            <a:r>
              <a:rPr lang="en-US" sz="1200" b="1" noProof="0" dirty="0">
                <a:solidFill>
                  <a:schemeClr val="bg1"/>
                </a:solidFill>
              </a:rPr>
              <a:t>: Uwe Ricken (Data Platform MVP / MCM)</a:t>
            </a:r>
          </a:p>
        </p:txBody>
      </p:sp>
    </p:spTree>
    <p:extLst>
      <p:ext uri="{BB962C8B-B14F-4D97-AF65-F5344CB8AC3E}">
        <p14:creationId xmlns:p14="http://schemas.microsoft.com/office/powerpoint/2010/main" val="766192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</p:sldLayoutIdLst>
  <p:txStyles>
    <p:titleStyle>
      <a:lvl1pPr algn="l" defTabSz="914309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rgbClr val="5B9BD5"/>
          </a:solidFill>
          <a:latin typeface="+mj-lt"/>
          <a:ea typeface="+mj-ea"/>
          <a:cs typeface="+mj-cs"/>
        </a:defRPr>
      </a:lvl1pPr>
    </p:titleStyle>
    <p:bodyStyle>
      <a:lvl1pPr marL="228578" indent="-228578" algn="l" defTabSz="9143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34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886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040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195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9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6pPr>
      <a:lvl7pPr marL="2971504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8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8pPr>
      <a:lvl9pPr marL="3885814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155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914309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4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8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5pPr>
      <a:lvl6pPr marL="2285774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6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7pPr>
      <a:lvl8pPr marL="3200080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8pPr>
      <a:lvl9pPr marL="3657235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>
          <p15:clr>
            <a:srgbClr val="F26B43"/>
          </p15:clr>
        </p15:guide>
        <p15:guide id="2" orient="horz" pos="210" userDrawn="1">
          <p15:clr>
            <a:srgbClr val="F26B43"/>
          </p15:clr>
        </p15:guide>
        <p15:guide id="3" pos="211" userDrawn="1">
          <p15:clr>
            <a:srgbClr val="F26B43"/>
          </p15:clr>
        </p15:guide>
        <p15:guide id="4" pos="5654" userDrawn="1">
          <p15:clr>
            <a:srgbClr val="F26B43"/>
          </p15:clr>
        </p15:guide>
        <p15:guide id="5" orient="horz" pos="98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hyperlink" Target="mailto:uwe.ricken@db-berater.de" TargetMode="External"/><Relationship Id="rId7" Type="http://schemas.openxmlformats.org/officeDocument/2006/relationships/image" Target="../media/image2.jpg"/><Relationship Id="rId2" Type="http://schemas.openxmlformats.org/officeDocument/2006/relationships/hyperlink" Target="http://www.db-berater.de/" TargetMode="Externa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.png"/><Relationship Id="rId5" Type="http://schemas.openxmlformats.org/officeDocument/2006/relationships/hyperlink" Target="https://www.linkedin.com/in/uwericken" TargetMode="External"/><Relationship Id="rId4" Type="http://schemas.openxmlformats.org/officeDocument/2006/relationships/hyperlink" Target="http://www.sqlmaster.de/" TargetMode="External"/><Relationship Id="rId9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b-berater/speedup-your-sql-code" TargetMode="External"/><Relationship Id="rId2" Type="http://schemas.openxmlformats.org/officeDocument/2006/relationships/hyperlink" Target="https://www.db-berater.de/downloads/ERP_DEMO_2012.BAK" TargetMode="Externa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18.jpeg"/><Relationship Id="rId4" Type="http://schemas.openxmlformats.org/officeDocument/2006/relationships/image" Target="../media/image17.jpe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Performance optimization</a:t>
            </a:r>
            <a:br>
              <a:rPr lang="en-US" dirty="0"/>
            </a:br>
            <a:r>
              <a:rPr lang="en-US" dirty="0"/>
              <a:t>of badly written SQL code</a:t>
            </a:r>
            <a:br>
              <a:rPr lang="en-US" dirty="0"/>
            </a:b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</a:rPr>
              <a:t>Enhancing Database Efficiency for Faster, More Scalable Applications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Uwe Ricken</a:t>
            </a:r>
          </a:p>
        </p:txBody>
      </p:sp>
      <p:sp>
        <p:nvSpPr>
          <p:cNvPr id="4" name="Textfeld 3"/>
          <p:cNvSpPr txBox="1"/>
          <p:nvPr/>
        </p:nvSpPr>
        <p:spPr>
          <a:xfrm>
            <a:off x="337072" y="4389107"/>
            <a:ext cx="11325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b="1" dirty="0" err="1">
                <a:solidFill>
                  <a:srgbClr val="165364"/>
                </a:solidFill>
                <a:latin typeface="verdana" panose="020B0604030504040204" pitchFamily="34" charset="0"/>
              </a:rPr>
              <a:t>tba</a:t>
            </a:r>
            <a:endParaRPr lang="de-DE" b="1" dirty="0"/>
          </a:p>
        </p:txBody>
      </p:sp>
    </p:spTree>
    <p:extLst>
      <p:ext uri="{BB962C8B-B14F-4D97-AF65-F5344CB8AC3E}">
        <p14:creationId xmlns:p14="http://schemas.microsoft.com/office/powerpoint/2010/main" val="4067710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Uwe Ricken</a:t>
            </a:r>
            <a:br>
              <a:rPr lang="de-DE" dirty="0"/>
            </a:br>
            <a:r>
              <a:rPr lang="de-DE" sz="2400" dirty="0"/>
              <a:t>db Berater GmbH</a:t>
            </a:r>
          </a:p>
        </p:txBody>
      </p:sp>
      <p:sp>
        <p:nvSpPr>
          <p:cNvPr id="2" name="Inhaltsplatzhalter 1"/>
          <p:cNvSpPr>
            <a:spLocks noGrp="1"/>
          </p:cNvSpPr>
          <p:nvPr>
            <p:ph sz="half"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 marL="457166" lvl="1" indent="0">
              <a:buNone/>
            </a:pPr>
            <a:r>
              <a:rPr lang="en-US" sz="1400" dirty="0"/>
              <a:t>I am working with IT-systems since early 1990's and with the main focus on </a:t>
            </a:r>
            <a:r>
              <a:rPr lang="en-US" sz="1400" b="1" i="1" dirty="0">
                <a:solidFill>
                  <a:schemeClr val="accent5"/>
                </a:solidFill>
              </a:rPr>
              <a:t>Microsoft SQL Server </a:t>
            </a:r>
            <a:r>
              <a:rPr lang="en-US" sz="1400" dirty="0"/>
              <a:t>since version 6.0. I started with development of database applications in 1998 with a professional CRM-System based on Microsoft products (Microsoft Office and </a:t>
            </a:r>
            <a:r>
              <a:rPr lang="en-US" sz="1400" b="1" i="1" dirty="0">
                <a:solidFill>
                  <a:schemeClr val="accent5"/>
                </a:solidFill>
              </a:rPr>
              <a:t>Microsoft SQL Server</a:t>
            </a:r>
            <a:r>
              <a:rPr lang="en-US" sz="1400" dirty="0"/>
              <a:t>).</a:t>
            </a:r>
          </a:p>
          <a:p>
            <a:pPr marL="457166" lvl="1" indent="0">
              <a:buNone/>
            </a:pPr>
            <a:br>
              <a:rPr lang="en-US" sz="1400" dirty="0"/>
            </a:br>
            <a:r>
              <a:rPr lang="en-US" sz="1400" dirty="0"/>
              <a:t>Since 2008 I'm focused exclusively on </a:t>
            </a:r>
            <a:r>
              <a:rPr lang="en-US" sz="1400" b="1" i="1" dirty="0">
                <a:solidFill>
                  <a:schemeClr val="accent5"/>
                </a:solidFill>
              </a:rPr>
              <a:t>Microsoft SQL Server</a:t>
            </a:r>
            <a:r>
              <a:rPr lang="en-US" sz="1400" dirty="0"/>
              <a:t> and I was working in 3rd level support teams for enterprise companies, banks and insurances.</a:t>
            </a:r>
          </a:p>
          <a:p>
            <a:pPr marL="457166" lvl="1" indent="0">
              <a:buNone/>
            </a:pPr>
            <a:endParaRPr lang="en-US" sz="1400" dirty="0"/>
          </a:p>
          <a:p>
            <a:pPr marL="457166" lvl="1" indent="0">
              <a:buNone/>
            </a:pPr>
            <a:r>
              <a:rPr lang="en-US" sz="1400" dirty="0"/>
              <a:t>Since May 2013 I'm a </a:t>
            </a:r>
            <a:r>
              <a:rPr lang="en-US" sz="1400" b="1" dirty="0">
                <a:solidFill>
                  <a:srgbClr val="FF0000"/>
                </a:solidFill>
              </a:rPr>
              <a:t>Microsoft Certified Master: SQL Server 2008 </a:t>
            </a:r>
            <a:r>
              <a:rPr lang="en-US" sz="1400" dirty="0"/>
              <a:t>which was an amazing way into the depth of </a:t>
            </a:r>
            <a:r>
              <a:rPr lang="en-US" sz="1400" b="1" i="1" dirty="0">
                <a:solidFill>
                  <a:schemeClr val="accent5"/>
                </a:solidFill>
              </a:rPr>
              <a:t>Microsoft SQL Server</a:t>
            </a:r>
            <a:r>
              <a:rPr lang="en-US" sz="1400" dirty="0"/>
              <a:t>.</a:t>
            </a:r>
          </a:p>
          <a:p>
            <a:pPr marL="457166" lvl="1" indent="0">
              <a:buNone/>
            </a:pPr>
            <a:endParaRPr lang="en-US" sz="1400" dirty="0"/>
          </a:p>
          <a:p>
            <a:pPr marL="457166" lvl="1" indent="0">
              <a:buNone/>
            </a:pPr>
            <a:r>
              <a:rPr lang="en-US" sz="1400" dirty="0"/>
              <a:t>In July 2013 I have been awarded with the MVP Award for </a:t>
            </a:r>
            <a:r>
              <a:rPr lang="en-US" sz="1400" b="1" i="1" dirty="0">
                <a:solidFill>
                  <a:schemeClr val="accent5"/>
                </a:solidFill>
              </a:rPr>
              <a:t>Microsoft SQL Server</a:t>
            </a:r>
            <a:r>
              <a:rPr lang="en-US" sz="1400" dirty="0"/>
              <a:t>.</a:t>
            </a:r>
            <a:endParaRPr lang="de-DE" sz="1400" dirty="0"/>
          </a:p>
        </p:txBody>
      </p:sp>
      <p:sp>
        <p:nvSpPr>
          <p:cNvPr id="6" name="Textplatzhalter 5"/>
          <p:cNvSpPr>
            <a:spLocks noGrp="1"/>
          </p:cNvSpPr>
          <p:nvPr>
            <p:ph sz="half" idx="2"/>
          </p:nvPr>
        </p:nvSpPr>
        <p:spPr>
          <a:prstGeom prst="rect">
            <a:avLst/>
          </a:prstGeom>
        </p:spPr>
        <p:txBody>
          <a:bodyPr>
            <a:noAutofit/>
          </a:bodyPr>
          <a:lstStyle/>
          <a:p>
            <a:pPr marL="0" indent="0">
              <a:buNone/>
              <a:tabLst>
                <a:tab pos="903243" algn="l"/>
              </a:tabLst>
            </a:pPr>
            <a:r>
              <a:rPr lang="de-DE" sz="1400" b="1" dirty="0" err="1"/>
              <a:t>www</a:t>
            </a:r>
            <a:r>
              <a:rPr lang="de-DE" sz="1400" dirty="0"/>
              <a:t>:	</a:t>
            </a:r>
            <a:r>
              <a:rPr lang="de-DE" sz="1400" dirty="0">
                <a:hlinkClick r:id="rId2"/>
              </a:rPr>
              <a:t>http://www.db-berater.de</a:t>
            </a:r>
            <a:endParaRPr lang="de-DE" sz="1400" dirty="0"/>
          </a:p>
          <a:p>
            <a:pPr marL="0" indent="0">
              <a:buNone/>
              <a:tabLst>
                <a:tab pos="903243" algn="l"/>
              </a:tabLst>
            </a:pPr>
            <a:r>
              <a:rPr lang="de-DE" sz="1400" b="1" dirty="0"/>
              <a:t>email</a:t>
            </a:r>
            <a:r>
              <a:rPr lang="de-DE" sz="1400" dirty="0"/>
              <a:t>:	</a:t>
            </a:r>
            <a:r>
              <a:rPr lang="de-DE" sz="1400" dirty="0">
                <a:hlinkClick r:id="rId3"/>
              </a:rPr>
              <a:t>uwe.ricken@db-berater.de</a:t>
            </a:r>
            <a:endParaRPr lang="de-DE" sz="1400" dirty="0"/>
          </a:p>
          <a:p>
            <a:pPr marL="0" indent="0">
              <a:buNone/>
              <a:tabLst>
                <a:tab pos="903243" algn="l"/>
              </a:tabLst>
            </a:pPr>
            <a:r>
              <a:rPr lang="de-DE" sz="1400" b="1" dirty="0" err="1"/>
              <a:t>blog</a:t>
            </a:r>
            <a:r>
              <a:rPr lang="de-DE" sz="1400" dirty="0"/>
              <a:t>:	</a:t>
            </a:r>
            <a:r>
              <a:rPr lang="de-DE" sz="1400" dirty="0">
                <a:hlinkClick r:id="rId4"/>
              </a:rPr>
              <a:t>http://www.sqlmaster.de</a:t>
            </a:r>
            <a:endParaRPr lang="de-DE" sz="1400" dirty="0"/>
          </a:p>
          <a:p>
            <a:pPr marL="0" indent="0">
              <a:buNone/>
              <a:tabLst>
                <a:tab pos="903243" algn="l"/>
              </a:tabLst>
            </a:pPr>
            <a:r>
              <a:rPr lang="de-DE" sz="1400" dirty="0"/>
              <a:t>LinkedIn:	</a:t>
            </a:r>
            <a:r>
              <a:rPr lang="de-DE" sz="1400" dirty="0">
                <a:hlinkClick r:id="rId5"/>
              </a:rPr>
              <a:t>https://www.linkedin.com/in/uwericken</a:t>
            </a:r>
            <a:endParaRPr lang="de-DE" sz="1400" dirty="0"/>
          </a:p>
          <a:p>
            <a:pPr marL="0" indent="0">
              <a:buNone/>
              <a:tabLst>
                <a:tab pos="903243" algn="l"/>
              </a:tabLst>
            </a:pPr>
            <a:endParaRPr lang="de-DE" sz="1400" dirty="0"/>
          </a:p>
          <a:p>
            <a:pPr marL="0" indent="0">
              <a:buNone/>
              <a:tabLst>
                <a:tab pos="903243" algn="l"/>
              </a:tabLst>
            </a:pPr>
            <a:endParaRPr lang="de-DE" sz="1400" dirty="0"/>
          </a:p>
        </p:txBody>
      </p:sp>
      <p:pic>
        <p:nvPicPr>
          <p:cNvPr id="7" name="Grafik 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4272" y="3494589"/>
            <a:ext cx="1143000" cy="835819"/>
          </a:xfrm>
          <a:prstGeom prst="rect">
            <a:avLst/>
          </a:prstGeom>
        </p:spPr>
      </p:pic>
      <p:pic>
        <p:nvPicPr>
          <p:cNvPr id="8" name="Grafik 7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0472" y="3494589"/>
            <a:ext cx="1143000" cy="857251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4273" y="4682333"/>
            <a:ext cx="1458955" cy="598545"/>
          </a:xfrm>
          <a:prstGeom prst="rect">
            <a:avLst/>
          </a:prstGeom>
        </p:spPr>
      </p:pic>
      <p:pic>
        <p:nvPicPr>
          <p:cNvPr id="5" name="Grafik 4" descr="Ein Bild, das Person, Mann, Brille, tragen enthält.&#10;&#10;Automatisch generierte Beschreibung">
            <a:extLst>
              <a:ext uri="{FF2B5EF4-FFF2-40B4-BE49-F238E27FC236}">
                <a16:creationId xmlns:a16="http://schemas.microsoft.com/office/drawing/2014/main" id="{46333317-A6F3-B2D3-B9F5-6B4A79A834BA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258"/>
          <a:stretch/>
        </p:blipFill>
        <p:spPr>
          <a:xfrm>
            <a:off x="6499642" y="3429000"/>
            <a:ext cx="1715073" cy="1851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1874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Break Times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de-DE" dirty="0"/>
              <a:t>09:00 – 10:30		Session</a:t>
            </a:r>
            <a:br>
              <a:rPr lang="de-DE" dirty="0"/>
            </a:br>
            <a:endParaRPr lang="de-DE" dirty="0"/>
          </a:p>
          <a:p>
            <a:pPr lvl="1"/>
            <a:r>
              <a:rPr lang="de-DE" dirty="0"/>
              <a:t>10:30 – 11:00		Coffee Break</a:t>
            </a:r>
            <a:br>
              <a:rPr lang="de-DE" dirty="0"/>
            </a:br>
            <a:endParaRPr lang="de-DE" dirty="0"/>
          </a:p>
          <a:p>
            <a:pPr lvl="1"/>
            <a:r>
              <a:rPr lang="de-DE" dirty="0"/>
              <a:t>11:00 – 12:30		Session</a:t>
            </a:r>
            <a:br>
              <a:rPr lang="de-DE" dirty="0"/>
            </a:br>
            <a:endParaRPr lang="de-DE" dirty="0"/>
          </a:p>
          <a:p>
            <a:pPr lvl="1"/>
            <a:r>
              <a:rPr lang="de-DE" dirty="0"/>
              <a:t>12:30 – 13:30		Lunch Break</a:t>
            </a:r>
            <a:br>
              <a:rPr lang="de-DE" dirty="0"/>
            </a:br>
            <a:endParaRPr lang="de-DE" dirty="0"/>
          </a:p>
          <a:p>
            <a:pPr lvl="1"/>
            <a:r>
              <a:rPr lang="de-DE" dirty="0"/>
              <a:t>13:30 – 15:00		Session</a:t>
            </a:r>
            <a:br>
              <a:rPr lang="de-DE" dirty="0"/>
            </a:br>
            <a:endParaRPr lang="de-DE" dirty="0"/>
          </a:p>
          <a:p>
            <a:pPr lvl="1"/>
            <a:r>
              <a:rPr lang="de-DE" dirty="0"/>
              <a:t>15:00 – 15:30		Coffee Break</a:t>
            </a:r>
            <a:br>
              <a:rPr lang="de-DE" dirty="0"/>
            </a:br>
            <a:endParaRPr lang="de-DE" dirty="0"/>
          </a:p>
          <a:p>
            <a:pPr lvl="1"/>
            <a:r>
              <a:rPr lang="de-DE" dirty="0"/>
              <a:t>15:30 – 16:45 / 17:00	Session</a:t>
            </a:r>
          </a:p>
        </p:txBody>
      </p:sp>
    </p:spTree>
    <p:extLst>
      <p:ext uri="{BB962C8B-B14F-4D97-AF65-F5344CB8AC3E}">
        <p14:creationId xmlns:p14="http://schemas.microsoft.com/office/powerpoint/2010/main" val="32037066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A6C95F-FCB1-A51E-BF18-16623A9BE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 List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CC3EFE6-35B9-9AA1-35A3-B1D8A4A7FE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4964" y="1665288"/>
            <a:ext cx="7333384" cy="4572000"/>
          </a:xfrm>
        </p:spPr>
        <p:txBody>
          <a:bodyPr>
            <a:normAutofit/>
          </a:bodyPr>
          <a:lstStyle/>
          <a:p>
            <a:r>
              <a:rPr lang="en-US" sz="1600" dirty="0"/>
              <a:t>Download </a:t>
            </a:r>
            <a:r>
              <a:rPr lang="en-US" sz="1600" dirty="0" err="1"/>
              <a:t>ERP_Demo</a:t>
            </a:r>
            <a:r>
              <a:rPr lang="en-US" sz="1600" dirty="0"/>
              <a:t> Database</a:t>
            </a:r>
            <a:br>
              <a:rPr lang="en-US" sz="1600" dirty="0"/>
            </a:br>
            <a:r>
              <a:rPr lang="en-US" sz="1600" dirty="0">
                <a:hlinkClick r:id="rId2"/>
              </a:rPr>
              <a:t>https://www.db-berater.de/downloads/ERP_DEMO_2012.BAK</a:t>
            </a:r>
            <a:endParaRPr lang="en-US" sz="1600" dirty="0"/>
          </a:p>
          <a:p>
            <a:r>
              <a:rPr lang="en-US" sz="1600" dirty="0"/>
              <a:t>Download Workshop Solution</a:t>
            </a:r>
            <a:br>
              <a:rPr lang="en-US" sz="1600" dirty="0"/>
            </a:br>
            <a:r>
              <a:rPr lang="en-US" sz="1600" dirty="0">
                <a:hlinkClick r:id="rId3"/>
              </a:rPr>
              <a:t>https://github.com/db-berater/speedup-your-sql-code</a:t>
            </a:r>
            <a:endParaRPr lang="en-US" sz="1600" dirty="0"/>
          </a:p>
          <a:p>
            <a:r>
              <a:rPr lang="en-US" sz="1600" dirty="0"/>
              <a:t>Open the SSMS Project File in SSMS</a:t>
            </a:r>
          </a:p>
          <a:p>
            <a:r>
              <a:rPr lang="en-US" sz="1600" dirty="0"/>
              <a:t>Execute the following scripts</a:t>
            </a:r>
          </a:p>
          <a:p>
            <a:pPr lvl="1"/>
            <a:r>
              <a:rPr lang="en-US" sz="1600" b="1" dirty="0">
                <a:solidFill>
                  <a:schemeClr val="accent5">
                    <a:lumMod val="50000"/>
                  </a:schemeClr>
                </a:solidFill>
                <a:latin typeface="Lucida Console" panose="020B0609040504020204" pitchFamily="49" charset="0"/>
              </a:rPr>
              <a:t>00 - </a:t>
            </a:r>
            <a:r>
              <a:rPr lang="en-US" sz="1600" b="1" dirty="0" err="1">
                <a:solidFill>
                  <a:schemeClr val="accent5">
                    <a:lumMod val="50000"/>
                  </a:schemeClr>
                </a:solidFill>
                <a:latin typeface="Lucida Console" panose="020B0609040504020204" pitchFamily="49" charset="0"/>
              </a:rPr>
              <a:t>dbo.sp_restore_erp_demo.sql</a:t>
            </a:r>
            <a:endParaRPr lang="en-US" sz="1600" b="1" dirty="0">
              <a:solidFill>
                <a:schemeClr val="accent5">
                  <a:lumMod val="50000"/>
                </a:schemeClr>
              </a:solidFill>
              <a:latin typeface="Lucida Console" panose="020B0609040504020204" pitchFamily="49" charset="0"/>
            </a:endParaRPr>
          </a:p>
          <a:p>
            <a:pPr lvl="1"/>
            <a:r>
              <a:rPr lang="en-US" sz="1600" b="1" dirty="0">
                <a:solidFill>
                  <a:schemeClr val="accent5">
                    <a:lumMod val="50000"/>
                  </a:schemeClr>
                </a:solidFill>
                <a:latin typeface="Lucida Console" panose="020B0609040504020204" pitchFamily="49" charset="0"/>
              </a:rPr>
              <a:t>01 - Preparation of demo </a:t>
            </a:r>
            <a:r>
              <a:rPr lang="en-US" sz="1600" b="1" dirty="0" err="1">
                <a:solidFill>
                  <a:schemeClr val="accent5">
                    <a:lumMod val="50000"/>
                  </a:schemeClr>
                </a:solidFill>
                <a:latin typeface="Lucida Console" panose="020B0609040504020204" pitchFamily="49" charset="0"/>
              </a:rPr>
              <a:t>databases.sql</a:t>
            </a:r>
            <a:endParaRPr lang="en-US" sz="1600" b="1" dirty="0">
              <a:solidFill>
                <a:schemeClr val="accent5">
                  <a:lumMod val="50000"/>
                </a:schemeClr>
              </a:solidFill>
              <a:latin typeface="Lucida Console" panose="020B0609040504020204" pitchFamily="49" charset="0"/>
            </a:endParaRPr>
          </a:p>
          <a:p>
            <a:r>
              <a:rPr lang="en-US" sz="1600" dirty="0"/>
              <a:t>Check the version of the demo database</a:t>
            </a:r>
            <a:br>
              <a:rPr lang="en-US" sz="1600" dirty="0"/>
            </a:br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*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ERP_Demo</a:t>
            </a:r>
            <a:r>
              <a:rPr lang="en-US" sz="16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</a:t>
            </a:r>
            <a:r>
              <a:rPr lang="en-US" sz="16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get_database_help_info</a:t>
            </a:r>
            <a:r>
              <a:rPr lang="en-US" sz="16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;</a:t>
            </a:r>
            <a:endParaRPr lang="en-US" sz="1600" dirty="0"/>
          </a:p>
        </p:txBody>
      </p:sp>
      <p:pic>
        <p:nvPicPr>
          <p:cNvPr id="10" name="Inhaltsplatzhalter 9">
            <a:extLst>
              <a:ext uri="{FF2B5EF4-FFF2-40B4-BE49-F238E27FC236}">
                <a16:creationId xmlns:a16="http://schemas.microsoft.com/office/drawing/2014/main" id="{297B7DB2-16CE-20EB-EE9A-1CEB53EC921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7141505" y="1665288"/>
            <a:ext cx="4715533" cy="1562318"/>
          </a:xfrm>
        </p:spPr>
      </p:pic>
    </p:spTree>
    <p:extLst>
      <p:ext uri="{BB962C8B-B14F-4D97-AF65-F5344CB8AC3E}">
        <p14:creationId xmlns:p14="http://schemas.microsoft.com/office/powerpoint/2010/main" val="35503642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1C02D4BB-8072-777B-D14E-94097CF68E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your SQL Code fast again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B6706FF-B331-CD2E-8F3E-92F77346CF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4964" y="1665288"/>
            <a:ext cx="6777718" cy="457200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Why is SQL optimization important?</a:t>
            </a:r>
          </a:p>
          <a:p>
            <a:pPr lvl="1"/>
            <a:r>
              <a:rPr lang="en-US" b="1" dirty="0"/>
              <a:t>Performance Improvement</a:t>
            </a:r>
          </a:p>
          <a:p>
            <a:pPr lvl="2"/>
            <a:r>
              <a:rPr lang="en-US" dirty="0"/>
              <a:t>Efficient SQL code enhances database performance by reducing execution time and resource consumption.</a:t>
            </a:r>
          </a:p>
          <a:p>
            <a:pPr lvl="1"/>
            <a:r>
              <a:rPr lang="en-US" b="1" dirty="0"/>
              <a:t>Resource Utilization</a:t>
            </a:r>
          </a:p>
          <a:p>
            <a:pPr lvl="2"/>
            <a:r>
              <a:rPr lang="en-US" dirty="0"/>
              <a:t>Optimized SQL queries use fewer system resources like CPU, memory, and disk I/O for better scaling.</a:t>
            </a:r>
          </a:p>
          <a:p>
            <a:pPr lvl="1"/>
            <a:r>
              <a:rPr lang="en-US" b="1" dirty="0"/>
              <a:t>Scalability</a:t>
            </a:r>
          </a:p>
          <a:p>
            <a:pPr lvl="2"/>
            <a:r>
              <a:rPr lang="en-US" dirty="0"/>
              <a:t>Efficiently written SQL code can better handle increased data volume and user load.</a:t>
            </a:r>
          </a:p>
          <a:p>
            <a:pPr lvl="1"/>
            <a:r>
              <a:rPr lang="en-US" b="1" dirty="0"/>
              <a:t>Cost Savings</a:t>
            </a:r>
          </a:p>
          <a:p>
            <a:pPr lvl="2"/>
            <a:r>
              <a:rPr lang="en-US" dirty="0"/>
              <a:t>Reduced resource usage translates to cost savings, especially in cloud environments.</a:t>
            </a:r>
          </a:p>
          <a:p>
            <a:pPr lvl="1"/>
            <a:r>
              <a:rPr lang="en-US" b="1" dirty="0"/>
              <a:t>Reliability and Stability</a:t>
            </a:r>
          </a:p>
          <a:p>
            <a:pPr lvl="2"/>
            <a:r>
              <a:rPr lang="en-US" dirty="0"/>
              <a:t>Efficient queries are less likely to cause unexpected issues, such as timeouts or server crashes.</a:t>
            </a:r>
          </a:p>
        </p:txBody>
      </p:sp>
      <p:pic>
        <p:nvPicPr>
          <p:cNvPr id="13" name="Inhaltsplatzhalter 12">
            <a:extLst>
              <a:ext uri="{FF2B5EF4-FFF2-40B4-BE49-F238E27FC236}">
                <a16:creationId xmlns:a16="http://schemas.microsoft.com/office/drawing/2014/main" id="{4EA7C144-7BD8-19D7-DDDF-3D5AFD667EC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 bwMode="auto">
          <a:xfrm>
            <a:off x="7580878" y="1665288"/>
            <a:ext cx="3924852" cy="3904844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972279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26F7A4-5F53-E90B-7446-E689769D7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your SQL Code fast again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C515DFF-2B8F-A7B5-0A40-FF456E70CF0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Objectives of this workshop</a:t>
            </a:r>
          </a:p>
          <a:p>
            <a:pPr lvl="1"/>
            <a:r>
              <a:rPr lang="en-US" dirty="0"/>
              <a:t>Identification of common SQL errors and their impact on performance.</a:t>
            </a:r>
          </a:p>
          <a:p>
            <a:pPr lvl="1"/>
            <a:r>
              <a:rPr lang="en-US" dirty="0"/>
              <a:t>Techniques to improve the efficiency of SQL queries.</a:t>
            </a:r>
          </a:p>
          <a:p>
            <a:pPr lvl="1"/>
            <a:r>
              <a:rPr lang="en-US" dirty="0"/>
              <a:t>Practical examples and best practices to improve performance.</a:t>
            </a:r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BBCF8D45-C542-224F-28BE-097C8ABB58E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272211" y="1665288"/>
            <a:ext cx="5584825" cy="4204145"/>
          </a:xfr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874749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12571BE5-B71D-FFFF-95F2-7563C3CE8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Key Topics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BF56D9F-9292-F522-0C69-FE07A8759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Tools and best practices</a:t>
            </a:r>
          </a:p>
          <a:p>
            <a:pPr lvl="1"/>
            <a:r>
              <a:rPr lang="en-US" dirty="0"/>
              <a:t>using analysis and optimization tools </a:t>
            </a:r>
          </a:p>
          <a:p>
            <a:pPr lvl="1"/>
            <a:r>
              <a:rPr lang="en-US" dirty="0"/>
              <a:t>recommendations for improving query speed.</a:t>
            </a:r>
          </a:p>
          <a:p>
            <a:r>
              <a:rPr lang="en-US" dirty="0"/>
              <a:t>Detecting bad SQL code</a:t>
            </a:r>
          </a:p>
          <a:p>
            <a:pPr lvl="1"/>
            <a:r>
              <a:rPr lang="en-US" dirty="0"/>
              <a:t>Identifying inefficient queries and potential performance bottlenecks.</a:t>
            </a:r>
          </a:p>
          <a:p>
            <a:r>
              <a:rPr lang="en-US" dirty="0"/>
              <a:t>Optimization techniques</a:t>
            </a:r>
          </a:p>
          <a:p>
            <a:pPr lvl="1"/>
            <a:r>
              <a:rPr lang="en-US" dirty="0"/>
              <a:t>reducing hardware resources (CPU / IO)</a:t>
            </a:r>
          </a:p>
          <a:p>
            <a:pPr lvl="1"/>
            <a:r>
              <a:rPr lang="en-US" dirty="0"/>
              <a:t>reducing redundant queries</a:t>
            </a:r>
          </a:p>
          <a:p>
            <a:pPr lvl="1"/>
            <a:r>
              <a:rPr lang="en-US" dirty="0"/>
              <a:t>avoiding unnecessary joins</a:t>
            </a:r>
          </a:p>
          <a:p>
            <a:pPr lvl="1"/>
            <a:r>
              <a:rPr lang="en-US" dirty="0"/>
              <a:t>Using indexes</a:t>
            </a:r>
          </a:p>
        </p:txBody>
      </p:sp>
    </p:spTree>
    <p:extLst>
      <p:ext uri="{BB962C8B-B14F-4D97-AF65-F5344CB8AC3E}">
        <p14:creationId xmlns:p14="http://schemas.microsoft.com/office/powerpoint/2010/main" val="7931877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3DFBC-C4E2-717F-999C-96909B211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Tools and best practices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E6514BD-55B9-A72B-9182-9C57614A9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Query Store</a:t>
            </a:r>
          </a:p>
          <a:p>
            <a:r>
              <a:rPr lang="de-DE" dirty="0"/>
              <a:t>Performance Monitor / Resource Monitor</a:t>
            </a:r>
          </a:p>
          <a:p>
            <a:r>
              <a:rPr lang="de-DE" dirty="0"/>
              <a:t>Windows Admin Center</a:t>
            </a:r>
          </a:p>
          <a:p>
            <a:r>
              <a:rPr lang="de-DE" dirty="0"/>
              <a:t>Third Party Tools</a:t>
            </a:r>
          </a:p>
          <a:p>
            <a:pPr lvl="1"/>
            <a:r>
              <a:rPr lang="de-DE" dirty="0"/>
              <a:t>Redgate</a:t>
            </a:r>
          </a:p>
          <a:p>
            <a:pPr lvl="1"/>
            <a:r>
              <a:rPr lang="de-DE" dirty="0" err="1"/>
              <a:t>Idera</a:t>
            </a:r>
            <a:endParaRPr lang="de-DE" dirty="0"/>
          </a:p>
          <a:p>
            <a:pPr lvl="1"/>
            <a:r>
              <a:rPr lang="de-DE" dirty="0"/>
              <a:t>Solarwinds</a:t>
            </a:r>
          </a:p>
          <a:p>
            <a:pPr lvl="1"/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7699447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9403FC54-5AB6-EB8E-C160-68BA7028BD1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Query Store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8261D61B-62E5-9230-0E65-F29FB6FC8A8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Source Tool for Query Performance</a:t>
            </a:r>
          </a:p>
        </p:txBody>
      </p:sp>
    </p:spTree>
    <p:extLst>
      <p:ext uri="{BB962C8B-B14F-4D97-AF65-F5344CB8AC3E}">
        <p14:creationId xmlns:p14="http://schemas.microsoft.com/office/powerpoint/2010/main" val="23281719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92B2F7-6330-8DE4-12BB-9DFCE042C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Query Store – Microsoft SQL Server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39F169E-B0D3-D695-A625-3F137918505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lvl="1"/>
            <a:r>
              <a:rPr lang="en-US" dirty="0"/>
              <a:t>When a query gets compiled for the first time, query text and the initial plan are sent to Query Store.</a:t>
            </a:r>
          </a:p>
          <a:p>
            <a:pPr lvl="1"/>
            <a:r>
              <a:rPr lang="en-US" dirty="0"/>
              <a:t>When a query gets recompiled, the plan is updated in Query Store.</a:t>
            </a:r>
          </a:p>
          <a:p>
            <a:pPr lvl="1"/>
            <a:r>
              <a:rPr lang="en-US" dirty="0"/>
              <a:t>If a new plan is created, Query Store adds the new plan entry for the query and keeps the previous ones along with their execution statistics.</a:t>
            </a:r>
          </a:p>
          <a:p>
            <a:pPr lvl="1"/>
            <a:r>
              <a:rPr lang="en-US" dirty="0"/>
              <a:t>Upon the query execution, runtime statistics are sent to Query Store.</a:t>
            </a:r>
          </a:p>
          <a:p>
            <a:pPr lvl="1"/>
            <a:r>
              <a:rPr lang="en-US" dirty="0"/>
              <a:t>During the compile and check for recompile phases, SQL Server determines if there's a plan in Query Store that should be applied for the currently running query.</a:t>
            </a:r>
            <a:endParaRPr lang="de-DE" dirty="0"/>
          </a:p>
        </p:txBody>
      </p:sp>
      <p:pic>
        <p:nvPicPr>
          <p:cNvPr id="2054" name="Picture 6" descr="Query Store process plan">
            <a:extLst>
              <a:ext uri="{FF2B5EF4-FFF2-40B4-BE49-F238E27FC236}">
                <a16:creationId xmlns:a16="http://schemas.microsoft.com/office/drawing/2014/main" id="{76A4326B-AFCA-ECC4-4231-3A8F87C766FF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5295" y="1665288"/>
            <a:ext cx="5584825" cy="23812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64550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40F899-EE6B-9D37-1AE4-21C4EBBA7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Query Store – Recommended Settings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C11F9B-D5CD-2A65-F03C-50F9A098458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tabLst>
                <a:tab pos="5019675" algn="r"/>
              </a:tabLst>
            </a:pPr>
            <a:r>
              <a:rPr lang="de-DE" dirty="0"/>
              <a:t>Data </a:t>
            </a:r>
            <a:r>
              <a:rPr lang="de-DE" dirty="0" err="1"/>
              <a:t>Flush</a:t>
            </a:r>
            <a:r>
              <a:rPr lang="de-DE" dirty="0"/>
              <a:t> </a:t>
            </a:r>
            <a:r>
              <a:rPr lang="de-DE" dirty="0" err="1"/>
              <a:t>Interval</a:t>
            </a:r>
            <a:r>
              <a:rPr lang="de-DE" dirty="0"/>
              <a:t>	15 </a:t>
            </a:r>
            <a:r>
              <a:rPr lang="de-DE" dirty="0" err="1"/>
              <a:t>mins</a:t>
            </a:r>
            <a:endParaRPr lang="de-DE" dirty="0"/>
          </a:p>
          <a:p>
            <a:pPr>
              <a:tabLst>
                <a:tab pos="5019675" algn="r"/>
              </a:tabLst>
            </a:pPr>
            <a:r>
              <a:rPr lang="de-DE" dirty="0" err="1"/>
              <a:t>Statistics</a:t>
            </a:r>
            <a:r>
              <a:rPr lang="de-DE" dirty="0"/>
              <a:t> </a:t>
            </a:r>
            <a:r>
              <a:rPr lang="de-DE" dirty="0" err="1"/>
              <a:t>Collector</a:t>
            </a:r>
            <a:r>
              <a:rPr lang="de-DE" dirty="0"/>
              <a:t> </a:t>
            </a:r>
            <a:r>
              <a:rPr lang="de-DE" dirty="0" err="1"/>
              <a:t>Interval</a:t>
            </a:r>
            <a:r>
              <a:rPr lang="de-DE" dirty="0"/>
              <a:t>	1 Hour</a:t>
            </a:r>
          </a:p>
          <a:p>
            <a:pPr>
              <a:tabLst>
                <a:tab pos="5019675" algn="r"/>
              </a:tabLst>
            </a:pPr>
            <a:r>
              <a:rPr lang="de-DE" dirty="0"/>
              <a:t>Max Size (MB)	1.024 MB</a:t>
            </a:r>
          </a:p>
          <a:p>
            <a:pPr>
              <a:tabLst>
                <a:tab pos="5019675" algn="r"/>
              </a:tabLst>
            </a:pPr>
            <a:r>
              <a:rPr lang="de-DE" dirty="0"/>
              <a:t>Query Store Capture Mode	Auto</a:t>
            </a:r>
          </a:p>
          <a:p>
            <a:pPr>
              <a:tabLst>
                <a:tab pos="5019675" algn="r"/>
              </a:tabLst>
            </a:pPr>
            <a:r>
              <a:rPr lang="de-DE" dirty="0" err="1"/>
              <a:t>Stale</a:t>
            </a:r>
            <a:r>
              <a:rPr lang="de-DE" dirty="0"/>
              <a:t> Query Threshold	7 Days</a:t>
            </a:r>
          </a:p>
          <a:p>
            <a:pPr>
              <a:tabLst>
                <a:tab pos="5019675" algn="r"/>
              </a:tabLst>
            </a:pPr>
            <a:r>
              <a:rPr lang="de-DE" dirty="0"/>
              <a:t>Wait </a:t>
            </a:r>
            <a:r>
              <a:rPr lang="de-DE" dirty="0" err="1"/>
              <a:t>Statistics</a:t>
            </a:r>
            <a:r>
              <a:rPr lang="de-DE" dirty="0"/>
              <a:t> Capture Mode	On</a:t>
            </a:r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31D6CE66-8FCF-B468-D447-8C9BA19F337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665792" y="1665288"/>
            <a:ext cx="4797666" cy="4572000"/>
          </a:xfrm>
        </p:spPr>
      </p:pic>
    </p:spTree>
    <p:extLst>
      <p:ext uri="{BB962C8B-B14F-4D97-AF65-F5344CB8AC3E}">
        <p14:creationId xmlns:p14="http://schemas.microsoft.com/office/powerpoint/2010/main" val="18236436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723960-254C-0907-5845-B331D5CE4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Query Store – Hands On/Demo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5CD2D06-DE0C-4810-E268-11D021E21C7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lvl="1"/>
            <a:r>
              <a:rPr lang="en-US" dirty="0"/>
              <a:t>open the script</a:t>
            </a:r>
            <a:br>
              <a:rPr lang="en-US" dirty="0"/>
            </a:br>
            <a:r>
              <a:rPr lang="en-US" dirty="0"/>
              <a:t>	</a:t>
            </a: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</a:rPr>
              <a:t>0001 – demo of Query </a:t>
            </a:r>
            <a:r>
              <a:rPr lang="en-US" sz="1400" b="1" dirty="0" err="1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</a:rPr>
              <a:t>Store.sql</a:t>
            </a:r>
            <a:endParaRPr lang="en-US" sz="1400" b="1" dirty="0">
              <a:solidFill>
                <a:schemeClr val="accent5">
                  <a:lumMod val="75000"/>
                </a:schemeClr>
              </a:solidFill>
              <a:latin typeface="Lucida Console" panose="020B0609040504020204" pitchFamily="49" charset="0"/>
            </a:endParaRPr>
          </a:p>
          <a:p>
            <a:pPr lvl="1"/>
            <a:r>
              <a:rPr lang="en-US" dirty="0"/>
              <a:t>follow the instructions of the instructor</a:t>
            </a:r>
            <a:endParaRPr lang="en-US" sz="1400" b="1" dirty="0">
              <a:solidFill>
                <a:schemeClr val="accent5">
                  <a:lumMod val="75000"/>
                </a:schemeClr>
              </a:solidFill>
              <a:latin typeface="Lucida Console" panose="020B0609040504020204" pitchFamily="49" charset="0"/>
            </a:endParaRPr>
          </a:p>
          <a:p>
            <a:pPr lvl="1"/>
            <a:r>
              <a:rPr lang="en-US" dirty="0"/>
              <a:t>start SQL Query Stress</a:t>
            </a:r>
          </a:p>
          <a:p>
            <a:pPr lvl="1"/>
            <a:r>
              <a:rPr lang="en-US" dirty="0"/>
              <a:t>Load the pre-</a:t>
            </a:r>
            <a:r>
              <a:rPr lang="en-US" dirty="0" err="1"/>
              <a:t>configuratino</a:t>
            </a:r>
            <a:r>
              <a:rPr lang="en-US" dirty="0"/>
              <a:t> set:</a:t>
            </a:r>
            <a:br>
              <a:rPr lang="en-US" dirty="0"/>
            </a:br>
            <a:r>
              <a:rPr lang="en-US" dirty="0"/>
              <a:t>	</a:t>
            </a:r>
            <a:r>
              <a:rPr lang="en-US" sz="1400" b="1" dirty="0">
                <a:latin typeface="Lucida Console" panose="020B0609040504020204" pitchFamily="49" charset="0"/>
              </a:rPr>
              <a:t>01 – demo of Query </a:t>
            </a:r>
            <a:r>
              <a:rPr lang="en-US" sz="1400" b="1" dirty="0" err="1">
                <a:latin typeface="Lucida Console" panose="020B0609040504020204" pitchFamily="49" charset="0"/>
              </a:rPr>
              <a:t>Store.json</a:t>
            </a:r>
            <a:endParaRPr lang="en-US" sz="1400" b="1" dirty="0">
              <a:latin typeface="Lucida Console" panose="020B0609040504020204" pitchFamily="49" charset="0"/>
            </a:endParaRPr>
          </a:p>
          <a:p>
            <a:pPr lvl="1"/>
            <a:r>
              <a:rPr lang="en-US" dirty="0"/>
              <a:t>follow the next instructions of the instructor</a:t>
            </a:r>
            <a:br>
              <a:rPr lang="en-US" dirty="0"/>
            </a:br>
            <a:r>
              <a:rPr lang="en-US" dirty="0"/>
              <a:t>see the different execution plans in Query Store</a:t>
            </a:r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6326EA80-02C7-8A5C-568B-41962E34B4C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272211" y="1665288"/>
            <a:ext cx="5584825" cy="3989938"/>
          </a:xfrm>
        </p:spPr>
      </p:pic>
    </p:spTree>
    <p:extLst>
      <p:ext uri="{BB962C8B-B14F-4D97-AF65-F5344CB8AC3E}">
        <p14:creationId xmlns:p14="http://schemas.microsoft.com/office/powerpoint/2010/main" val="18174278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52ED7381-DAF8-0CC9-1CDF-49D02CDCAC0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Performance Monitor</a:t>
            </a:r>
            <a:br>
              <a:rPr lang="de-DE" dirty="0"/>
            </a:br>
            <a:r>
              <a:rPr lang="de-DE" dirty="0"/>
              <a:t>Windows Admin Center</a:t>
            </a:r>
          </a:p>
        </p:txBody>
      </p:sp>
      <p:sp>
        <p:nvSpPr>
          <p:cNvPr id="6" name="Untertitel 5">
            <a:extLst>
              <a:ext uri="{FF2B5EF4-FFF2-40B4-BE49-F238E27FC236}">
                <a16:creationId xmlns:a16="http://schemas.microsoft.com/office/drawing/2014/main" id="{56026DDA-7B75-F22C-785D-CADE998878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Source Tool for Resource Performance</a:t>
            </a:r>
          </a:p>
        </p:txBody>
      </p:sp>
    </p:spTree>
    <p:extLst>
      <p:ext uri="{BB962C8B-B14F-4D97-AF65-F5344CB8AC3E}">
        <p14:creationId xmlns:p14="http://schemas.microsoft.com/office/powerpoint/2010/main" val="41649464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9E1F62-D3F9-22C0-5FC4-15D6BC48B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Windows Admin Center vs. PerfMon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F86535C-6B8A-1020-24C2-3B40252003A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Windows Admin Server</a:t>
            </a:r>
          </a:p>
          <a:p>
            <a:pPr lvl="1"/>
            <a:r>
              <a:rPr lang="en-US" dirty="0"/>
              <a:t>Windows Admin Center is generally more suitable for administrators looking for an all-in-one, user-friendly tool for managing multiple servers</a:t>
            </a:r>
          </a:p>
          <a:p>
            <a:pPr lvl="1"/>
            <a:r>
              <a:rPr lang="en-US" dirty="0"/>
              <a:t>ease of use</a:t>
            </a:r>
          </a:p>
          <a:p>
            <a:pPr lvl="1"/>
            <a:r>
              <a:rPr lang="en-US" dirty="0"/>
              <a:t>centralized management.</a:t>
            </a:r>
          </a:p>
          <a:p>
            <a:r>
              <a:rPr lang="en-US" dirty="0"/>
              <a:t>Performance Monitor</a:t>
            </a:r>
          </a:p>
          <a:p>
            <a:pPr lvl="1"/>
            <a:r>
              <a:rPr lang="en-US" dirty="0"/>
              <a:t> PerfMon remains a powerful tool for more in-depth, counter-specific monitoring on individual servers, </a:t>
            </a:r>
          </a:p>
          <a:p>
            <a:pPr lvl="1"/>
            <a:r>
              <a:rPr lang="en-US" dirty="0"/>
              <a:t>use may be limited to specific scenarios where detailed monitoring is required without needing broader server management features.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Use Windows Admin Center for day-to-day management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Use PerfMon as a specialized tool for deep performance diagnostics</a:t>
            </a:r>
            <a:endParaRPr lang="de-DE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CA123964-A637-F182-9BC8-5AB5D76803C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557214" y="1665288"/>
            <a:ext cx="5014822" cy="4572000"/>
          </a:xfr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552688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8351C8-F520-0BB7-EF18-7A877A211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7A56B76-8DFF-FA77-B3F1-770EEE365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Windows Admin Center – Hands On/Demo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3DA8CB9-CD42-3195-691F-49C817CF1EC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lvl="1"/>
            <a:r>
              <a:rPr lang="en-US" dirty="0"/>
              <a:t>open the script</a:t>
            </a:r>
            <a:br>
              <a:rPr lang="en-US" dirty="0"/>
            </a:br>
            <a:r>
              <a:rPr lang="en-US" dirty="0"/>
              <a:t>	</a:t>
            </a: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</a:rPr>
              <a:t>02 – demo of Windows Admin </a:t>
            </a:r>
            <a:r>
              <a:rPr lang="en-US" sz="1400" b="1" dirty="0" err="1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</a:rPr>
              <a:t>Center.sql</a:t>
            </a:r>
            <a:endParaRPr lang="en-US" sz="1400" b="1" dirty="0">
              <a:solidFill>
                <a:schemeClr val="accent5">
                  <a:lumMod val="75000"/>
                </a:schemeClr>
              </a:solidFill>
              <a:latin typeface="Lucida Console" panose="020B0609040504020204" pitchFamily="49" charset="0"/>
            </a:endParaRPr>
          </a:p>
          <a:p>
            <a:pPr lvl="1"/>
            <a:r>
              <a:rPr lang="en-US" dirty="0"/>
              <a:t>follow the instructions of the instructor</a:t>
            </a:r>
            <a:endParaRPr lang="en-US" sz="1400" b="1" dirty="0">
              <a:solidFill>
                <a:schemeClr val="accent5">
                  <a:lumMod val="75000"/>
                </a:schemeClr>
              </a:solidFill>
              <a:latin typeface="Lucida Console" panose="020B0609040504020204" pitchFamily="49" charset="0"/>
            </a:endParaRPr>
          </a:p>
          <a:p>
            <a:pPr lvl="1"/>
            <a:r>
              <a:rPr lang="en-US" dirty="0"/>
              <a:t>start SQL Query Stress</a:t>
            </a:r>
          </a:p>
          <a:p>
            <a:pPr lvl="1"/>
            <a:r>
              <a:rPr lang="en-US" dirty="0"/>
              <a:t>Load the pre-configuration set:</a:t>
            </a:r>
            <a:br>
              <a:rPr lang="en-US" dirty="0"/>
            </a:br>
            <a:r>
              <a:rPr lang="en-US" dirty="0"/>
              <a:t>	</a:t>
            </a:r>
            <a:r>
              <a:rPr lang="en-US" sz="1400" b="1" dirty="0">
                <a:latin typeface="Lucida Console" panose="020B0609040504020204" pitchFamily="49" charset="0"/>
              </a:rPr>
              <a:t>Windows Admin Center </a:t>
            </a:r>
            <a:r>
              <a:rPr lang="en-US" sz="1400" b="1" dirty="0" err="1">
                <a:latin typeface="Lucida Console" panose="020B0609040504020204" pitchFamily="49" charset="0"/>
              </a:rPr>
              <a:t>Demo.json</a:t>
            </a:r>
            <a:endParaRPr lang="en-US" sz="1400" b="1" dirty="0">
              <a:latin typeface="Lucida Console" panose="020B0609040504020204" pitchFamily="49" charset="0"/>
            </a:endParaRPr>
          </a:p>
          <a:p>
            <a:pPr lvl="1"/>
            <a:r>
              <a:rPr lang="en-US" dirty="0"/>
              <a:t>follow the next instructions of the instructor</a:t>
            </a:r>
            <a:br>
              <a:rPr lang="en-US" dirty="0"/>
            </a:br>
            <a:r>
              <a:rPr lang="en-US" dirty="0"/>
              <a:t>see the different execution plans in Query Store</a:t>
            </a:r>
          </a:p>
        </p:txBody>
      </p:sp>
      <p:pic>
        <p:nvPicPr>
          <p:cNvPr id="7" name="Inhaltsplatzhalter 5">
            <a:extLst>
              <a:ext uri="{FF2B5EF4-FFF2-40B4-BE49-F238E27FC236}">
                <a16:creationId xmlns:a16="http://schemas.microsoft.com/office/drawing/2014/main" id="{26AA90EF-3BD3-52CD-3AB6-ABD5A1E9F78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557214" y="1665288"/>
            <a:ext cx="5014822" cy="4572000"/>
          </a:xfr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115738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11370DAF-B7B4-D9B5-6CC8-D2CDCEFD8C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Scenario #1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0F6657EA-C526-1DA9-88E9-04AC462B1B7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When functions don‘t work</a:t>
            </a:r>
          </a:p>
        </p:txBody>
      </p:sp>
    </p:spTree>
    <p:extLst>
      <p:ext uri="{BB962C8B-B14F-4D97-AF65-F5344CB8AC3E}">
        <p14:creationId xmlns:p14="http://schemas.microsoft.com/office/powerpoint/2010/main" val="36520380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6EB023-6951-7EFF-FE4D-2047F18A9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Scenario 1 – Problem Description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A8154F0-962D-21DD-4A9F-7CFF4A489F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Description</a:t>
            </a:r>
          </a:p>
          <a:p>
            <a:pPr lvl="1"/>
            <a:r>
              <a:rPr lang="en-US" dirty="0"/>
              <a:t>A job engine produces 24/7 for ~16.000.000 customers on a daily basis a class-type calculation. Since lots of customers must be recalculated every day, the job engine is working with 20 simultaneous processes.</a:t>
            </a:r>
          </a:p>
          <a:p>
            <a:pPr lvl="1"/>
            <a:r>
              <a:rPr lang="en-US" dirty="0"/>
              <a:t>The developers are using a User Defined Function for the calculation of the class type!</a:t>
            </a:r>
          </a:p>
          <a:p>
            <a:r>
              <a:rPr lang="en-US" b="1" dirty="0"/>
              <a:t>Problem</a:t>
            </a:r>
          </a:p>
          <a:p>
            <a:pPr lvl="1"/>
            <a:r>
              <a:rPr lang="en-US" dirty="0"/>
              <a:t>If the job queue has a particularly large number of entries (&gt; 1,000,000), performance drops and the system is no longer able to respond!</a:t>
            </a:r>
          </a:p>
          <a:p>
            <a:pPr lvl="1"/>
            <a:r>
              <a:rPr lang="en-US" dirty="0"/>
              <a:t>We observe high latency on the system database TEMPDB when the number of entries raise (correlation?).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753821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FBCE3D-0415-83FB-7AA5-95F3ADFD8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 1 - Preparation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157281D-DF73-5D1C-793E-C5F1FC4802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Demo Configuration</a:t>
            </a:r>
          </a:p>
          <a:p>
            <a:pPr lvl="1"/>
            <a:r>
              <a:rPr lang="en-US" dirty="0"/>
              <a:t>To demonstrate the problem, two tables (</a:t>
            </a:r>
            <a:r>
              <a:rPr lang="en-US" b="1" dirty="0"/>
              <a:t>[</a:t>
            </a:r>
            <a:r>
              <a:rPr lang="en-US" b="1" dirty="0" err="1"/>
              <a:t>dbo</a:t>
            </a:r>
            <a:r>
              <a:rPr lang="en-US" b="1" dirty="0"/>
              <a:t>].[customers] </a:t>
            </a:r>
            <a:r>
              <a:rPr lang="en-US" dirty="0"/>
              <a:t>and </a:t>
            </a:r>
            <a:r>
              <a:rPr lang="en-US" b="1" dirty="0"/>
              <a:t>[</a:t>
            </a:r>
            <a:r>
              <a:rPr lang="en-US" b="1" dirty="0" err="1"/>
              <a:t>dbo</a:t>
            </a:r>
            <a:r>
              <a:rPr lang="en-US" b="1" dirty="0"/>
              <a:t>].[orders]</a:t>
            </a:r>
            <a:r>
              <a:rPr lang="en-US" dirty="0"/>
              <a:t>) are used.</a:t>
            </a:r>
          </a:p>
          <a:p>
            <a:pPr lvl="1"/>
            <a:r>
              <a:rPr lang="en-US" dirty="0"/>
              <a:t>A user-defined function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calculate_customer_category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  <a:r>
              <a:rPr lang="en-US" dirty="0"/>
              <a:t> is implemented.</a:t>
            </a:r>
          </a:p>
          <a:p>
            <a:pPr lvl="1"/>
            <a:r>
              <a:rPr lang="en-US" dirty="0"/>
              <a:t>It analyzes the orders for a customer (identified by customer number (</a:t>
            </a:r>
            <a:r>
              <a:rPr lang="en-US" b="1" dirty="0"/>
              <a:t>[</a:t>
            </a:r>
            <a:r>
              <a:rPr lang="en-US" b="1" dirty="0" err="1"/>
              <a:t>c_custkey</a:t>
            </a:r>
            <a:r>
              <a:rPr lang="en-US" b="1" dirty="0"/>
              <a:t>]</a:t>
            </a:r>
            <a:r>
              <a:rPr lang="en-US" dirty="0"/>
              <a:t>) and categorizes this customer.</a:t>
            </a:r>
          </a:p>
          <a:p>
            <a:r>
              <a:rPr lang="en-US" b="1" dirty="0"/>
              <a:t>Demo Setup</a:t>
            </a:r>
          </a:p>
          <a:p>
            <a:pPr lvl="1"/>
            <a:r>
              <a:rPr lang="en-US" dirty="0"/>
              <a:t>execute the script </a:t>
            </a:r>
            <a:r>
              <a:rPr lang="en-US" sz="2000" b="1" dirty="0">
                <a:solidFill>
                  <a:schemeClr val="accent5"/>
                </a:solidFill>
                <a:latin typeface="Lucida Console" panose="020B0609040504020204" pitchFamily="49" charset="0"/>
              </a:rPr>
              <a:t>01 - scenario 01 – </a:t>
            </a:r>
            <a:r>
              <a:rPr lang="en-US" sz="2000" b="1" dirty="0" err="1">
                <a:solidFill>
                  <a:schemeClr val="accent5"/>
                </a:solidFill>
                <a:latin typeface="Lucida Console" panose="020B0609040504020204" pitchFamily="49" charset="0"/>
              </a:rPr>
              <a:t>preparation.sql</a:t>
            </a:r>
            <a:r>
              <a:rPr lang="en-US" sz="2000" dirty="0"/>
              <a:t> </a:t>
            </a:r>
            <a:r>
              <a:rPr lang="en-US" dirty="0"/>
              <a:t>to prepare [</a:t>
            </a:r>
            <a:r>
              <a:rPr lang="en-US" dirty="0" err="1"/>
              <a:t>dbo</a:t>
            </a:r>
            <a:r>
              <a:rPr lang="en-US" dirty="0"/>
              <a:t>].[customers] and [</a:t>
            </a:r>
            <a:r>
              <a:rPr lang="en-US" dirty="0" err="1"/>
              <a:t>dbo</a:t>
            </a:r>
            <a:r>
              <a:rPr lang="en-US" dirty="0"/>
              <a:t>].[orders] with indexes and Foreign Key References.</a:t>
            </a:r>
          </a:p>
          <a:p>
            <a:pPr lvl="1"/>
            <a:r>
              <a:rPr lang="en-US" dirty="0"/>
              <a:t>execute the script </a:t>
            </a:r>
            <a:r>
              <a:rPr lang="en-US" sz="2000" b="1" dirty="0">
                <a:solidFill>
                  <a:schemeClr val="accent5"/>
                </a:solidFill>
                <a:latin typeface="Lucida Console" panose="020B0609040504020204" pitchFamily="49" charset="0"/>
              </a:rPr>
              <a:t>02 - scenario 01 - user defined </a:t>
            </a:r>
            <a:r>
              <a:rPr lang="en-US" sz="2000" b="1" dirty="0" err="1">
                <a:solidFill>
                  <a:schemeClr val="accent5"/>
                </a:solidFill>
                <a:latin typeface="Lucida Console" panose="020B0609040504020204" pitchFamily="49" charset="0"/>
              </a:rPr>
              <a:t>function.sql</a:t>
            </a:r>
            <a:r>
              <a:rPr lang="en-US" sz="2000" b="1" dirty="0">
                <a:solidFill>
                  <a:schemeClr val="accent5"/>
                </a:solidFill>
                <a:latin typeface="Lucida Console" panose="020B0609040504020204" pitchFamily="49" charset="0"/>
              </a:rPr>
              <a:t> </a:t>
            </a:r>
            <a:r>
              <a:rPr lang="en-US" dirty="0"/>
              <a:t>to create the user defined function.</a:t>
            </a:r>
          </a:p>
          <a:p>
            <a:pPr lvl="1"/>
            <a:r>
              <a:rPr lang="en-US" dirty="0"/>
              <a:t>Execute the script </a:t>
            </a:r>
            <a:r>
              <a:rPr lang="en-US" b="1" dirty="0">
                <a:solidFill>
                  <a:schemeClr val="accent5"/>
                </a:solidFill>
                <a:latin typeface="Lucida Console" panose="020B0609040504020204" pitchFamily="49" charset="0"/>
              </a:rPr>
              <a:t>03 - scenario 01 - </a:t>
            </a:r>
            <a:r>
              <a:rPr lang="en-US" b="1" dirty="0" err="1">
                <a:solidFill>
                  <a:schemeClr val="accent5"/>
                </a:solidFill>
                <a:latin typeface="Lucida Console" panose="020B0609040504020204" pitchFamily="49" charset="0"/>
              </a:rPr>
              <a:t>get_customer_classification.sql</a:t>
            </a:r>
            <a:r>
              <a:rPr lang="en-US" sz="2000" b="1" dirty="0">
                <a:solidFill>
                  <a:schemeClr val="accent5"/>
                </a:solidFill>
                <a:latin typeface="Lucida Console" panose="020B0609040504020204" pitchFamily="49" charset="0"/>
              </a:rPr>
              <a:t> </a:t>
            </a:r>
            <a:r>
              <a:rPr lang="en-US" dirty="0"/>
              <a:t>to create the stored procedure.</a:t>
            </a:r>
          </a:p>
        </p:txBody>
      </p:sp>
    </p:spTree>
    <p:extLst>
      <p:ext uri="{BB962C8B-B14F-4D97-AF65-F5344CB8AC3E}">
        <p14:creationId xmlns:p14="http://schemas.microsoft.com/office/powerpoint/2010/main" val="21569396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562D85-22CE-8C9A-112E-465FF303D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 01 – Test Environment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3F04A0-E173-0D1F-03D7-387856EB625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Load the stress test</a:t>
            </a:r>
            <a:br>
              <a:rPr lang="en-US" dirty="0"/>
            </a:br>
            <a:r>
              <a:rPr lang="en-US" dirty="0">
                <a:latin typeface="Lucida Console" panose="020B0609040504020204" pitchFamily="49" charset="0"/>
              </a:rPr>
              <a:t>Workshop - scenario 01.json</a:t>
            </a:r>
            <a:br>
              <a:rPr lang="en-US" dirty="0">
                <a:latin typeface="Lucida Console" panose="020B0609040504020204" pitchFamily="49" charset="0"/>
              </a:rPr>
            </a:br>
            <a:r>
              <a:rPr lang="en-US" dirty="0"/>
              <a:t>as configuration in SQLQueryStress</a:t>
            </a:r>
          </a:p>
          <a:p>
            <a:r>
              <a:rPr lang="en-US" dirty="0"/>
              <a:t>Load the analysis script</a:t>
            </a:r>
            <a:br>
              <a:rPr lang="en-US" dirty="0"/>
            </a:br>
            <a:r>
              <a:rPr lang="en-US" dirty="0">
                <a:latin typeface="Lucida Console" panose="020B0609040504020204" pitchFamily="49" charset="0"/>
              </a:rPr>
              <a:t>Workshop - scenario 01.json</a:t>
            </a:r>
            <a:br>
              <a:rPr lang="en-US" dirty="0">
                <a:latin typeface="Lucida Console" panose="020B0609040504020204" pitchFamily="49" charset="0"/>
              </a:rPr>
            </a:br>
            <a:r>
              <a:rPr lang="en-US" dirty="0"/>
              <a:t>into Windows Admin Server</a:t>
            </a:r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35C0CDBC-A16E-660C-F67A-BD4D5ACA58E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272213" y="2222959"/>
            <a:ext cx="5584825" cy="3456658"/>
          </a:xfrm>
        </p:spPr>
      </p:pic>
    </p:spTree>
    <p:extLst>
      <p:ext uri="{BB962C8B-B14F-4D97-AF65-F5344CB8AC3E}">
        <p14:creationId xmlns:p14="http://schemas.microsoft.com/office/powerpoint/2010/main" val="9201531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F61C82-AE21-672C-7462-A5E402111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 1 - Findings 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5A56122-B5DB-9476-584C-79DB6AD814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Avoid multiple manipulations on temporary objects</a:t>
            </a:r>
            <a:br>
              <a:rPr lang="en-US" dirty="0"/>
            </a:br>
            <a:r>
              <a:rPr lang="en-US" dirty="0"/>
              <a:t>This technique will reduce TEMPDB activity</a:t>
            </a:r>
          </a:p>
          <a:p>
            <a:r>
              <a:rPr lang="en-US" dirty="0"/>
              <a:t>Avoid </a:t>
            </a:r>
            <a:r>
              <a:rPr lang="en-US" dirty="0" err="1"/>
              <a:t>NONSargable</a:t>
            </a:r>
            <a:r>
              <a:rPr lang="en-US" dirty="0"/>
              <a:t> expressions and replace them with </a:t>
            </a:r>
            <a:r>
              <a:rPr lang="en-US" dirty="0" err="1"/>
              <a:t>SARGable</a:t>
            </a:r>
            <a:r>
              <a:rPr lang="en-US" dirty="0"/>
              <a:t> expressions</a:t>
            </a:r>
            <a:br>
              <a:rPr lang="en-US" dirty="0"/>
            </a:br>
            <a:r>
              <a:rPr lang="en-US" dirty="0" err="1"/>
              <a:t>NONSargable</a:t>
            </a:r>
            <a:r>
              <a:rPr lang="en-US" dirty="0"/>
              <a:t> expressions will lead to</a:t>
            </a:r>
          </a:p>
          <a:p>
            <a:pPr lvl="1"/>
            <a:r>
              <a:rPr lang="en-US" dirty="0"/>
              <a:t>Residual predicates</a:t>
            </a:r>
          </a:p>
          <a:p>
            <a:pPr lvl="1"/>
            <a:r>
              <a:rPr lang="en-US" dirty="0"/>
              <a:t>FULL scans</a:t>
            </a:r>
          </a:p>
          <a:p>
            <a:r>
              <a:rPr lang="en-US" dirty="0"/>
              <a:t>Avoid to use SCALAR or Multiline functions and try to rewrite them as an</a:t>
            </a:r>
            <a:br>
              <a:rPr lang="en-US" dirty="0"/>
            </a:br>
            <a:r>
              <a:rPr lang="en-US" dirty="0"/>
              <a:t>Inline-Function.</a:t>
            </a:r>
            <a:br>
              <a:rPr lang="en-US" dirty="0"/>
            </a:br>
            <a:r>
              <a:rPr lang="en-US" dirty="0"/>
              <a:t>Inline Functions can be interpreted by the compiler as relational operations within the same query (like views – but with parameters!)</a:t>
            </a:r>
          </a:p>
        </p:txBody>
      </p:sp>
    </p:spTree>
    <p:extLst>
      <p:ext uri="{BB962C8B-B14F-4D97-AF65-F5344CB8AC3E}">
        <p14:creationId xmlns:p14="http://schemas.microsoft.com/office/powerpoint/2010/main" val="17433796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087C9-911B-8F39-53A0-EF27393B2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28083150-40FB-524A-F247-00472CCAB8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Scenario #2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9FA89152-22B6-0091-65D6-3FD4590C94D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Stop using table variables and temporary objects</a:t>
            </a:r>
          </a:p>
        </p:txBody>
      </p:sp>
    </p:spTree>
    <p:extLst>
      <p:ext uri="{BB962C8B-B14F-4D97-AF65-F5344CB8AC3E}">
        <p14:creationId xmlns:p14="http://schemas.microsoft.com/office/powerpoint/2010/main" val="35248991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B460C-EBAD-15DC-7279-42EBF2B53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FFAB14-CB47-012B-4CEC-5F357B3DC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 2 – Problem Description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1457BA8-2A88-3CC3-2BE1-F8EB62F4548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Description</a:t>
            </a:r>
          </a:p>
          <a:p>
            <a:pPr lvl="1"/>
            <a:r>
              <a:rPr lang="en-US" sz="1600" b="0" i="0" dirty="0">
                <a:solidFill>
                  <a:srgbClr val="1F2328"/>
                </a:solidFill>
                <a:effectLst/>
                <a:latin typeface="-apple-system"/>
              </a:rPr>
              <a:t>A software uses a table to queue jobs. Whenever a new job is to be queued, its details are written into this table. The table grows very quickly, as up to 100,000 jobs can be scheduled in one hour.</a:t>
            </a:r>
          </a:p>
          <a:p>
            <a:pPr lvl="1"/>
            <a:r>
              <a:rPr lang="en-US" sz="1600" b="0" i="0" dirty="0">
                <a:solidFill>
                  <a:srgbClr val="1F2328"/>
                </a:solidFill>
                <a:effectLst/>
                <a:latin typeface="-apple-system"/>
              </a:rPr>
              <a:t>A stored procedure manage the deletion of executed jobs.</a:t>
            </a:r>
          </a:p>
          <a:p>
            <a:pPr lvl="1"/>
            <a:r>
              <a:rPr lang="en-US" sz="1600" b="0" i="0" dirty="0">
                <a:solidFill>
                  <a:srgbClr val="1F2328"/>
                </a:solidFill>
                <a:effectLst/>
                <a:latin typeface="-apple-system"/>
              </a:rPr>
              <a:t>The first parameter specifies how many job entries should be deleted.</a:t>
            </a:r>
          </a:p>
          <a:p>
            <a:pPr lvl="1"/>
            <a:r>
              <a:rPr lang="en-US" sz="1600" b="0" i="0" dirty="0">
                <a:solidFill>
                  <a:srgbClr val="1F2328"/>
                </a:solidFill>
                <a:effectLst/>
                <a:latin typeface="-apple-system"/>
              </a:rPr>
              <a:t>The second parameter specifies the batch size.</a:t>
            </a:r>
            <a:endParaRPr lang="en-US" sz="1600" b="1" dirty="0"/>
          </a:p>
          <a:p>
            <a:r>
              <a:rPr lang="en-US" b="1" dirty="0"/>
              <a:t>Problem</a:t>
            </a:r>
          </a:p>
          <a:p>
            <a:pPr lvl="1"/>
            <a:r>
              <a:rPr lang="en-US" sz="1600" dirty="0"/>
              <a:t>Sometimes the table is growing very fast and the maintenance job cannot scale.</a:t>
            </a:r>
          </a:p>
          <a:p>
            <a:pPr lvl="1"/>
            <a:r>
              <a:rPr lang="en-US" sz="1600" dirty="0"/>
              <a:t>The table is growing the system suffers from performance problems.</a:t>
            </a:r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85B35874-04DB-9823-9669-87D39EEEFB1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778625" y="1665288"/>
            <a:ext cx="4572000" cy="4572000"/>
          </a:xfrm>
        </p:spPr>
      </p:pic>
    </p:spTree>
    <p:extLst>
      <p:ext uri="{BB962C8B-B14F-4D97-AF65-F5344CB8AC3E}">
        <p14:creationId xmlns:p14="http://schemas.microsoft.com/office/powerpoint/2010/main" val="42572629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7336BE62-59FD-34DF-657E-584EC9633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 2 - Workflow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D3AFB6D-CEC8-BACD-DE80-0B21255F3F1E}"/>
              </a:ext>
            </a:extLst>
          </p:cNvPr>
          <p:cNvSpPr txBox="1"/>
          <p:nvPr/>
        </p:nvSpPr>
        <p:spPr>
          <a:xfrm>
            <a:off x="334965" y="3059668"/>
            <a:ext cx="4415426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EXEC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@return_value 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</a:t>
            </a:r>
            <a:r>
              <a:rPr lang="en-US" sz="1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jobqueue_delete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@rowlimit 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3000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@maxlimit 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50000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400" dirty="0"/>
          </a:p>
        </p:txBody>
      </p: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508006A0-7127-7B1F-0571-0A06165ED5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9815097"/>
              </p:ext>
            </p:extLst>
          </p:nvPr>
        </p:nvGraphicFramePr>
        <p:xfrm>
          <a:off x="5438382" y="2971800"/>
          <a:ext cx="2202493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2493">
                  <a:extLst>
                    <a:ext uri="{9D8B030D-6E8A-4147-A177-3AD203B41FA5}">
                      <a16:colId xmlns:a16="http://schemas.microsoft.com/office/drawing/2014/main" val="3385209766"/>
                    </a:ext>
                  </a:extLst>
                </a:gridCol>
              </a:tblGrid>
              <a:tr h="231732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latin typeface="Lucida Console" panose="020B0609040504020204" pitchFamily="49" charset="0"/>
                        </a:rPr>
                        <a:t>dbo.jobqueue</a:t>
                      </a:r>
                      <a:endParaRPr lang="en-US" sz="1400" dirty="0">
                        <a:latin typeface="Lucida Console" panose="020B060904050402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0080794"/>
                  </a:ext>
                </a:extLst>
              </a:tr>
              <a:tr h="231732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Lucida Console" panose="020B0609040504020204" pitchFamily="49" charset="0"/>
                        </a:rPr>
                        <a:t>TOP (@maxlimit)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9904626"/>
                  </a:ext>
                </a:extLst>
              </a:tr>
              <a:tr h="231732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Lucida Console" panose="020B0609040504020204" pitchFamily="49" charset="0"/>
                        </a:rPr>
                        <a:t>WHERE generation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663872"/>
                  </a:ext>
                </a:extLst>
              </a:tr>
            </a:tbl>
          </a:graphicData>
        </a:graphic>
      </p:graphicFrame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6298B4B0-4447-4661-5FEF-B1C3470C6C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3672637"/>
              </p:ext>
            </p:extLst>
          </p:nvPr>
        </p:nvGraphicFramePr>
        <p:xfrm>
          <a:off x="8008305" y="2368463"/>
          <a:ext cx="2202493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2493">
                  <a:extLst>
                    <a:ext uri="{9D8B030D-6E8A-4147-A177-3AD203B41FA5}">
                      <a16:colId xmlns:a16="http://schemas.microsoft.com/office/drawing/2014/main" val="3385209766"/>
                    </a:ext>
                  </a:extLst>
                </a:gridCol>
              </a:tblGrid>
              <a:tr h="231732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Lucida Console" panose="020B0609040504020204" pitchFamily="49" charset="0"/>
                        </a:rPr>
                        <a:t>@items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0080794"/>
                  </a:ext>
                </a:extLst>
              </a:tr>
              <a:tr h="231732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latin typeface="Lucida Console" panose="020B0609040504020204" pitchFamily="49" charset="0"/>
                        </a:rPr>
                        <a:t>Singleguid</a:t>
                      </a:r>
                      <a:endParaRPr lang="en-US" sz="1400" dirty="0">
                        <a:latin typeface="Lucida Console" panose="020B060904050402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9904626"/>
                  </a:ext>
                </a:extLst>
              </a:tr>
              <a:tr h="231732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Lucida Console" panose="020B0609040504020204" pitchFamily="49" charset="0"/>
                        </a:rPr>
                        <a:t>(TOP @rowlimit)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2513394"/>
                  </a:ext>
                </a:extLst>
              </a:tr>
            </a:tbl>
          </a:graphicData>
        </a:graphic>
      </p:graphicFrame>
      <p:sp>
        <p:nvSpPr>
          <p:cNvPr id="9" name="Geschweifte Klammer links 8">
            <a:extLst>
              <a:ext uri="{FF2B5EF4-FFF2-40B4-BE49-F238E27FC236}">
                <a16:creationId xmlns:a16="http://schemas.microsoft.com/office/drawing/2014/main" id="{5895D0D6-71FA-2577-C401-0427948120CB}"/>
              </a:ext>
            </a:extLst>
          </p:cNvPr>
          <p:cNvSpPr/>
          <p:nvPr/>
        </p:nvSpPr>
        <p:spPr>
          <a:xfrm>
            <a:off x="4856392" y="2229634"/>
            <a:ext cx="475989" cy="3757808"/>
          </a:xfrm>
          <a:prstGeom prst="leftBrace">
            <a:avLst>
              <a:gd name="adj1" fmla="val 8333"/>
              <a:gd name="adj2" fmla="val 31002"/>
            </a:avLst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feil: gebogen 9">
            <a:extLst>
              <a:ext uri="{FF2B5EF4-FFF2-40B4-BE49-F238E27FC236}">
                <a16:creationId xmlns:a16="http://schemas.microsoft.com/office/drawing/2014/main" id="{753BF07E-FCCC-1A47-D2E2-E0260FFC93C7}"/>
              </a:ext>
            </a:extLst>
          </p:cNvPr>
          <p:cNvSpPr/>
          <p:nvPr/>
        </p:nvSpPr>
        <p:spPr>
          <a:xfrm>
            <a:off x="6452713" y="2567836"/>
            <a:ext cx="1555591" cy="403964"/>
          </a:xfrm>
          <a:prstGeom prst="ben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11" name="Tabelle 10">
            <a:extLst>
              <a:ext uri="{FF2B5EF4-FFF2-40B4-BE49-F238E27FC236}">
                <a16:creationId xmlns:a16="http://schemas.microsoft.com/office/drawing/2014/main" id="{CE54F415-BFEF-9759-6FFB-7EDF222A48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4958499"/>
              </p:ext>
            </p:extLst>
          </p:nvPr>
        </p:nvGraphicFramePr>
        <p:xfrm>
          <a:off x="8008304" y="3988561"/>
          <a:ext cx="2202493" cy="30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2493">
                  <a:extLst>
                    <a:ext uri="{9D8B030D-6E8A-4147-A177-3AD203B41FA5}">
                      <a16:colId xmlns:a16="http://schemas.microsoft.com/office/drawing/2014/main" val="3385209766"/>
                    </a:ext>
                  </a:extLst>
                </a:gridCol>
              </a:tblGrid>
              <a:tr h="231732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Lucida Console" panose="020B0609040504020204" pitchFamily="49" charset="0"/>
                        </a:rPr>
                        <a:t>@itemportion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0080794"/>
                  </a:ext>
                </a:extLst>
              </a:tr>
            </a:tbl>
          </a:graphicData>
        </a:graphic>
      </p:graphicFrame>
      <p:sp>
        <p:nvSpPr>
          <p:cNvPr id="12" name="Pfeil: nach unten 11">
            <a:extLst>
              <a:ext uri="{FF2B5EF4-FFF2-40B4-BE49-F238E27FC236}">
                <a16:creationId xmlns:a16="http://schemas.microsoft.com/office/drawing/2014/main" id="{7E314A04-E213-4C84-8790-37DC5FDE5D3A}"/>
              </a:ext>
            </a:extLst>
          </p:cNvPr>
          <p:cNvSpPr/>
          <p:nvPr/>
        </p:nvSpPr>
        <p:spPr>
          <a:xfrm>
            <a:off x="9006214" y="3282863"/>
            <a:ext cx="190253" cy="7056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lussdiagramm: Verzweigung 12">
            <a:extLst>
              <a:ext uri="{FF2B5EF4-FFF2-40B4-BE49-F238E27FC236}">
                <a16:creationId xmlns:a16="http://schemas.microsoft.com/office/drawing/2014/main" id="{969953FE-8526-20EF-769A-2D869181732A}"/>
              </a:ext>
            </a:extLst>
          </p:cNvPr>
          <p:cNvSpPr/>
          <p:nvPr/>
        </p:nvSpPr>
        <p:spPr>
          <a:xfrm>
            <a:off x="8008304" y="4465339"/>
            <a:ext cx="2202493" cy="579296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Rowcount</a:t>
            </a:r>
            <a:br>
              <a:rPr lang="en-US" sz="1200" dirty="0"/>
            </a:br>
            <a:r>
              <a:rPr lang="en-US" sz="1200" dirty="0"/>
              <a:t>&gt; 0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A89E145-FE07-244D-720B-4AC5E3AD83D2}"/>
              </a:ext>
            </a:extLst>
          </p:cNvPr>
          <p:cNvSpPr txBox="1"/>
          <p:nvPr/>
        </p:nvSpPr>
        <p:spPr>
          <a:xfrm>
            <a:off x="8008304" y="5248405"/>
            <a:ext cx="2202493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Lucida Console" panose="020B0609040504020204" pitchFamily="49" charset="0"/>
              </a:rPr>
              <a:t>UPDATE @items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71EE03A4-C6A5-351E-77D8-60B1E42D297F}"/>
              </a:ext>
            </a:extLst>
          </p:cNvPr>
          <p:cNvSpPr txBox="1"/>
          <p:nvPr/>
        </p:nvSpPr>
        <p:spPr>
          <a:xfrm>
            <a:off x="8008304" y="5819954"/>
            <a:ext cx="2202493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Lucida Console" panose="020B0609040504020204" pitchFamily="49" charset="0"/>
              </a:rPr>
              <a:t>DELETE </a:t>
            </a:r>
            <a:r>
              <a:rPr lang="en-US" sz="1200" dirty="0" err="1">
                <a:latin typeface="Lucida Console" panose="020B0609040504020204" pitchFamily="49" charset="0"/>
              </a:rPr>
              <a:t>dbo.jobqueue</a:t>
            </a:r>
            <a:endParaRPr lang="en-US" sz="1200" dirty="0">
              <a:latin typeface="Lucida Console" panose="020B0609040504020204" pitchFamily="49" charset="0"/>
            </a:endParaRP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641D8598-BD8E-55FD-C8B3-E9A2D371B18F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>
            <a:off x="9109550" y="4293361"/>
            <a:ext cx="1" cy="171978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455B691C-C4DB-C68A-7184-4EFC0AA71BD5}"/>
              </a:ext>
            </a:extLst>
          </p:cNvPr>
          <p:cNvCxnSpPr>
            <a:stCxn id="13" idx="2"/>
            <a:endCxn id="14" idx="0"/>
          </p:cNvCxnSpPr>
          <p:nvPr/>
        </p:nvCxnSpPr>
        <p:spPr>
          <a:xfrm>
            <a:off x="9109551" y="5044635"/>
            <a:ext cx="0" cy="20377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359CDD78-EF19-1F0F-2B65-F150E9BEB2F9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9109551" y="5525404"/>
            <a:ext cx="0" cy="29455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Verbinder: gewinkelt 25">
            <a:extLst>
              <a:ext uri="{FF2B5EF4-FFF2-40B4-BE49-F238E27FC236}">
                <a16:creationId xmlns:a16="http://schemas.microsoft.com/office/drawing/2014/main" id="{1939D2B4-B843-7C84-B725-9E91A841787E}"/>
              </a:ext>
            </a:extLst>
          </p:cNvPr>
          <p:cNvCxnSpPr>
            <a:cxnSpLocks/>
            <a:stCxn id="15" idx="3"/>
            <a:endCxn id="8" idx="3"/>
          </p:cNvCxnSpPr>
          <p:nvPr/>
        </p:nvCxnSpPr>
        <p:spPr>
          <a:xfrm flipV="1">
            <a:off x="10210797" y="2825663"/>
            <a:ext cx="1" cy="3132791"/>
          </a:xfrm>
          <a:prstGeom prst="bentConnector3">
            <a:avLst>
              <a:gd name="adj1" fmla="val 22860100000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feld 32">
            <a:extLst>
              <a:ext uri="{FF2B5EF4-FFF2-40B4-BE49-F238E27FC236}">
                <a16:creationId xmlns:a16="http://schemas.microsoft.com/office/drawing/2014/main" id="{4D0396A5-719C-24C4-A498-CC4306DD835A}"/>
              </a:ext>
            </a:extLst>
          </p:cNvPr>
          <p:cNvSpPr txBox="1"/>
          <p:nvPr/>
        </p:nvSpPr>
        <p:spPr>
          <a:xfrm>
            <a:off x="5822513" y="4570321"/>
            <a:ext cx="143422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/>
              <a:t>Exit!</a:t>
            </a:r>
          </a:p>
        </p:txBody>
      </p: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83D68D95-EFCE-D5A4-0452-2203C7A39CE9}"/>
              </a:ext>
            </a:extLst>
          </p:cNvPr>
          <p:cNvCxnSpPr>
            <a:stCxn id="13" idx="1"/>
            <a:endCxn id="33" idx="3"/>
          </p:cNvCxnSpPr>
          <p:nvPr/>
        </p:nvCxnSpPr>
        <p:spPr>
          <a:xfrm flipH="1">
            <a:off x="7256742" y="4754987"/>
            <a:ext cx="751562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32E33040-EA90-4270-150F-038ED7011FCA}"/>
              </a:ext>
            </a:extLst>
          </p:cNvPr>
          <p:cNvSpPr txBox="1"/>
          <p:nvPr/>
        </p:nvSpPr>
        <p:spPr>
          <a:xfrm>
            <a:off x="7256741" y="4507978"/>
            <a:ext cx="7515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14436339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2E464-A6C9-AB7F-C12E-FAD330828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31DF8F-28F7-D17D-3AAB-9D4A92787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 2 - Preparation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C8F06CD-AD14-C7A2-6EF4-9CFDE74DF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Demo Configuration</a:t>
            </a:r>
          </a:p>
          <a:p>
            <a:pPr lvl="1"/>
            <a:r>
              <a:rPr lang="en-US" dirty="0"/>
              <a:t>To demonstrate the problem, two tables (</a:t>
            </a:r>
            <a:r>
              <a:rPr lang="en-US" b="1" dirty="0"/>
              <a:t>[</a:t>
            </a:r>
            <a:r>
              <a:rPr lang="en-US" b="1" dirty="0" err="1"/>
              <a:t>dbo</a:t>
            </a:r>
            <a:r>
              <a:rPr lang="en-US" b="1" dirty="0"/>
              <a:t>].[</a:t>
            </a:r>
            <a:r>
              <a:rPr lang="en-US" b="1" dirty="0" err="1"/>
              <a:t>jobqueue</a:t>
            </a:r>
            <a:r>
              <a:rPr lang="en-US" b="1" dirty="0"/>
              <a:t>] </a:t>
            </a:r>
            <a:r>
              <a:rPr lang="en-US" dirty="0"/>
              <a:t>and </a:t>
            </a:r>
            <a:r>
              <a:rPr lang="en-US" b="1" dirty="0"/>
              <a:t>[</a:t>
            </a:r>
            <a:r>
              <a:rPr lang="en-US" b="1" dirty="0" err="1"/>
              <a:t>dbo</a:t>
            </a:r>
            <a:r>
              <a:rPr lang="en-US" b="1" dirty="0"/>
              <a:t>].[</a:t>
            </a:r>
            <a:r>
              <a:rPr lang="en-US" b="1" dirty="0" err="1"/>
              <a:t>runtime_statistics</a:t>
            </a:r>
            <a:r>
              <a:rPr lang="en-US" b="1" dirty="0"/>
              <a:t>]</a:t>
            </a:r>
            <a:r>
              <a:rPr lang="en-US" dirty="0"/>
              <a:t>) are used.</a:t>
            </a:r>
          </a:p>
          <a:p>
            <a:pPr lvl="1"/>
            <a:r>
              <a:rPr lang="en-US" dirty="0"/>
              <a:t>A stored procedure [</a:t>
            </a:r>
            <a:r>
              <a:rPr lang="en-US" dirty="0" err="1"/>
              <a:t>dbo</a:t>
            </a:r>
            <a:r>
              <a:rPr lang="en-US" dirty="0"/>
              <a:t>].[</a:t>
            </a:r>
            <a:r>
              <a:rPr lang="en-US" dirty="0" err="1"/>
              <a:t>jobqueue_delete</a:t>
            </a:r>
            <a:r>
              <a:rPr lang="en-US" dirty="0"/>
              <a:t>] handles the maintenance of the </a:t>
            </a:r>
            <a:r>
              <a:rPr lang="en-US" dirty="0" err="1"/>
              <a:t>the</a:t>
            </a:r>
            <a:r>
              <a:rPr lang="en-US" dirty="0"/>
              <a:t> table [</a:t>
            </a:r>
            <a:r>
              <a:rPr lang="en-US" dirty="0" err="1"/>
              <a:t>dbo</a:t>
            </a:r>
            <a:r>
              <a:rPr lang="en-US" dirty="0"/>
              <a:t>].[</a:t>
            </a:r>
            <a:r>
              <a:rPr lang="en-US" dirty="0" err="1"/>
              <a:t>jobqueue</a:t>
            </a:r>
            <a:r>
              <a:rPr lang="en-US" dirty="0"/>
              <a:t>].</a:t>
            </a:r>
          </a:p>
          <a:p>
            <a:pPr lvl="1"/>
            <a:r>
              <a:rPr lang="en-US" dirty="0"/>
              <a:t>The table [</a:t>
            </a:r>
            <a:r>
              <a:rPr lang="en-US" dirty="0" err="1"/>
              <a:t>dbo</a:t>
            </a:r>
            <a:r>
              <a:rPr lang="en-US" dirty="0"/>
              <a:t>].[runtimes] stores the measures after each improvement.</a:t>
            </a:r>
          </a:p>
          <a:p>
            <a:r>
              <a:rPr lang="en-US" b="1" dirty="0"/>
              <a:t>Demo Setup</a:t>
            </a:r>
          </a:p>
          <a:p>
            <a:pPr lvl="1"/>
            <a:r>
              <a:rPr lang="en-US" dirty="0"/>
              <a:t>execute the script </a:t>
            </a:r>
            <a:r>
              <a:rPr lang="en-US" sz="2000" b="1" dirty="0">
                <a:solidFill>
                  <a:schemeClr val="accent5"/>
                </a:solidFill>
                <a:latin typeface="Lucida Console" panose="020B0609040504020204" pitchFamily="49" charset="0"/>
              </a:rPr>
              <a:t>01 - scenario 02 – </a:t>
            </a:r>
            <a:r>
              <a:rPr lang="en-US" sz="2000" b="1" dirty="0" err="1">
                <a:solidFill>
                  <a:schemeClr val="accent5"/>
                </a:solidFill>
                <a:latin typeface="Lucida Console" panose="020B0609040504020204" pitchFamily="49" charset="0"/>
              </a:rPr>
              <a:t>preparation.sql</a:t>
            </a:r>
            <a:r>
              <a:rPr lang="en-US" sz="2000" dirty="0"/>
              <a:t> </a:t>
            </a:r>
            <a:r>
              <a:rPr lang="en-US" dirty="0"/>
              <a:t>to prepare all table objects.</a:t>
            </a:r>
          </a:p>
          <a:p>
            <a:pPr lvl="1"/>
            <a:r>
              <a:rPr lang="en-US" dirty="0"/>
              <a:t>execute the script </a:t>
            </a:r>
            <a:r>
              <a:rPr lang="en-US" sz="2000" b="1" dirty="0">
                <a:solidFill>
                  <a:schemeClr val="accent5"/>
                </a:solidFill>
                <a:latin typeface="Lucida Console" panose="020B0609040504020204" pitchFamily="49" charset="0"/>
              </a:rPr>
              <a:t>02 - scenario 02 – maintenance </a:t>
            </a:r>
            <a:r>
              <a:rPr lang="en-US" sz="2000" b="1" dirty="0" err="1">
                <a:solidFill>
                  <a:schemeClr val="accent5"/>
                </a:solidFill>
                <a:latin typeface="Lucida Console" panose="020B0609040504020204" pitchFamily="49" charset="0"/>
              </a:rPr>
              <a:t>procedure.sql</a:t>
            </a:r>
            <a:r>
              <a:rPr lang="en-US" sz="2000" b="1" dirty="0">
                <a:solidFill>
                  <a:schemeClr val="accent5"/>
                </a:solidFill>
                <a:latin typeface="Lucida Console" panose="020B0609040504020204" pitchFamily="49" charset="0"/>
              </a:rPr>
              <a:t> </a:t>
            </a:r>
            <a:r>
              <a:rPr lang="en-US" dirty="0"/>
              <a:t>to create the user management procedure.</a:t>
            </a:r>
          </a:p>
          <a:p>
            <a:pPr lvl="1"/>
            <a:r>
              <a:rPr lang="en-US" dirty="0"/>
              <a:t>Execute the script </a:t>
            </a:r>
            <a:r>
              <a:rPr lang="en-US" sz="2000" b="1" dirty="0">
                <a:solidFill>
                  <a:schemeClr val="accent5"/>
                </a:solidFill>
                <a:latin typeface="Lucida Console" panose="020B0609040504020204" pitchFamily="49" charset="0"/>
              </a:rPr>
              <a:t>03 - scenario 02 – stress </a:t>
            </a:r>
            <a:r>
              <a:rPr lang="en-US" sz="2000" b="1" dirty="0" err="1">
                <a:solidFill>
                  <a:schemeClr val="accent5"/>
                </a:solidFill>
                <a:latin typeface="Lucida Console" panose="020B0609040504020204" pitchFamily="49" charset="0"/>
              </a:rPr>
              <a:t>query.sql</a:t>
            </a:r>
            <a:r>
              <a:rPr lang="en-US" sz="2000" b="1" dirty="0">
                <a:solidFill>
                  <a:schemeClr val="accent5"/>
                </a:solidFill>
                <a:latin typeface="Lucida Console" panose="020B0609040504020204" pitchFamily="49" charset="0"/>
              </a:rPr>
              <a:t> </a:t>
            </a:r>
            <a:r>
              <a:rPr lang="en-US" dirty="0"/>
              <a:t>to create the user defined function.</a:t>
            </a:r>
          </a:p>
        </p:txBody>
      </p:sp>
    </p:spTree>
    <p:extLst>
      <p:ext uri="{BB962C8B-B14F-4D97-AF65-F5344CB8AC3E}">
        <p14:creationId xmlns:p14="http://schemas.microsoft.com/office/powerpoint/2010/main" val="19623512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8B7F6-CB84-3212-F880-3068A29E6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CF8F10-B84C-6951-4C45-C93692791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 2 - Findings 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E62805F-7A38-2E10-940D-774E2D786B3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To check for data existence, use EXISTS instead of COUNT. </a:t>
            </a:r>
          </a:p>
          <a:p>
            <a:r>
              <a:rPr lang="en-US" dirty="0"/>
              <a:t>Remove unnecessary code structures for better reading and performance</a:t>
            </a:r>
          </a:p>
          <a:p>
            <a:r>
              <a:rPr lang="en-US" dirty="0"/>
              <a:t>Check indexes on the table and remove non used indexes</a:t>
            </a:r>
          </a:p>
          <a:p>
            <a:r>
              <a:rPr lang="en-US" dirty="0"/>
              <a:t>For multi-process patterns try to partition the job itself.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E33CCBC1-62DB-6250-D640-681F470CC8B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Inhaltsplatzhalter 5">
            <a:extLst>
              <a:ext uri="{FF2B5EF4-FFF2-40B4-BE49-F238E27FC236}">
                <a16:creationId xmlns:a16="http://schemas.microsoft.com/office/drawing/2014/main" id="{A3DF15B4-123B-2B04-8388-EE8EB01E06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8625" y="1665288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2065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CDD00-660C-AB7A-2BF6-B7BC081BC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ADA9E162-33BC-7C64-F9A2-974940F772E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Scenario #3</a:t>
            </a:r>
            <a:endParaRPr lang="en-US" dirty="0"/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689B48F3-0D30-D9A3-9590-0A714515865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Stop using table variables and temporary objects</a:t>
            </a:r>
          </a:p>
        </p:txBody>
      </p:sp>
    </p:spTree>
    <p:extLst>
      <p:ext uri="{BB962C8B-B14F-4D97-AF65-F5344CB8AC3E}">
        <p14:creationId xmlns:p14="http://schemas.microsoft.com/office/powerpoint/2010/main" val="38717467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2DADD-BEBB-9852-22B6-0FD8D81A9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A69A64-F380-2EA3-9B68-7E6C99EAD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 2 – Problem Description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9D65FC-8224-6726-8165-B71E64887B1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Description</a:t>
            </a:r>
          </a:p>
          <a:p>
            <a:pPr lvl="1"/>
            <a:r>
              <a:rPr lang="en-US" sz="1600" b="0" i="0" dirty="0">
                <a:solidFill>
                  <a:srgbClr val="1F2328"/>
                </a:solidFill>
                <a:effectLst/>
                <a:latin typeface="-apple-system"/>
              </a:rPr>
              <a:t>A complex query </a:t>
            </a:r>
            <a:r>
              <a:rPr lang="en-US" sz="1600" dirty="0">
                <a:solidFill>
                  <a:srgbClr val="1F2328"/>
                </a:solidFill>
                <a:latin typeface="-apple-system"/>
              </a:rPr>
              <a:t>will be executed 24/7 when users are accessing the web shop</a:t>
            </a:r>
            <a:r>
              <a:rPr lang="en-US" sz="1600" b="0" i="0" dirty="0">
                <a:solidFill>
                  <a:srgbClr val="1F2328"/>
                </a:solidFill>
                <a:effectLst/>
                <a:latin typeface="-apple-system"/>
              </a:rPr>
              <a:t>. This query evaluates a small part of the permission list for the logged in user.</a:t>
            </a:r>
            <a:endParaRPr lang="en-US" sz="1600" b="1" dirty="0"/>
          </a:p>
          <a:p>
            <a:r>
              <a:rPr lang="en-US" b="1" dirty="0"/>
              <a:t>Problem</a:t>
            </a:r>
          </a:p>
          <a:p>
            <a:pPr lvl="1"/>
            <a:r>
              <a:rPr lang="en-US" sz="1600" dirty="0"/>
              <a:t>The query is consuming a lot of resources and especially at the first of a new month lots of new employees are requesting the web shop.</a:t>
            </a:r>
          </a:p>
          <a:p>
            <a:pPr lvl="1"/>
            <a:r>
              <a:rPr lang="en-US" sz="1600" dirty="0"/>
              <a:t>This leads very often to timeouts and bad responding web shop experiences.</a:t>
            </a:r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4C90D974-D7B7-E20A-B9A2-9C20A68A46D7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438501346"/>
              </p:ext>
            </p:extLst>
          </p:nvPr>
        </p:nvGraphicFramePr>
        <p:xfrm>
          <a:off x="7428944" y="1665288"/>
          <a:ext cx="4425014" cy="12954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26923">
                  <a:extLst>
                    <a:ext uri="{9D8B030D-6E8A-4147-A177-3AD203B41FA5}">
                      <a16:colId xmlns:a16="http://schemas.microsoft.com/office/drawing/2014/main" val="2608591251"/>
                    </a:ext>
                  </a:extLst>
                </a:gridCol>
                <a:gridCol w="1108797">
                  <a:extLst>
                    <a:ext uri="{9D8B030D-6E8A-4147-A177-3AD203B41FA5}">
                      <a16:colId xmlns:a16="http://schemas.microsoft.com/office/drawing/2014/main" val="2114112737"/>
                    </a:ext>
                  </a:extLst>
                </a:gridCol>
                <a:gridCol w="989556">
                  <a:extLst>
                    <a:ext uri="{9D8B030D-6E8A-4147-A177-3AD203B41FA5}">
                      <a16:colId xmlns:a16="http://schemas.microsoft.com/office/drawing/2014/main" val="3183205547"/>
                    </a:ext>
                  </a:extLst>
                </a:gridCol>
                <a:gridCol w="799738">
                  <a:extLst>
                    <a:ext uri="{9D8B030D-6E8A-4147-A177-3AD203B41FA5}">
                      <a16:colId xmlns:a16="http://schemas.microsoft.com/office/drawing/2014/main" val="2228659088"/>
                    </a:ext>
                  </a:extLst>
                </a:gridCol>
              </a:tblGrid>
              <a:tr h="223203">
                <a:tc gridSpan="4">
                  <a:txBody>
                    <a:bodyPr/>
                    <a:lstStyle/>
                    <a:p>
                      <a:r>
                        <a:rPr lang="en-US" sz="1100" dirty="0" err="1"/>
                        <a:t>dbo.persons</a:t>
                      </a:r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9617535"/>
                  </a:ext>
                </a:extLst>
              </a:tr>
              <a:tr h="223203">
                <a:tc>
                  <a:txBody>
                    <a:bodyPr/>
                    <a:lstStyle/>
                    <a:p>
                      <a:r>
                        <a:rPr lang="en-US" sz="1100" b="0" dirty="0" err="1"/>
                        <a:t>uid_person</a:t>
                      </a:r>
                      <a:endParaRPr lang="en-US" sz="11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varchar(38)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NOT 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PK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2743677"/>
                  </a:ext>
                </a:extLst>
              </a:tr>
              <a:tr h="223203">
                <a:tc>
                  <a:txBody>
                    <a:bodyPr/>
                    <a:lstStyle/>
                    <a:p>
                      <a:r>
                        <a:rPr lang="en-US" sz="1100" b="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852949"/>
                  </a:ext>
                </a:extLst>
              </a:tr>
              <a:tr h="223203">
                <a:tc>
                  <a:txBody>
                    <a:bodyPr/>
                    <a:lstStyle/>
                    <a:p>
                      <a:r>
                        <a:rPr lang="en-US" sz="1100" b="0" kern="1200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centralsapaccount</a:t>
                      </a:r>
                      <a:endParaRPr lang="en-US" sz="11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nvarchar(12)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NCI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0892998"/>
                  </a:ext>
                </a:extLst>
              </a:tr>
              <a:tr h="223203">
                <a:tc>
                  <a:txBody>
                    <a:bodyPr/>
                    <a:lstStyle/>
                    <a:p>
                      <a:r>
                        <a:rPr lang="en-US" sz="1100" b="0" dirty="0" err="1"/>
                        <a:t>ccc_aliasname</a:t>
                      </a:r>
                      <a:endParaRPr lang="en-US" sz="11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nvarchar(255)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5841324"/>
                  </a:ext>
                </a:extLst>
              </a:tr>
            </a:tbl>
          </a:graphicData>
        </a:graphic>
      </p:graphicFrame>
      <p:graphicFrame>
        <p:nvGraphicFramePr>
          <p:cNvPr id="8" name="Inhaltsplatzhalter 6">
            <a:extLst>
              <a:ext uri="{FF2B5EF4-FFF2-40B4-BE49-F238E27FC236}">
                <a16:creationId xmlns:a16="http://schemas.microsoft.com/office/drawing/2014/main" id="{87585A6A-6224-29F8-DE26-44CD5D41013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34694316"/>
              </p:ext>
            </p:extLst>
          </p:nvPr>
        </p:nvGraphicFramePr>
        <p:xfrm>
          <a:off x="7428944" y="3951288"/>
          <a:ext cx="4425013" cy="12954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26923">
                  <a:extLst>
                    <a:ext uri="{9D8B030D-6E8A-4147-A177-3AD203B41FA5}">
                      <a16:colId xmlns:a16="http://schemas.microsoft.com/office/drawing/2014/main" val="2608591251"/>
                    </a:ext>
                  </a:extLst>
                </a:gridCol>
                <a:gridCol w="1119396">
                  <a:extLst>
                    <a:ext uri="{9D8B030D-6E8A-4147-A177-3AD203B41FA5}">
                      <a16:colId xmlns:a16="http://schemas.microsoft.com/office/drawing/2014/main" val="2114112737"/>
                    </a:ext>
                  </a:extLst>
                </a:gridCol>
                <a:gridCol w="995819">
                  <a:extLst>
                    <a:ext uri="{9D8B030D-6E8A-4147-A177-3AD203B41FA5}">
                      <a16:colId xmlns:a16="http://schemas.microsoft.com/office/drawing/2014/main" val="3183205547"/>
                    </a:ext>
                  </a:extLst>
                </a:gridCol>
                <a:gridCol w="782875">
                  <a:extLst>
                    <a:ext uri="{9D8B030D-6E8A-4147-A177-3AD203B41FA5}">
                      <a16:colId xmlns:a16="http://schemas.microsoft.com/office/drawing/2014/main" val="2228659088"/>
                    </a:ext>
                  </a:extLst>
                </a:gridCol>
              </a:tblGrid>
              <a:tr h="223203">
                <a:tc gridSpan="4">
                  <a:txBody>
                    <a:bodyPr/>
                    <a:lstStyle/>
                    <a:p>
                      <a:r>
                        <a:rPr lang="en-US" sz="1100" dirty="0" err="1"/>
                        <a:t>dbo.sapusers</a:t>
                      </a:r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9617535"/>
                  </a:ext>
                </a:extLst>
              </a:tr>
              <a:tr h="223203">
                <a:tc>
                  <a:txBody>
                    <a:bodyPr/>
                    <a:lstStyle/>
                    <a:p>
                      <a:r>
                        <a:rPr lang="en-US" sz="1100" b="0" dirty="0" err="1"/>
                        <a:t>uid_sapuser</a:t>
                      </a:r>
                      <a:endParaRPr lang="en-US" sz="11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varchar(38)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NOT 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PK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2743677"/>
                  </a:ext>
                </a:extLst>
              </a:tr>
              <a:tr h="223203">
                <a:tc>
                  <a:txBody>
                    <a:bodyPr/>
                    <a:lstStyle/>
                    <a:p>
                      <a:r>
                        <a:rPr lang="en-US" sz="1100" b="0" dirty="0" err="1"/>
                        <a:t>uid_person</a:t>
                      </a:r>
                      <a:endParaRPr lang="en-US" sz="11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varchar(38)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852949"/>
                  </a:ext>
                </a:extLst>
              </a:tr>
              <a:tr h="223203">
                <a:tc>
                  <a:txBody>
                    <a:bodyPr/>
                    <a:lstStyle/>
                    <a:p>
                      <a:r>
                        <a:rPr lang="en-US" sz="1100" b="0" kern="1200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accnt</a:t>
                      </a:r>
                      <a:endParaRPr lang="en-US" sz="11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nvarchar(38)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NCI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0892998"/>
                  </a:ext>
                </a:extLst>
              </a:tr>
              <a:tr h="223203">
                <a:tc>
                  <a:txBody>
                    <a:bodyPr/>
                    <a:lstStyle/>
                    <a:p>
                      <a:r>
                        <a:rPr lang="en-US" sz="1100" b="0" dirty="0" err="1"/>
                        <a:t>ccc_aliasname</a:t>
                      </a:r>
                      <a:endParaRPr lang="en-US" sz="11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nvarchar(255)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5841324"/>
                  </a:ext>
                </a:extLst>
              </a:tr>
            </a:tbl>
          </a:graphicData>
        </a:graphic>
      </p:graphicFrame>
      <p:sp>
        <p:nvSpPr>
          <p:cNvPr id="11" name="Rechteck 10">
            <a:extLst>
              <a:ext uri="{FF2B5EF4-FFF2-40B4-BE49-F238E27FC236}">
                <a16:creationId xmlns:a16="http://schemas.microsoft.com/office/drawing/2014/main" id="{29A57739-CE77-5D05-BA3A-B334850CDA03}"/>
              </a:ext>
            </a:extLst>
          </p:cNvPr>
          <p:cNvSpPr/>
          <p:nvPr/>
        </p:nvSpPr>
        <p:spPr>
          <a:xfrm>
            <a:off x="7296411" y="2461364"/>
            <a:ext cx="132533" cy="2442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37BC7A41-EB7E-E52A-1A57-FF62E599BDDF}"/>
              </a:ext>
            </a:extLst>
          </p:cNvPr>
          <p:cNvSpPr/>
          <p:nvPr/>
        </p:nvSpPr>
        <p:spPr>
          <a:xfrm>
            <a:off x="7296411" y="2705622"/>
            <a:ext cx="132533" cy="2442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C1D9D0D8-9172-BE6C-ED90-944E3A5D56C7}"/>
              </a:ext>
            </a:extLst>
          </p:cNvPr>
          <p:cNvSpPr/>
          <p:nvPr/>
        </p:nvSpPr>
        <p:spPr>
          <a:xfrm>
            <a:off x="7296410" y="4741102"/>
            <a:ext cx="132533" cy="2442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Verbinder: gewinkelt 30">
            <a:extLst>
              <a:ext uri="{FF2B5EF4-FFF2-40B4-BE49-F238E27FC236}">
                <a16:creationId xmlns:a16="http://schemas.microsoft.com/office/drawing/2014/main" id="{8AD52D07-9329-DAA6-BBD9-ED93BB865B52}"/>
              </a:ext>
            </a:extLst>
          </p:cNvPr>
          <p:cNvCxnSpPr>
            <a:stCxn id="13" idx="1"/>
            <a:endCxn id="12" idx="1"/>
          </p:cNvCxnSpPr>
          <p:nvPr/>
        </p:nvCxnSpPr>
        <p:spPr>
          <a:xfrm rot="10800000" flipH="1">
            <a:off x="7296409" y="2827751"/>
            <a:ext cx="1" cy="2035480"/>
          </a:xfrm>
          <a:prstGeom prst="bentConnector3">
            <a:avLst>
              <a:gd name="adj1" fmla="val -22860000000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Verbinder: gewinkelt 32">
            <a:extLst>
              <a:ext uri="{FF2B5EF4-FFF2-40B4-BE49-F238E27FC236}">
                <a16:creationId xmlns:a16="http://schemas.microsoft.com/office/drawing/2014/main" id="{49054147-1D09-8A23-C94A-DD73517C7910}"/>
              </a:ext>
            </a:extLst>
          </p:cNvPr>
          <p:cNvCxnSpPr>
            <a:cxnSpLocks/>
            <a:stCxn id="13" idx="3"/>
            <a:endCxn id="11" idx="1"/>
          </p:cNvCxnSpPr>
          <p:nvPr/>
        </p:nvCxnSpPr>
        <p:spPr>
          <a:xfrm flipH="1" flipV="1">
            <a:off x="7296411" y="2583493"/>
            <a:ext cx="132532" cy="2279738"/>
          </a:xfrm>
          <a:prstGeom prst="bentConnector5">
            <a:avLst>
              <a:gd name="adj1" fmla="val 630876"/>
              <a:gd name="adj2" fmla="val 50000"/>
              <a:gd name="adj3" fmla="val 631637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feld 42">
            <a:extLst>
              <a:ext uri="{FF2B5EF4-FFF2-40B4-BE49-F238E27FC236}">
                <a16:creationId xmlns:a16="http://schemas.microsoft.com/office/drawing/2014/main" id="{4B58AF32-9980-86AF-B968-24283776015A}"/>
              </a:ext>
            </a:extLst>
          </p:cNvPr>
          <p:cNvSpPr txBox="1"/>
          <p:nvPr/>
        </p:nvSpPr>
        <p:spPr>
          <a:xfrm>
            <a:off x="6588690" y="3429000"/>
            <a:ext cx="494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6534424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8B7F6-CB84-3212-F880-3068A29E6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CF8F10-B84C-6951-4C45-C93692791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 3 - Findings 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E62805F-7A38-2E10-940D-774E2D786B3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Avoid creating too deep nesting with SUB-Selects. They are difficult to read and may not be ideally optimized by the Query Optimizer.</a:t>
            </a:r>
          </a:p>
          <a:p>
            <a:r>
              <a:rPr lang="en-US" dirty="0"/>
              <a:t>OR statements on different attributes cannot always be used optimally by the query optimizer, despite both attributes being indexed. This is especially true if the attributes have a similar selectivity (cardinality).</a:t>
            </a:r>
          </a:p>
          <a:p>
            <a:r>
              <a:rPr lang="en-US" dirty="0"/>
              <a:t>To use the indexes on the attributes efficiently, it is better to use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UNION ALL </a:t>
            </a:r>
            <a:r>
              <a:rPr lang="en-US" dirty="0"/>
              <a:t>instead of </a:t>
            </a:r>
            <a:r>
              <a:rPr lang="en-US" b="1" dirty="0">
                <a:solidFill>
                  <a:srgbClr val="FF0000"/>
                </a:solidFill>
              </a:rPr>
              <a:t>OR</a:t>
            </a:r>
            <a:r>
              <a:rPr lang="en-US" dirty="0"/>
              <a:t>.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E33CCBC1-62DB-6250-D640-681F470CC8B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Inhaltsplatzhalter 5">
            <a:extLst>
              <a:ext uri="{FF2B5EF4-FFF2-40B4-BE49-F238E27FC236}">
                <a16:creationId xmlns:a16="http://schemas.microsoft.com/office/drawing/2014/main" id="{A3DF15B4-123B-2B04-8388-EE8EB01E06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8625" y="1665288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8599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0ACC6-96EA-C153-2A83-E5AA993A8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6B9EC098-F5FA-5FFD-BEB9-6DD20A2F57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Scenario #4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BFA39534-FBA4-0E59-40BD-47079A6B586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Triggers, Functions, … - Exodus!</a:t>
            </a:r>
          </a:p>
        </p:txBody>
      </p:sp>
    </p:spTree>
    <p:extLst>
      <p:ext uri="{BB962C8B-B14F-4D97-AF65-F5344CB8AC3E}">
        <p14:creationId xmlns:p14="http://schemas.microsoft.com/office/powerpoint/2010/main" val="38918521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1164A-D2EA-1B0B-265C-E3F169681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1828B6-3939-99CA-2F44-2AEEE9A30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 4 – Problem Description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BC3E07B-61DF-F752-9D8D-5CAC0C51263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Description</a:t>
            </a:r>
          </a:p>
          <a:p>
            <a:pPr lvl="1"/>
            <a:r>
              <a:rPr lang="en-US" sz="1600" b="0" i="0" dirty="0">
                <a:solidFill>
                  <a:srgbClr val="1F2328"/>
                </a:solidFill>
                <a:effectLst/>
                <a:latin typeface="-apple-system"/>
              </a:rPr>
              <a:t>A customer's web shop runs without any complaints from customers during "normal" days.</a:t>
            </a:r>
          </a:p>
          <a:p>
            <a:pPr lvl="1"/>
            <a:r>
              <a:rPr lang="en-US" sz="1600" b="0" i="0" dirty="0">
                <a:solidFill>
                  <a:srgbClr val="1F2328"/>
                </a:solidFill>
                <a:effectLst/>
                <a:latin typeface="-apple-system"/>
              </a:rPr>
              <a:t>As soon as special sales promotions are started (e.g. Black Friday, fire sale, ...), the system's performance collapses and customers complain that it takes a long time for placing an order in the system.</a:t>
            </a:r>
            <a:endParaRPr lang="en-US" sz="1600" b="1" dirty="0"/>
          </a:p>
          <a:p>
            <a:r>
              <a:rPr lang="en-US" b="1" dirty="0"/>
              <a:t>Problem</a:t>
            </a:r>
          </a:p>
          <a:p>
            <a:pPr lvl="1"/>
            <a:r>
              <a:rPr lang="en-US" sz="1600" dirty="0"/>
              <a:t>During peak times, the system reacts very slowly and cannot be used in some cases.</a:t>
            </a:r>
          </a:p>
          <a:p>
            <a:pPr lvl="1"/>
            <a:r>
              <a:rPr lang="en-US" sz="1600" dirty="0"/>
              <a:t>Customers often abandon their purchase attempts in frustration.</a:t>
            </a:r>
          </a:p>
        </p:txBody>
      </p:sp>
      <p:pic>
        <p:nvPicPr>
          <p:cNvPr id="9" name="Inhaltsplatzhalter 8">
            <a:extLst>
              <a:ext uri="{FF2B5EF4-FFF2-40B4-BE49-F238E27FC236}">
                <a16:creationId xmlns:a16="http://schemas.microsoft.com/office/drawing/2014/main" id="{44A8B1D8-8824-2686-9778-7AA1E8AE5B6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778625" y="1665288"/>
            <a:ext cx="4572000" cy="4572000"/>
          </a:xfr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4332928D-6136-A674-3230-8BFBCF2BC251}"/>
              </a:ext>
            </a:extLst>
          </p:cNvPr>
          <p:cNvSpPr/>
          <p:nvPr/>
        </p:nvSpPr>
        <p:spPr>
          <a:xfrm>
            <a:off x="7296411" y="2461364"/>
            <a:ext cx="132533" cy="2442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28A3C57-CE27-5266-E999-4F1C3B69D7D2}"/>
              </a:ext>
            </a:extLst>
          </p:cNvPr>
          <p:cNvSpPr/>
          <p:nvPr/>
        </p:nvSpPr>
        <p:spPr>
          <a:xfrm>
            <a:off x="7296411" y="2705622"/>
            <a:ext cx="132533" cy="2442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37886DAF-7384-928D-1CE6-D1247437628B}"/>
              </a:ext>
            </a:extLst>
          </p:cNvPr>
          <p:cNvSpPr/>
          <p:nvPr/>
        </p:nvSpPr>
        <p:spPr>
          <a:xfrm>
            <a:off x="7296410" y="4741102"/>
            <a:ext cx="132533" cy="2442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68547F13-A422-D977-F94C-E9CED9F6599B}"/>
              </a:ext>
            </a:extLst>
          </p:cNvPr>
          <p:cNvSpPr txBox="1"/>
          <p:nvPr/>
        </p:nvSpPr>
        <p:spPr>
          <a:xfrm>
            <a:off x="6588690" y="3429000"/>
            <a:ext cx="494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29030322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BDF256-CDD1-1B1C-1B64-A3E95A682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 4 - Workload</a:t>
            </a:r>
          </a:p>
        </p:txBody>
      </p:sp>
      <p:pic>
        <p:nvPicPr>
          <p:cNvPr id="1026" name="Picture 2" descr="webshop icon Stock-Illustration | Adobe Stock">
            <a:extLst>
              <a:ext uri="{FF2B5EF4-FFF2-40B4-BE49-F238E27FC236}">
                <a16:creationId xmlns:a16="http://schemas.microsoft.com/office/drawing/2014/main" id="{E0C6257F-7582-F72B-7CFD-D9F097FF02E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3" t="2753" r="4145" b="3081"/>
          <a:stretch/>
        </p:blipFill>
        <p:spPr bwMode="auto">
          <a:xfrm>
            <a:off x="334965" y="1665288"/>
            <a:ext cx="873903" cy="906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ackoffice vector icon. vector filled flat symbol for mobile concept and  web design. Black filled glyph icon. Isolated sign, logo illustration.  Vector graphics. Stock-Vektorgrafik | Adobe Stock">
            <a:extLst>
              <a:ext uri="{FF2B5EF4-FFF2-40B4-BE49-F238E27FC236}">
                <a16:creationId xmlns:a16="http://schemas.microsoft.com/office/drawing/2014/main" id="{C4702702-2E15-5A6D-4C10-6B05B5B8B5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92" t="18790" r="21155" b="4945"/>
          <a:stretch/>
        </p:blipFill>
        <p:spPr bwMode="auto">
          <a:xfrm>
            <a:off x="334965" y="3429000"/>
            <a:ext cx="1023580" cy="13208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1190687F-6CA6-1E99-C290-A97D4EAB6056}"/>
              </a:ext>
            </a:extLst>
          </p:cNvPr>
          <p:cNvGrpSpPr/>
          <p:nvPr/>
        </p:nvGrpSpPr>
        <p:grpSpPr>
          <a:xfrm>
            <a:off x="2607042" y="2571750"/>
            <a:ext cx="1117873" cy="1379277"/>
            <a:chOff x="3535090" y="2571750"/>
            <a:chExt cx="1117873" cy="1379277"/>
          </a:xfrm>
        </p:grpSpPr>
        <p:pic>
          <p:nvPicPr>
            <p:cNvPr id="1030" name="Picture 6" descr="web server - Openclipart">
              <a:extLst>
                <a:ext uri="{FF2B5EF4-FFF2-40B4-BE49-F238E27FC236}">
                  <a16:creationId xmlns:a16="http://schemas.microsoft.com/office/drawing/2014/main" id="{2ADD5814-D3E2-4B15-2953-78BFAEAAFDA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35090" y="2571750"/>
              <a:ext cx="1074762" cy="13792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5EA3BE2A-4CE1-C18C-483A-45DE85F1DF05}"/>
                </a:ext>
              </a:extLst>
            </p:cNvPr>
            <p:cNvSpPr/>
            <p:nvPr/>
          </p:nvSpPr>
          <p:spPr>
            <a:xfrm>
              <a:off x="4572000" y="2571750"/>
              <a:ext cx="80963" cy="12620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BC915240-6448-FC65-A18E-2A7002150CE8}"/>
                </a:ext>
              </a:extLst>
            </p:cNvPr>
            <p:cNvSpPr/>
            <p:nvPr/>
          </p:nvSpPr>
          <p:spPr>
            <a:xfrm>
              <a:off x="4569370" y="3824821"/>
              <a:ext cx="80963" cy="12620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31014F3C-3F60-3D08-6DEC-89A467399346}"/>
                </a:ext>
              </a:extLst>
            </p:cNvPr>
            <p:cNvSpPr/>
            <p:nvPr/>
          </p:nvSpPr>
          <p:spPr>
            <a:xfrm>
              <a:off x="4572000" y="3191409"/>
              <a:ext cx="80963" cy="12620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CF16A1FD-2681-D7E8-7A64-E44D606F326B}"/>
              </a:ext>
            </a:extLst>
          </p:cNvPr>
          <p:cNvGrpSpPr/>
          <p:nvPr/>
        </p:nvGrpSpPr>
        <p:grpSpPr>
          <a:xfrm>
            <a:off x="7978348" y="2571750"/>
            <a:ext cx="968206" cy="1379277"/>
            <a:chOff x="7978348" y="2571750"/>
            <a:chExt cx="968206" cy="1379277"/>
          </a:xfrm>
        </p:grpSpPr>
        <p:sp>
          <p:nvSpPr>
            <p:cNvPr id="6" name="Zylinder 5">
              <a:extLst>
                <a:ext uri="{FF2B5EF4-FFF2-40B4-BE49-F238E27FC236}">
                  <a16:creationId xmlns:a16="http://schemas.microsoft.com/office/drawing/2014/main" id="{49B466F3-BB53-B2C3-3373-E5F7AFA2B5A2}"/>
                </a:ext>
              </a:extLst>
            </p:cNvPr>
            <p:cNvSpPr/>
            <p:nvPr/>
          </p:nvSpPr>
          <p:spPr>
            <a:xfrm>
              <a:off x="8072651" y="2571750"/>
              <a:ext cx="873903" cy="1379277"/>
            </a:xfrm>
            <a:prstGeom prst="can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SQL</a:t>
              </a:r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E927C664-CCE1-11EC-2A54-6B8566CE6D57}"/>
                </a:ext>
              </a:extLst>
            </p:cNvPr>
            <p:cNvSpPr/>
            <p:nvPr/>
          </p:nvSpPr>
          <p:spPr>
            <a:xfrm>
              <a:off x="7980978" y="2571750"/>
              <a:ext cx="80963" cy="12620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462A0E80-15BC-A5EE-6B34-447A1000BC72}"/>
                </a:ext>
              </a:extLst>
            </p:cNvPr>
            <p:cNvSpPr/>
            <p:nvPr/>
          </p:nvSpPr>
          <p:spPr>
            <a:xfrm>
              <a:off x="7978348" y="3824821"/>
              <a:ext cx="80963" cy="12620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3F6DE8CC-010A-477A-AC6B-4AD8A53D1372}"/>
                </a:ext>
              </a:extLst>
            </p:cNvPr>
            <p:cNvSpPr/>
            <p:nvPr/>
          </p:nvSpPr>
          <p:spPr>
            <a:xfrm>
              <a:off x="7980978" y="3191409"/>
              <a:ext cx="80963" cy="12620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BFF62822-DC5A-C836-D7D6-A11088200D31}"/>
              </a:ext>
            </a:extLst>
          </p:cNvPr>
          <p:cNvCxnSpPr>
            <a:stCxn id="8" idx="3"/>
            <a:endCxn id="12" idx="1"/>
          </p:cNvCxnSpPr>
          <p:nvPr/>
        </p:nvCxnSpPr>
        <p:spPr>
          <a:xfrm>
            <a:off x="3724915" y="2634853"/>
            <a:ext cx="4256063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B0D7BFA6-19C3-77CE-7E52-4DAC75D28D2D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>
            <a:off x="3724915" y="3254512"/>
            <a:ext cx="4256063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17B558C1-4854-42EA-B917-A97B429E12A3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3722285" y="3874170"/>
            <a:ext cx="4242723" cy="1375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feld 22">
            <a:extLst>
              <a:ext uri="{FF2B5EF4-FFF2-40B4-BE49-F238E27FC236}">
                <a16:creationId xmlns:a16="http://schemas.microsoft.com/office/drawing/2014/main" id="{120FC17E-37AC-0FB3-2667-B12E40E4091D}"/>
              </a:ext>
            </a:extLst>
          </p:cNvPr>
          <p:cNvSpPr txBox="1"/>
          <p:nvPr/>
        </p:nvSpPr>
        <p:spPr>
          <a:xfrm>
            <a:off x="3735625" y="2316748"/>
            <a:ext cx="42427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latin typeface="Lucida Console" panose="020B0609040504020204" pitchFamily="49" charset="0"/>
              </a:rPr>
              <a:t>webshop.insert_order_record</a:t>
            </a:r>
            <a:endParaRPr lang="en-US" sz="1400" dirty="0">
              <a:latin typeface="Lucida Console" panose="020B0609040504020204" pitchFamily="49" charset="0"/>
            </a:endParaRP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7BA4003-7B39-2668-1289-D3803DDD0D1F}"/>
              </a:ext>
            </a:extLst>
          </p:cNvPr>
          <p:cNvSpPr txBox="1"/>
          <p:nvPr/>
        </p:nvSpPr>
        <p:spPr>
          <a:xfrm>
            <a:off x="3735625" y="2946735"/>
            <a:ext cx="42427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latin typeface="Lucida Console" panose="020B0609040504020204" pitchFamily="49" charset="0"/>
              </a:rPr>
              <a:t>webshop.update_order_record</a:t>
            </a:r>
            <a:endParaRPr lang="en-US" sz="1400" dirty="0">
              <a:latin typeface="Lucida Console" panose="020B0609040504020204" pitchFamily="49" charset="0"/>
            </a:endParaRP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28B5EBFC-076E-B1E9-A1D0-BAD4AC891F1D}"/>
              </a:ext>
            </a:extLst>
          </p:cNvPr>
          <p:cNvSpPr txBox="1"/>
          <p:nvPr/>
        </p:nvSpPr>
        <p:spPr>
          <a:xfrm>
            <a:off x="3735625" y="3576722"/>
            <a:ext cx="42427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latin typeface="Lucida Console" panose="020B0609040504020204" pitchFamily="49" charset="0"/>
              </a:rPr>
              <a:t>webshop.delete_order_record</a:t>
            </a:r>
            <a:endParaRPr lang="en-US" sz="1400" dirty="0">
              <a:latin typeface="Lucida Console" panose="020B0609040504020204" pitchFamily="49" charset="0"/>
            </a:endParaRPr>
          </a:p>
        </p:txBody>
      </p:sp>
      <p:cxnSp>
        <p:nvCxnSpPr>
          <p:cNvPr id="30" name="Verbinder: gewinkelt 29">
            <a:extLst>
              <a:ext uri="{FF2B5EF4-FFF2-40B4-BE49-F238E27FC236}">
                <a16:creationId xmlns:a16="http://schemas.microsoft.com/office/drawing/2014/main" id="{1E1C9D0E-7E83-CF29-8923-1C89559DB028}"/>
              </a:ext>
            </a:extLst>
          </p:cNvPr>
          <p:cNvCxnSpPr>
            <a:stCxn id="1026" idx="3"/>
            <a:endCxn id="1030" idx="1"/>
          </p:cNvCxnSpPr>
          <p:nvPr/>
        </p:nvCxnSpPr>
        <p:spPr>
          <a:xfrm>
            <a:off x="1208868" y="2118519"/>
            <a:ext cx="1398174" cy="1142870"/>
          </a:xfrm>
          <a:prstGeom prst="bentConnector3">
            <a:avLst/>
          </a:prstGeom>
          <a:ln w="19050"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A72182EF-87EF-45E1-2A22-CE50DAC523E0}"/>
              </a:ext>
            </a:extLst>
          </p:cNvPr>
          <p:cNvCxnSpPr>
            <a:stCxn id="1028" idx="3"/>
            <a:endCxn id="1030" idx="1"/>
          </p:cNvCxnSpPr>
          <p:nvPr/>
        </p:nvCxnSpPr>
        <p:spPr>
          <a:xfrm flipV="1">
            <a:off x="1358545" y="3261389"/>
            <a:ext cx="1248497" cy="828017"/>
          </a:xfrm>
          <a:prstGeom prst="bentConnector3">
            <a:avLst>
              <a:gd name="adj1" fmla="val 43988"/>
            </a:avLst>
          </a:prstGeom>
          <a:ln w="19050"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2" name="Picture 8" descr="Microsoft SQL Server Agent im Data Warehouse Umfeld">
            <a:extLst>
              <a:ext uri="{FF2B5EF4-FFF2-40B4-BE49-F238E27FC236}">
                <a16:creationId xmlns:a16="http://schemas.microsoft.com/office/drawing/2014/main" id="{E49690CA-FF87-AB7A-FC91-DBAB21C0C42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47" r="31905"/>
          <a:stretch/>
        </p:blipFill>
        <p:spPr bwMode="auto">
          <a:xfrm>
            <a:off x="9372600" y="4158444"/>
            <a:ext cx="1442113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feld 33">
            <a:extLst>
              <a:ext uri="{FF2B5EF4-FFF2-40B4-BE49-F238E27FC236}">
                <a16:creationId xmlns:a16="http://schemas.microsoft.com/office/drawing/2014/main" id="{4F690970-2A06-B07B-6B2C-D2482B37E1A8}"/>
              </a:ext>
            </a:extLst>
          </p:cNvPr>
          <p:cNvSpPr txBox="1"/>
          <p:nvPr/>
        </p:nvSpPr>
        <p:spPr>
          <a:xfrm>
            <a:off x="9372600" y="5575110"/>
            <a:ext cx="1442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Job Server</a:t>
            </a:r>
          </a:p>
        </p:txBody>
      </p:sp>
      <p:graphicFrame>
        <p:nvGraphicFramePr>
          <p:cNvPr id="35" name="Tabelle 34">
            <a:extLst>
              <a:ext uri="{FF2B5EF4-FFF2-40B4-BE49-F238E27FC236}">
                <a16:creationId xmlns:a16="http://schemas.microsoft.com/office/drawing/2014/main" id="{E5233D8E-CE11-6A7F-A6BC-B66825FD44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0352475"/>
              </p:ext>
            </p:extLst>
          </p:nvPr>
        </p:nvGraphicFramePr>
        <p:xfrm>
          <a:off x="9372600" y="2568325"/>
          <a:ext cx="2484438" cy="13525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84438">
                  <a:extLst>
                    <a:ext uri="{9D8B030D-6E8A-4147-A177-3AD203B41FA5}">
                      <a16:colId xmlns:a16="http://schemas.microsoft.com/office/drawing/2014/main" val="2795893339"/>
                    </a:ext>
                  </a:extLst>
                </a:gridCol>
              </a:tblGrid>
              <a:tr h="450850">
                <a:tc>
                  <a:txBody>
                    <a:bodyPr/>
                    <a:lstStyle/>
                    <a:p>
                      <a:r>
                        <a:rPr lang="en-US" sz="1400" dirty="0" err="1">
                          <a:latin typeface="Lucida Console" panose="020B0609040504020204" pitchFamily="49" charset="0"/>
                        </a:rPr>
                        <a:t>webshop.customers</a:t>
                      </a:r>
                      <a:endParaRPr lang="en-US" sz="1400" dirty="0">
                        <a:latin typeface="Lucida Console" panose="020B060904050402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6011783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r>
                        <a:rPr lang="en-US" sz="1400" dirty="0" err="1">
                          <a:latin typeface="Lucida Console" panose="020B0609040504020204" pitchFamily="49" charset="0"/>
                        </a:rPr>
                        <a:t>webshop.orders</a:t>
                      </a:r>
                      <a:endParaRPr lang="en-US" sz="1400" dirty="0">
                        <a:latin typeface="Lucida Console" panose="020B060904050402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4992137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91433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latin typeface="Lucida Console" panose="020B0609040504020204" pitchFamily="49" charset="0"/>
                        </a:rPr>
                        <a:t>webshop.lineitems</a:t>
                      </a:r>
                      <a:endParaRPr lang="en-US" sz="1400" dirty="0">
                        <a:latin typeface="Lucida Console" panose="020B060904050402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38858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5048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859812-683F-5BCC-2F2E-B395BCC97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 4 - simulation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45989F9-5836-EBB4-1F0B-CBC1050166E3}"/>
              </a:ext>
            </a:extLst>
          </p:cNvPr>
          <p:cNvSpPr txBox="1"/>
          <p:nvPr/>
        </p:nvSpPr>
        <p:spPr>
          <a:xfrm>
            <a:off x="334966" y="1955615"/>
            <a:ext cx="5761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EXEC</a:t>
            </a:r>
            <a:r>
              <a:rPr lang="en-US" sz="18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webshop</a:t>
            </a:r>
            <a:r>
              <a:rPr lang="en-US" sz="1800" dirty="0" err="1">
                <a:solidFill>
                  <a:srgbClr val="808080"/>
                </a:solidFill>
                <a:effectLst/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insert_order_record</a:t>
            </a:r>
            <a:r>
              <a:rPr lang="en-US" sz="1800" dirty="0">
                <a:solidFill>
                  <a:srgbClr val="808080"/>
                </a:solidFill>
                <a:effectLst/>
                <a:latin typeface="Cascadia Mono" panose="020B0609020000020004" pitchFamily="49" charset="0"/>
              </a:rPr>
              <a:t>;</a:t>
            </a:r>
            <a:endParaRPr lang="en-US" sz="18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9687EB7-54C8-E618-A0E8-E90D94AE9131}"/>
              </a:ext>
            </a:extLst>
          </p:cNvPr>
          <p:cNvSpPr txBox="1"/>
          <p:nvPr/>
        </p:nvSpPr>
        <p:spPr>
          <a:xfrm>
            <a:off x="334963" y="2983480"/>
            <a:ext cx="5761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01: Insert data into </a:t>
            </a:r>
            <a:r>
              <a:rPr lang="en-US" dirty="0" err="1"/>
              <a:t>webshop.orders</a:t>
            </a:r>
            <a:endParaRPr lang="en-US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087EC59-8F0C-C9DF-6FD3-5AA54FC0C56C}"/>
              </a:ext>
            </a:extLst>
          </p:cNvPr>
          <p:cNvSpPr txBox="1"/>
          <p:nvPr/>
        </p:nvSpPr>
        <p:spPr>
          <a:xfrm>
            <a:off x="334962" y="4163722"/>
            <a:ext cx="5761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05: Insert data into </a:t>
            </a:r>
            <a:r>
              <a:rPr lang="en-US" dirty="0" err="1"/>
              <a:t>webshop.lineitems</a:t>
            </a:r>
            <a:endParaRPr lang="en-US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89B74418-70F7-76FC-2D20-624F1A86452B}"/>
              </a:ext>
            </a:extLst>
          </p:cNvPr>
          <p:cNvSpPr txBox="1"/>
          <p:nvPr/>
        </p:nvSpPr>
        <p:spPr>
          <a:xfrm>
            <a:off x="8363088" y="4165959"/>
            <a:ext cx="31837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04: Update data in </a:t>
            </a:r>
            <a:r>
              <a:rPr lang="en-US" dirty="0" err="1"/>
              <a:t>webshop.customers</a:t>
            </a:r>
            <a:endParaRPr lang="en-US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A87539F-0BB8-EF25-0D5C-54073CB9334F}"/>
              </a:ext>
            </a:extLst>
          </p:cNvPr>
          <p:cNvSpPr txBox="1"/>
          <p:nvPr/>
        </p:nvSpPr>
        <p:spPr>
          <a:xfrm>
            <a:off x="3917904" y="3429000"/>
            <a:ext cx="17820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02: Calls trigger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D5D60E5-E7D4-BB0A-4C7B-93F9F77C39DF}"/>
              </a:ext>
            </a:extLst>
          </p:cNvPr>
          <p:cNvSpPr txBox="1"/>
          <p:nvPr/>
        </p:nvSpPr>
        <p:spPr>
          <a:xfrm>
            <a:off x="6096001" y="3429000"/>
            <a:ext cx="2879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03: Calls function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00144B79-5D66-0891-2FF3-6906DDC2C352}"/>
              </a:ext>
            </a:extLst>
          </p:cNvPr>
          <p:cNvCxnSpPr>
            <a:stCxn id="3" idx="2"/>
            <a:endCxn id="4" idx="0"/>
          </p:cNvCxnSpPr>
          <p:nvPr/>
        </p:nvCxnSpPr>
        <p:spPr>
          <a:xfrm flipH="1">
            <a:off x="3215482" y="2324947"/>
            <a:ext cx="1" cy="65853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Verbinder: gewinkelt 11">
            <a:extLst>
              <a:ext uri="{FF2B5EF4-FFF2-40B4-BE49-F238E27FC236}">
                <a16:creationId xmlns:a16="http://schemas.microsoft.com/office/drawing/2014/main" id="{57060656-2FAF-15D9-2FFF-5B10CECE7636}"/>
              </a:ext>
            </a:extLst>
          </p:cNvPr>
          <p:cNvCxnSpPr>
            <a:cxnSpLocks/>
            <a:stCxn id="4" idx="2"/>
            <a:endCxn id="7" idx="1"/>
          </p:cNvCxnSpPr>
          <p:nvPr/>
        </p:nvCxnSpPr>
        <p:spPr>
          <a:xfrm rot="16200000" flipH="1">
            <a:off x="3436266" y="3132028"/>
            <a:ext cx="260854" cy="702422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75F2C748-F3EA-7F0F-B27E-F50AD7720FCB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5699975" y="3613666"/>
            <a:ext cx="396026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Verbinder: gewinkelt 17">
            <a:extLst>
              <a:ext uri="{FF2B5EF4-FFF2-40B4-BE49-F238E27FC236}">
                <a16:creationId xmlns:a16="http://schemas.microsoft.com/office/drawing/2014/main" id="{F9B6A10C-6392-5C62-57F6-6232CD5702B2}"/>
              </a:ext>
            </a:extLst>
          </p:cNvPr>
          <p:cNvCxnSpPr>
            <a:cxnSpLocks/>
            <a:stCxn id="8" idx="2"/>
            <a:endCxn id="6" idx="1"/>
          </p:cNvCxnSpPr>
          <p:nvPr/>
        </p:nvCxnSpPr>
        <p:spPr>
          <a:xfrm rot="16200000" flipH="1">
            <a:off x="7604079" y="3730115"/>
            <a:ext cx="690793" cy="827225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0C277BDF-9A76-F357-E73A-85C42E5BCF8D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3215481" y="3352812"/>
            <a:ext cx="1" cy="81091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1783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/>
      <p:bldP spid="7" grpId="0"/>
      <p:bldP spid="8" grpId="0"/>
    </p:bldLst>
  </p:timing>
</p:sld>
</file>

<file path=ppt/theme/theme1.xml><?xml version="1.0" encoding="utf-8"?>
<a:theme xmlns:a="http://schemas.openxmlformats.org/drawingml/2006/main" name="db-berater">
  <a:themeElements>
    <a:clrScheme name="Lariss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Benutzerdefiniert 2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db-berater" id="{85827739-E950-40BB-86D2-00AF6F3C8C72}" vid="{2B923C9B-446A-4E3F-A7F9-000C93CCE4ED}"/>
    </a:ext>
  </a:extLst>
</a:theme>
</file>

<file path=ppt/theme/theme2.xml><?xml version="1.0" encoding="utf-8"?>
<a:theme xmlns:a="http://schemas.openxmlformats.org/drawingml/2006/main" name="1_db-berater">
  <a:themeElements>
    <a:clrScheme name="Lariss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Benutzerdefiniert 2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db-berater" id="{A415B4FD-AA9B-4461-AC2B-36ED5617A0E3}" vid="{018F950C-F5FA-4D6B-B0C1-0DCF0BD05116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db-berater</Template>
  <TotalTime>0</TotalTime>
  <Words>2055</Words>
  <Application>Microsoft Office PowerPoint</Application>
  <PresentationFormat>Breitbild</PresentationFormat>
  <Paragraphs>242</Paragraphs>
  <Slides>32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32</vt:i4>
      </vt:variant>
    </vt:vector>
  </HeadingPairs>
  <TitlesOfParts>
    <vt:vector size="43" baseType="lpstr">
      <vt:lpstr>-apple-system</vt:lpstr>
      <vt:lpstr>Aptos</vt:lpstr>
      <vt:lpstr>Arial</vt:lpstr>
      <vt:lpstr>Calibri</vt:lpstr>
      <vt:lpstr>Cascadia Mono</vt:lpstr>
      <vt:lpstr>Consolas</vt:lpstr>
      <vt:lpstr>Lucida Console</vt:lpstr>
      <vt:lpstr>Segoe UI</vt:lpstr>
      <vt:lpstr>verdana</vt:lpstr>
      <vt:lpstr>db-berater</vt:lpstr>
      <vt:lpstr>1_db-berater</vt:lpstr>
      <vt:lpstr>Performance optimization of badly written SQL code Enhancing Database Efficiency for Faster, More Scalable Applications</vt:lpstr>
      <vt:lpstr>Uwe Ricken db Berater GmbH</vt:lpstr>
      <vt:lpstr>Break Times</vt:lpstr>
      <vt:lpstr>Action List</vt:lpstr>
      <vt:lpstr>Make your SQL Code fast again</vt:lpstr>
      <vt:lpstr>Make your SQL Code fast again</vt:lpstr>
      <vt:lpstr>Key Topics</vt:lpstr>
      <vt:lpstr>Tools and best practices</vt:lpstr>
      <vt:lpstr>Query Store</vt:lpstr>
      <vt:lpstr>Query Store – Microsoft SQL Server</vt:lpstr>
      <vt:lpstr>Query Store – Recommended Settings</vt:lpstr>
      <vt:lpstr>Query Store – Hands On/Demo</vt:lpstr>
      <vt:lpstr>Performance Monitor Windows Admin Center</vt:lpstr>
      <vt:lpstr>Windows Admin Center vs. PerfMon</vt:lpstr>
      <vt:lpstr>Windows Admin Center – Hands On/Demo</vt:lpstr>
      <vt:lpstr>Scenario #1</vt:lpstr>
      <vt:lpstr>Scenario 1 – Problem Description</vt:lpstr>
      <vt:lpstr>Scenario 1 - Preparation</vt:lpstr>
      <vt:lpstr>Scenario 01 – Test Environment</vt:lpstr>
      <vt:lpstr>Scenario 1 - Findings </vt:lpstr>
      <vt:lpstr>Scenario #2</vt:lpstr>
      <vt:lpstr>Scenario 2 – Problem Description</vt:lpstr>
      <vt:lpstr>Scenario 2 - Workflow</vt:lpstr>
      <vt:lpstr>Scenario 2 - Preparation</vt:lpstr>
      <vt:lpstr>Scenario 2 - Findings </vt:lpstr>
      <vt:lpstr>Scenario #3</vt:lpstr>
      <vt:lpstr>Scenario 2 – Problem Description</vt:lpstr>
      <vt:lpstr>Scenario 3 - Findings </vt:lpstr>
      <vt:lpstr>Scenario #4</vt:lpstr>
      <vt:lpstr>Scenario 4 – Problem Description</vt:lpstr>
      <vt:lpstr>Scenario 4 - Workload</vt:lpstr>
      <vt:lpstr>Scenario 4 - simulation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Uwe Ricken</dc:creator>
  <cp:lastModifiedBy>Uwe Ricken</cp:lastModifiedBy>
  <cp:revision>8</cp:revision>
  <dcterms:created xsi:type="dcterms:W3CDTF">2024-11-09T16:26:01Z</dcterms:created>
  <dcterms:modified xsi:type="dcterms:W3CDTF">2026-05-27T17:48:27Z</dcterms:modified>
</cp:coreProperties>
</file>